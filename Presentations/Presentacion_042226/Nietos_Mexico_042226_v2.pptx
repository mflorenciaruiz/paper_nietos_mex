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omments/modernComment_117_0.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81" r:id="rId8"/>
    <p:sldId id="282" r:id="rId9"/>
    <p:sldId id="263" r:id="rId10"/>
    <p:sldId id="264" r:id="rId11"/>
    <p:sldId id="265" r:id="rId12"/>
    <p:sldId id="266" r:id="rId13"/>
    <p:sldId id="322" r:id="rId14"/>
    <p:sldId id="267" r:id="rId15"/>
    <p:sldId id="268" r:id="rId16"/>
    <p:sldId id="269" r:id="rId17"/>
    <p:sldId id="270" r:id="rId18"/>
    <p:sldId id="271" r:id="rId19"/>
    <p:sldId id="274" r:id="rId20"/>
    <p:sldId id="323" r:id="rId21"/>
    <p:sldId id="272" r:id="rId22"/>
    <p:sldId id="324" r:id="rId23"/>
    <p:sldId id="273" r:id="rId24"/>
    <p:sldId id="325" r:id="rId25"/>
    <p:sldId id="275" r:id="rId26"/>
    <p:sldId id="276" r:id="rId27"/>
    <p:sldId id="336" r:id="rId28"/>
    <p:sldId id="337" r:id="rId49"/>
    <p:sldId id="338" r:id="rId50"/>
    <p:sldId id="339" r:id="rId51"/>
    <p:sldId id="277" r:id="rId29"/>
    <p:sldId id="278" r:id="rId30"/>
    <p:sldId id="327" r:id="rId31"/>
    <p:sldId id="328" r:id="rId32"/>
    <p:sldId id="329" r:id="rId33"/>
    <p:sldId id="330" r:id="rId34"/>
    <p:sldId id="331" r:id="rId35"/>
    <p:sldId id="332" r:id="rId36"/>
    <p:sldId id="279" r:id="rId37"/>
    <p:sldId id="333" r:id="rId38"/>
    <p:sldId id="334" r:id="rId39"/>
    <p:sldId id="335" r:id="rId40"/>
    <p:sldId id="326" r:id="rId41"/>
    <p:sldId id="321" r:id="rId42"/>
    <p:sldId id="340" r:id="rId52"/>
    <p:sldId id="341"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4248142-4108-CB3A-F18E-6C521379A4C3}" name="Florencia ruiz" initials="Fr" userId="7b066f386e5ac47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10"/>
    <p:restoredTop sz="95070"/>
  </p:normalViewPr>
  <p:slideViewPr>
    <p:cSldViewPr snapToGrid="0" snapToObjects="1">
      <p:cViewPr varScale="1">
        <p:scale>
          <a:sx n="102" d="100"/>
          <a:sy n="102" d="100"/>
        </p:scale>
        <p:origin x="192" y="4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microsoft.com/office/2018/10/relationships/authors" Target="authors.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comments/modernComment_117_0.xml><?xml version="1.0" encoding="utf-8"?>
<p188:cmLst xmlns:a="http://schemas.openxmlformats.org/drawingml/2006/main" xmlns:r="http://schemas.openxmlformats.org/officeDocument/2006/relationships" xmlns:p188="http://schemas.microsoft.com/office/powerpoint/2018/8/main">
  <p188:cm id="{75FB3EDB-50CB-7B49-9BD8-546B018E0BF7}" authorId="{04248142-4108-CB3A-F18E-6C521379A4C3}" created="2026-04-28T00:04:42.230">
    <pc:sldMkLst xmlns:pc="http://schemas.microsoft.com/office/powerpoint/2013/main/command">
      <pc:docMk/>
      <pc:sldMk cId="0" sldId="279"/>
    </pc:sldMkLst>
    <p188:txBody>
      <a:bodyPr/>
      <a:lstStyle/>
      <a:p>
        <a:r>
          <a:rPr lang="es-AR"/>
          <a:t>agregar otros resultados de especificaciones alternativas que no dan bien? preguntar a German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7719D2-63AB-F94E-926E-84ECA2498CDE}" type="datetimeFigureOut">
              <a:rPr lang="es-AR" smtClean="0"/>
              <a:t>26/5/26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0A2500-9135-1E4A-889D-C07315782627}" type="slidenum">
              <a:rPr lang="es-AR" smtClean="0"/>
              <a:t>‹Nº›</a:t>
            </a:fld>
            <a:endParaRPr lang="es-AR"/>
          </a:p>
        </p:txBody>
      </p:sp>
    </p:spTree>
    <p:extLst>
      <p:ext uri="{BB962C8B-B14F-4D97-AF65-F5344CB8AC3E}">
        <p14:creationId xmlns:p14="http://schemas.microsoft.com/office/powerpoint/2010/main" val="3824220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pPr algn="just"/>
            <a:r>
              <a:rPr lang="en-US" sz="1200" i="1" dirty="0">
                <a:latin typeface="Times New Roman"/>
                <a:ea typeface="Calibri"/>
                <a:cs typeface="Times New Roman"/>
              </a:rPr>
              <a:t>Advantages relative to shares</a:t>
            </a:r>
            <a:endParaRPr lang="en-US" sz="1200" i="1" dirty="0">
              <a:latin typeface="Times New Roman"/>
              <a:cs typeface="Times New Roman"/>
            </a:endParaRPr>
          </a:p>
          <a:p>
            <a:pPr marL="342900" indent="-342900" algn="just">
              <a:buFont typeface="Arial"/>
              <a:buChar char="•"/>
            </a:pPr>
            <a:r>
              <a:rPr lang="en-US" sz="1200" dirty="0">
                <a:latin typeface="Times New Roman"/>
                <a:ea typeface="Calibri"/>
                <a:cs typeface="Times New Roman"/>
              </a:rPr>
              <a:t>Greater variation </a:t>
            </a:r>
          </a:p>
          <a:p>
            <a:pPr marL="342900" indent="-342900" algn="just">
              <a:buFont typeface="Arial"/>
              <a:buChar char="•"/>
            </a:pPr>
            <a:r>
              <a:rPr lang="en-US" sz="1200" dirty="0">
                <a:latin typeface="Times New Roman"/>
                <a:ea typeface="Calibri"/>
                <a:cs typeface="Times New Roman"/>
              </a:rPr>
              <a:t>Reduced mechanical scaling by population. </a:t>
            </a:r>
          </a:p>
          <a:p>
            <a:pPr marL="342900" indent="-342900" algn="just">
              <a:buFont typeface="Arial"/>
              <a:buChar char="•"/>
            </a:pPr>
            <a:r>
              <a:rPr lang="en-US" sz="1200" dirty="0">
                <a:latin typeface="Times New Roman"/>
                <a:ea typeface="Calibri"/>
                <a:cs typeface="Times New Roman"/>
              </a:rPr>
              <a:t>Interpretability in semi-elasticities.</a:t>
            </a:r>
          </a:p>
          <a:p>
            <a:pPr marL="342900" indent="-342900" algn="just">
              <a:buFont typeface="Arial"/>
              <a:buChar char="•"/>
            </a:pPr>
            <a:r>
              <a:rPr lang="en-US" sz="1200" dirty="0">
                <a:latin typeface="Times New Roman"/>
                <a:ea typeface="Calibri"/>
                <a:cs typeface="Times New Roman"/>
              </a:rPr>
              <a:t>Small populations do not generate noisy outliers.</a:t>
            </a:r>
          </a:p>
          <a:p>
            <a:pPr marL="342900" indent="-342900" algn="just">
              <a:buFont typeface="Arial"/>
              <a:buChar char="•"/>
            </a:pPr>
            <a:endParaRPr lang="en-US" sz="1200" dirty="0">
              <a:latin typeface="Times New Roman"/>
              <a:ea typeface="Calibri"/>
              <a:cs typeface="Times New Roman"/>
            </a:endParaRPr>
          </a:p>
          <a:p>
            <a:pPr algn="just"/>
            <a:r>
              <a:rPr lang="en-US" sz="1200" i="1" dirty="0">
                <a:latin typeface="Times New Roman"/>
                <a:ea typeface="Calibri"/>
                <a:cs typeface="Times New Roman"/>
              </a:rPr>
              <a:t>Limitations relative to shares</a:t>
            </a:r>
            <a:endParaRPr lang="en-US" i="1" dirty="0">
              <a:latin typeface="Times New Roman"/>
              <a:cs typeface="Times New Roman"/>
            </a:endParaRPr>
          </a:p>
          <a:p>
            <a:pPr marL="342900" indent="-342900" algn="just">
              <a:buFont typeface="Arial"/>
              <a:buChar char="•"/>
            </a:pPr>
            <a:r>
              <a:rPr lang="en-US" sz="1200" dirty="0">
                <a:latin typeface="Times New Roman"/>
                <a:ea typeface="Calibri"/>
                <a:cs typeface="Times New Roman"/>
              </a:rPr>
              <a:t>Does not scale by population.</a:t>
            </a:r>
          </a:p>
          <a:p>
            <a:pPr marL="342900" indent="-342900" algn="just">
              <a:buFont typeface="Arial"/>
              <a:buChar char="•"/>
            </a:pPr>
            <a:r>
              <a:rPr lang="en-US" sz="1200" dirty="0">
                <a:latin typeface="Times New Roman"/>
                <a:ea typeface="Calibri"/>
                <a:cs typeface="Times New Roman"/>
              </a:rPr>
              <a:t>Less intuitive interpretation as “exposure rate”. </a:t>
            </a:r>
          </a:p>
          <a:p>
            <a:endParaRPr lang="es-AR" dirty="0"/>
          </a:p>
        </p:txBody>
      </p:sp>
      <p:sp>
        <p:nvSpPr>
          <p:cNvPr id="4" name="Marcador de número de diapositiva 3"/>
          <p:cNvSpPr>
            <a:spLocks noGrp="1"/>
          </p:cNvSpPr>
          <p:nvPr>
            <p:ph type="sldNum" sz="quarter" idx="5"/>
          </p:nvPr>
        </p:nvSpPr>
        <p:spPr/>
        <p:txBody>
          <a:bodyPr/>
          <a:lstStyle/>
          <a:p>
            <a:fld id="{DA0A2500-9135-1E4A-889D-C07315782627}" type="slidenum">
              <a:rPr lang="es-AR" smtClean="0"/>
              <a:t>7</a:t>
            </a:fld>
            <a:endParaRPr lang="es-AR"/>
          </a:p>
        </p:txBody>
      </p:sp>
    </p:spTree>
    <p:extLst>
      <p:ext uri="{BB962C8B-B14F-4D97-AF65-F5344CB8AC3E}">
        <p14:creationId xmlns:p14="http://schemas.microsoft.com/office/powerpoint/2010/main" val="3205186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noProof="1">
                <a:solidFill>
                  <a:srgbClr val="000000"/>
                </a:solidFill>
                <a:latin typeface="Cambria"/>
              </a:rPr>
              <a:t>Naming note: we are renaming "Timing-Based Exposure Measure" to "Cohort &amp; Window Exposure Measure" so the reference to arrival cohorts and windows is explicit.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noProof="1">
              <a:solidFill>
                <a:srgbClr val="000000"/>
              </a:solidFill>
              <a:latin typeface="Cambri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noProof="1">
                <a:solidFill>
                  <a:srgbClr val="000000"/>
                </a:solidFill>
                <a:latin typeface="Cambria"/>
              </a:rPr>
              <a:t>This strategy:</a:t>
            </a:r>
          </a:p>
          <a:p>
            <a:pPr marL="342900" indent="-342900" algn="just">
              <a:spcAft>
                <a:spcPts val="500"/>
              </a:spcAft>
              <a:buFont typeface="Arial"/>
              <a:buChar char="•"/>
            </a:pPr>
            <a:r>
              <a:rPr lang="en-US" sz="1200" noProof="1">
                <a:highlight>
                  <a:srgbClr val="FFFFFF"/>
                </a:highlight>
                <a:latin typeface="Times New Roman"/>
                <a:ea typeface="+mn-lt"/>
                <a:cs typeface="Times New Roman"/>
              </a:rPr>
              <a:t>Provides a more time-specific measure of historical presence than simple stock-based measures.</a:t>
            </a:r>
            <a:endParaRPr lang="en-US" sz="1200" noProof="1">
              <a:latin typeface="Times New Roman"/>
              <a:ea typeface="+mn-lt"/>
              <a:cs typeface="Times New Roman"/>
            </a:endParaRPr>
          </a:p>
          <a:p>
            <a:pPr marL="342900" indent="-342900" algn="just">
              <a:spcAft>
                <a:spcPts val="500"/>
              </a:spcAft>
              <a:buFont typeface="Arial"/>
              <a:buChar char="•"/>
            </a:pPr>
            <a:r>
              <a:rPr lang="en-US" sz="1200" noProof="1">
                <a:highlight>
                  <a:srgbClr val="FFFFFF"/>
                </a:highlight>
                <a:latin typeface="Times New Roman"/>
                <a:ea typeface="+mn-lt"/>
                <a:cs typeface="Times New Roman"/>
              </a:rPr>
              <a:t>Allows us to distinguish between different exile windows and directly compare early (pre-1955) and later (post-1955) arrivals.</a:t>
            </a:r>
            <a:endParaRPr lang="en-US" sz="1200" noProof="1">
              <a:latin typeface="Times New Roman"/>
              <a:ea typeface="+mn-lt"/>
              <a:cs typeface="Times New Roman"/>
            </a:endParaRPr>
          </a:p>
          <a:p>
            <a:pPr marL="342900" indent="-342900" algn="just">
              <a:spcAft>
                <a:spcPts val="1200"/>
              </a:spcAft>
              <a:buFont typeface="Arial"/>
              <a:buChar char="•"/>
            </a:pPr>
            <a:r>
              <a:rPr lang="en-US" sz="1200" noProof="1">
                <a:highlight>
                  <a:srgbClr val="FFFFFF"/>
                </a:highlight>
                <a:latin typeface="Times New Roman"/>
                <a:ea typeface="+mn-lt"/>
                <a:cs typeface="Times New Roman"/>
              </a:rPr>
              <a:t>Improves alignment between exposure definition and the institutional features of the law.</a:t>
            </a:r>
            <a:endParaRPr lang="en-US" sz="1200" noProof="1">
              <a:latin typeface="Times New Roman"/>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s-AR" sz="1200" b="0" i="0" dirty="0">
              <a:solidFill>
                <a:srgbClr val="000000"/>
              </a:solidFill>
              <a:latin typeface="Cambria"/>
            </a:endParaRPr>
          </a:p>
        </p:txBody>
      </p:sp>
      <p:sp>
        <p:nvSpPr>
          <p:cNvPr id="4" name="Marcador de número de diapositiva 3"/>
          <p:cNvSpPr>
            <a:spLocks noGrp="1"/>
          </p:cNvSpPr>
          <p:nvPr>
            <p:ph type="sldNum" sz="quarter" idx="5"/>
          </p:nvPr>
        </p:nvSpPr>
        <p:spPr/>
        <p:txBody>
          <a:bodyPr/>
          <a:lstStyle/>
          <a:p>
            <a:fld id="{D836B7FC-CC16-9140-8744-83DA38FAEC60}" type="slidenum">
              <a:rPr lang="es-AR" smtClean="0"/>
              <a:t>8</a:t>
            </a:fld>
            <a:endParaRPr lang="es-AR"/>
          </a:p>
        </p:txBody>
      </p:sp>
    </p:spTree>
    <p:extLst>
      <p:ext uri="{BB962C8B-B14F-4D97-AF65-F5344CB8AC3E}">
        <p14:creationId xmlns:p14="http://schemas.microsoft.com/office/powerpoint/2010/main" val="31848908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r>
              <a:rPr lang="en-US">
                <a:solidFill>
                  <a:srgbClr val="0E0E0E"/>
                </a:solidFill>
              </a:rPr>
              <a:t> In the 1970 census, an outlier is observed in the municipality of San Andrés Cholula (Puebla), where the Spanish-born share reaches 5.7% (approximately 2,000 Spanish-born individuals out of a total population of 35,100, using sampling weights).</a:t>
            </a:r>
            <a:endParaRPr lang="es-ES"/>
          </a:p>
        </p:txBody>
      </p:sp>
      <p:sp>
        <p:nvSpPr>
          <p:cNvPr id="4" name="Marcador de número de diapositiva 3"/>
          <p:cNvSpPr>
            <a:spLocks noGrp="1"/>
          </p:cNvSpPr>
          <p:nvPr>
            <p:ph type="sldNum" sz="quarter" idx="5"/>
          </p:nvPr>
        </p:nvSpPr>
        <p:spPr/>
        <p:txBody>
          <a:bodyPr/>
          <a:lstStyle/>
          <a:p>
            <a:fld id="{4D4DC865-28FF-4425-AB87-8527E62A184A}" type="slidenum">
              <a:rPr lang="es-ES"/>
              <a:t>30</a:t>
            </a:fld>
            <a:endParaRPr lang="es-ES"/>
          </a:p>
        </p:txBody>
      </p:sp>
    </p:spTree>
    <p:extLst>
      <p:ext uri="{BB962C8B-B14F-4D97-AF65-F5344CB8AC3E}">
        <p14:creationId xmlns:p14="http://schemas.microsoft.com/office/powerpoint/2010/main" val="2818551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r>
              <a:rPr lang="en-US">
                <a:solidFill>
                  <a:srgbClr val="0E0E0E"/>
                </a:solidFill>
              </a:rPr>
              <a:t>The 1960 and 1970 IPUMS census microdata are sample extracts rather than full population counts (the sampling fraction is 1% in 1960 and 1.5% in 1970). As a result, some small municipalities may not appear in the data if no sampled individuals were observed in those locations.</a:t>
            </a:r>
            <a:endParaRPr lang="es-ES"/>
          </a:p>
        </p:txBody>
      </p:sp>
      <p:sp>
        <p:nvSpPr>
          <p:cNvPr id="4" name="Marcador de número de diapositiva 3"/>
          <p:cNvSpPr>
            <a:spLocks noGrp="1"/>
          </p:cNvSpPr>
          <p:nvPr>
            <p:ph type="sldNum" sz="quarter" idx="5"/>
          </p:nvPr>
        </p:nvSpPr>
        <p:spPr/>
        <p:txBody>
          <a:bodyPr/>
          <a:lstStyle/>
          <a:p>
            <a:fld id="{4D4DC865-28FF-4425-AB87-8527E62A184A}" type="slidenum">
              <a:rPr lang="es-ES"/>
              <a:t>31</a:t>
            </a:fld>
            <a:endParaRPr lang="es-ES"/>
          </a:p>
        </p:txBody>
      </p:sp>
    </p:spTree>
    <p:extLst>
      <p:ext uri="{BB962C8B-B14F-4D97-AF65-F5344CB8AC3E}">
        <p14:creationId xmlns:p14="http://schemas.microsoft.com/office/powerpoint/2010/main" val="3435273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r>
              <a:rPr lang="en-US">
                <a:solidFill>
                  <a:srgbClr val="0E0E0E"/>
                </a:solidFill>
              </a:rPr>
              <a:t> In the 1970 census, an outlier is observed in the municipality of San Andrés Cholula (Puebla), where the Spanish-born share reaches 5.7% (approximately 2,000 Spanish-born individuals out of a total population of 35,100, using sampling weights).</a:t>
            </a:r>
            <a:endParaRPr lang="es-ES"/>
          </a:p>
        </p:txBody>
      </p:sp>
      <p:sp>
        <p:nvSpPr>
          <p:cNvPr id="4" name="Marcador de número de diapositiva 3"/>
          <p:cNvSpPr>
            <a:spLocks noGrp="1"/>
          </p:cNvSpPr>
          <p:nvPr>
            <p:ph type="sldNum" sz="quarter" idx="5"/>
          </p:nvPr>
        </p:nvSpPr>
        <p:spPr/>
        <p:txBody>
          <a:bodyPr/>
          <a:lstStyle/>
          <a:p>
            <a:fld id="{4D4DC865-28FF-4425-AB87-8527E62A184A}" type="slidenum">
              <a:rPr lang="es-ES"/>
              <a:t>32</a:t>
            </a:fld>
            <a:endParaRPr lang="es-ES"/>
          </a:p>
        </p:txBody>
      </p:sp>
    </p:spTree>
    <p:extLst>
      <p:ext uri="{BB962C8B-B14F-4D97-AF65-F5344CB8AC3E}">
        <p14:creationId xmlns:p14="http://schemas.microsoft.com/office/powerpoint/2010/main" val="3269275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r>
              <a:rPr lang="en-US">
                <a:solidFill>
                  <a:srgbClr val="0E0E0E"/>
                </a:solidFill>
              </a:rPr>
              <a:t> In the 1970 census, an outlier is observed in the municipality of San Andrés Cholula (Puebla), where the Spanish-born share reaches 5.7% (approximately 2,000 Spanish-born individuals out of a total population of 35,100, using sampling weights).</a:t>
            </a:r>
            <a:endParaRPr lang="es-ES"/>
          </a:p>
        </p:txBody>
      </p:sp>
      <p:sp>
        <p:nvSpPr>
          <p:cNvPr id="4" name="Marcador de número de diapositiva 3"/>
          <p:cNvSpPr>
            <a:spLocks noGrp="1"/>
          </p:cNvSpPr>
          <p:nvPr>
            <p:ph type="sldNum" sz="quarter" idx="5"/>
          </p:nvPr>
        </p:nvSpPr>
        <p:spPr/>
        <p:txBody>
          <a:bodyPr/>
          <a:lstStyle/>
          <a:p>
            <a:fld id="{4D4DC865-28FF-4425-AB87-8527E62A184A}" type="slidenum">
              <a:rPr lang="es-ES"/>
              <a:t>33</a:t>
            </a:fld>
            <a:endParaRPr lang="es-ES"/>
          </a:p>
        </p:txBody>
      </p:sp>
    </p:spTree>
    <p:extLst>
      <p:ext uri="{BB962C8B-B14F-4D97-AF65-F5344CB8AC3E}">
        <p14:creationId xmlns:p14="http://schemas.microsoft.com/office/powerpoint/2010/main" val="15558425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r>
              <a:rPr lang="en-US">
                <a:solidFill>
                  <a:srgbClr val="0E0E0E"/>
                </a:solidFill>
              </a:rPr>
              <a:t>The 1960 and 1970 IPUMS census microdata are sample extracts rather than full population counts (the sampling fraction is 1% in 1960 and 1.5% in 1970). As a result, some small municipalities may not appear in the data if no sampled individuals were observed in those locations.</a:t>
            </a:r>
            <a:endParaRPr lang="es-ES"/>
          </a:p>
        </p:txBody>
      </p:sp>
      <p:sp>
        <p:nvSpPr>
          <p:cNvPr id="4" name="Marcador de número de diapositiva 3"/>
          <p:cNvSpPr>
            <a:spLocks noGrp="1"/>
          </p:cNvSpPr>
          <p:nvPr>
            <p:ph type="sldNum" sz="quarter" idx="5"/>
          </p:nvPr>
        </p:nvSpPr>
        <p:spPr/>
        <p:txBody>
          <a:bodyPr/>
          <a:lstStyle/>
          <a:p>
            <a:fld id="{4D4DC865-28FF-4425-AB87-8527E62A184A}" type="slidenum">
              <a:rPr lang="es-ES"/>
              <a:t>34</a:t>
            </a:fld>
            <a:endParaRPr lang="es-ES"/>
          </a:p>
        </p:txBody>
      </p:sp>
    </p:spTree>
    <p:extLst>
      <p:ext uri="{BB962C8B-B14F-4D97-AF65-F5344CB8AC3E}">
        <p14:creationId xmlns:p14="http://schemas.microsoft.com/office/powerpoint/2010/main" val="33683458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r>
              <a:rPr lang="es-AR" dirty="0" err="1"/>
              <a:t>Spec</a:t>
            </a:r>
            <a:r>
              <a:rPr lang="es-AR" dirty="0"/>
              <a:t> 12</a:t>
            </a:r>
          </a:p>
        </p:txBody>
      </p:sp>
      <p:sp>
        <p:nvSpPr>
          <p:cNvPr id="4" name="Marcador de número de diapositiva 3"/>
          <p:cNvSpPr>
            <a:spLocks noGrp="1"/>
          </p:cNvSpPr>
          <p:nvPr>
            <p:ph type="sldNum" sz="quarter" idx="5"/>
          </p:nvPr>
        </p:nvSpPr>
        <p:spPr/>
        <p:txBody>
          <a:bodyPr/>
          <a:lstStyle/>
          <a:p>
            <a:fld id="{DA0A2500-9135-1E4A-889D-C07315782627}" type="slidenum">
              <a:rPr lang="es-AR" smtClean="0"/>
              <a:t>36</a:t>
            </a:fld>
            <a:endParaRPr lang="es-AR"/>
          </a:p>
        </p:txBody>
      </p:sp>
    </p:spTree>
    <p:extLst>
      <p:ext uri="{BB962C8B-B14F-4D97-AF65-F5344CB8AC3E}">
        <p14:creationId xmlns:p14="http://schemas.microsoft.com/office/powerpoint/2010/main" val="13940075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EA7F6-B760-E501-5B62-111CD4EA77E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9DC761E-774D-C171-5199-A74FAC6FC85A}"/>
              </a:ext>
            </a:extLst>
          </p:cNvPr>
          <p:cNvSpPr>
            <a:spLocks noGrp="1" noRot="1" noChangeAspect="1"/>
          </p:cNvSpPr>
          <p:nvPr>
            <p:ph type="sldImg"/>
          </p:nvPr>
        </p:nvSpPr>
        <p:spPr/>
        <p:txBody>
          <a:bodyPr/>
          <a:lstStyle/>
          <a:p>
            <a:endParaRPr lang="es-AR"/>
          </a:p>
        </p:txBody>
      </p:sp>
      <p:sp>
        <p:nvSpPr>
          <p:cNvPr id="3" name="Marcador de notas 2">
            <a:extLst>
              <a:ext uri="{FF2B5EF4-FFF2-40B4-BE49-F238E27FC236}">
                <a16:creationId xmlns:a16="http://schemas.microsoft.com/office/drawing/2014/main" id="{7513560F-78AA-84E1-20AF-8CF7CA9F4BEA}"/>
              </a:ext>
            </a:extLst>
          </p:cNvPr>
          <p:cNvSpPr>
            <a:spLocks noGrp="1"/>
          </p:cNvSpPr>
          <p:nvPr>
            <p:ph type="body" idx="1"/>
          </p:nvPr>
        </p:nvSpPr>
        <p:spPr/>
        <p:txBody>
          <a:bodyPr/>
          <a:lstStyle/>
          <a:p>
            <a:r>
              <a:rPr lang="es-AR" dirty="0" err="1"/>
              <a:t>Spec</a:t>
            </a:r>
            <a:r>
              <a:rPr lang="es-AR" dirty="0"/>
              <a:t> 22</a:t>
            </a:r>
          </a:p>
        </p:txBody>
      </p:sp>
      <p:sp>
        <p:nvSpPr>
          <p:cNvPr id="4" name="Marcador de número de diapositiva 3">
            <a:extLst>
              <a:ext uri="{FF2B5EF4-FFF2-40B4-BE49-F238E27FC236}">
                <a16:creationId xmlns:a16="http://schemas.microsoft.com/office/drawing/2014/main" id="{4C5A34C9-6AC0-9650-0BF7-B6657E3ADBED}"/>
              </a:ext>
            </a:extLst>
          </p:cNvPr>
          <p:cNvSpPr>
            <a:spLocks noGrp="1"/>
          </p:cNvSpPr>
          <p:nvPr>
            <p:ph type="sldNum" sz="quarter" idx="5"/>
          </p:nvPr>
        </p:nvSpPr>
        <p:spPr/>
        <p:txBody>
          <a:bodyPr/>
          <a:lstStyle/>
          <a:p>
            <a:fld id="{DA0A2500-9135-1E4A-889D-C07315782627}" type="slidenum">
              <a:rPr lang="es-AR" smtClean="0"/>
              <a:t>37</a:t>
            </a:fld>
            <a:endParaRPr lang="es-AR"/>
          </a:p>
        </p:txBody>
      </p:sp>
    </p:spTree>
    <p:extLst>
      <p:ext uri="{BB962C8B-B14F-4D97-AF65-F5344CB8AC3E}">
        <p14:creationId xmlns:p14="http://schemas.microsoft.com/office/powerpoint/2010/main" val="2806040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1010F-1AAA-6314-7B93-DED5ECC1F4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137775-6C2B-6F5C-8986-37D5F3F9E3F1}"/>
              </a:ext>
            </a:extLst>
          </p:cNvPr>
          <p:cNvSpPr>
            <a:spLocks noGrp="1" noRot="1" noChangeAspect="1"/>
          </p:cNvSpPr>
          <p:nvPr>
            <p:ph type="sldImg"/>
          </p:nvPr>
        </p:nvSpPr>
        <p:spPr/>
        <p:txBody>
          <a:bodyPr/>
          <a:lstStyle/>
          <a:p>
            <a:endParaRPr lang="es-AR"/>
          </a:p>
        </p:txBody>
      </p:sp>
      <p:sp>
        <p:nvSpPr>
          <p:cNvPr id="3" name="Marcador de notas 2">
            <a:extLst>
              <a:ext uri="{FF2B5EF4-FFF2-40B4-BE49-F238E27FC236}">
                <a16:creationId xmlns:a16="http://schemas.microsoft.com/office/drawing/2014/main" id="{5F1495FF-5C72-24BE-EF15-0316A12D8C88}"/>
              </a:ext>
            </a:extLst>
          </p:cNvPr>
          <p:cNvSpPr>
            <a:spLocks noGrp="1"/>
          </p:cNvSpPr>
          <p:nvPr>
            <p:ph type="body" idx="1"/>
          </p:nvPr>
        </p:nvSpPr>
        <p:spPr/>
        <p:txBody>
          <a:bodyPr/>
          <a:lstStyle/>
          <a:p>
            <a:r>
              <a:rPr lang="es-AR" dirty="0" err="1"/>
              <a:t>Spec</a:t>
            </a:r>
            <a:r>
              <a:rPr lang="es-AR" dirty="0"/>
              <a:t> 27</a:t>
            </a:r>
          </a:p>
        </p:txBody>
      </p:sp>
      <p:sp>
        <p:nvSpPr>
          <p:cNvPr id="4" name="Marcador de número de diapositiva 3">
            <a:extLst>
              <a:ext uri="{FF2B5EF4-FFF2-40B4-BE49-F238E27FC236}">
                <a16:creationId xmlns:a16="http://schemas.microsoft.com/office/drawing/2014/main" id="{48BDB0FD-39C8-DFB3-FD81-50442C569371}"/>
              </a:ext>
            </a:extLst>
          </p:cNvPr>
          <p:cNvSpPr>
            <a:spLocks noGrp="1"/>
          </p:cNvSpPr>
          <p:nvPr>
            <p:ph type="sldNum" sz="quarter" idx="5"/>
          </p:nvPr>
        </p:nvSpPr>
        <p:spPr/>
        <p:txBody>
          <a:bodyPr/>
          <a:lstStyle/>
          <a:p>
            <a:fld id="{DA0A2500-9135-1E4A-889D-C07315782627}" type="slidenum">
              <a:rPr lang="es-AR" smtClean="0"/>
              <a:t>38</a:t>
            </a:fld>
            <a:endParaRPr lang="es-AR"/>
          </a:p>
        </p:txBody>
      </p:sp>
    </p:spTree>
    <p:extLst>
      <p:ext uri="{BB962C8B-B14F-4D97-AF65-F5344CB8AC3E}">
        <p14:creationId xmlns:p14="http://schemas.microsoft.com/office/powerpoint/2010/main" val="40034110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C96BE-54C9-DF9C-A68C-6B564405055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93240CD-04BE-036B-BF80-549ABBE61D10}"/>
              </a:ext>
            </a:extLst>
          </p:cNvPr>
          <p:cNvSpPr>
            <a:spLocks noGrp="1" noRot="1" noChangeAspect="1"/>
          </p:cNvSpPr>
          <p:nvPr>
            <p:ph type="sldImg"/>
          </p:nvPr>
        </p:nvSpPr>
        <p:spPr/>
        <p:txBody>
          <a:bodyPr/>
          <a:lstStyle/>
          <a:p>
            <a:endParaRPr lang="es-AR"/>
          </a:p>
        </p:txBody>
      </p:sp>
      <p:sp>
        <p:nvSpPr>
          <p:cNvPr id="3" name="Marcador de notas 2">
            <a:extLst>
              <a:ext uri="{FF2B5EF4-FFF2-40B4-BE49-F238E27FC236}">
                <a16:creationId xmlns:a16="http://schemas.microsoft.com/office/drawing/2014/main" id="{C3266BA9-C8F3-9D71-461D-356FFF919018}"/>
              </a:ext>
            </a:extLst>
          </p:cNvPr>
          <p:cNvSpPr>
            <a:spLocks noGrp="1"/>
          </p:cNvSpPr>
          <p:nvPr>
            <p:ph type="body" idx="1"/>
          </p:nvPr>
        </p:nvSpPr>
        <p:spPr/>
        <p:txBody>
          <a:bodyPr/>
          <a:lstStyle/>
          <a:p>
            <a:r>
              <a:rPr lang="es-AR" dirty="0" err="1"/>
              <a:t>Spec</a:t>
            </a:r>
            <a:r>
              <a:rPr lang="es-AR" dirty="0"/>
              <a:t> 28</a:t>
            </a:r>
          </a:p>
        </p:txBody>
      </p:sp>
      <p:sp>
        <p:nvSpPr>
          <p:cNvPr id="4" name="Marcador de número de diapositiva 3">
            <a:extLst>
              <a:ext uri="{FF2B5EF4-FFF2-40B4-BE49-F238E27FC236}">
                <a16:creationId xmlns:a16="http://schemas.microsoft.com/office/drawing/2014/main" id="{3F822440-8A18-C220-8B15-471EB0BA17F2}"/>
              </a:ext>
            </a:extLst>
          </p:cNvPr>
          <p:cNvSpPr>
            <a:spLocks noGrp="1"/>
          </p:cNvSpPr>
          <p:nvPr>
            <p:ph type="sldNum" sz="quarter" idx="5"/>
          </p:nvPr>
        </p:nvSpPr>
        <p:spPr/>
        <p:txBody>
          <a:bodyPr/>
          <a:lstStyle/>
          <a:p>
            <a:fld id="{DA0A2500-9135-1E4A-889D-C07315782627}" type="slidenum">
              <a:rPr lang="es-AR" smtClean="0"/>
              <a:t>39</a:t>
            </a:fld>
            <a:endParaRPr lang="es-AR"/>
          </a:p>
        </p:txBody>
      </p:sp>
    </p:spTree>
    <p:extLst>
      <p:ext uri="{BB962C8B-B14F-4D97-AF65-F5344CB8AC3E}">
        <p14:creationId xmlns:p14="http://schemas.microsoft.com/office/powerpoint/2010/main" val="774643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slide4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jpeg"/><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jpeg"/><Relationship Id="rId4" Type="http://schemas.openxmlformats.org/officeDocument/2006/relationships/image" Target="../media/image14.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microsoft.com/office/2018/10/relationships/comments" Target="../comments/modernComment_117_0.xml"/><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17320" y="1234440"/>
            <a:ext cx="914400"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17320" y="1554480"/>
            <a:ext cx="9418320" cy="2194560"/>
          </a:xfrm>
          <a:prstGeom prst="rect">
            <a:avLst/>
          </a:prstGeom>
          <a:noFill/>
        </p:spPr>
        <p:txBody>
          <a:bodyPr wrap="square" lIns="0" tIns="0" rIns="0" bIns="0" anchor="t">
            <a:spAutoFit/>
          </a:bodyPr>
          <a:lstStyle/>
          <a:p>
            <a:pPr algn="l">
              <a:lnSpc>
                <a:spcPct val="110000"/>
              </a:lnSpc>
            </a:pPr>
            <a:r>
              <a:rPr sz="4000" b="1" i="0">
                <a:solidFill>
                  <a:srgbClr val="000000"/>
                </a:solidFill>
                <a:latin typeface="Cambria"/>
              </a:rPr>
              <a:t>External Citizenship and Migration Responses: Evidence from Spain's Ancestry-Based Citizenship Reform</a:t>
            </a:r>
          </a:p>
        </p:txBody>
      </p:sp>
      <p:sp>
        <p:nvSpPr>
          <p:cNvPr id="4" name="TextBox 3"/>
          <p:cNvSpPr txBox="1"/>
          <p:nvPr/>
        </p:nvSpPr>
        <p:spPr>
          <a:xfrm>
            <a:off x="1417320" y="3886200"/>
            <a:ext cx="9144000" cy="640080"/>
          </a:xfrm>
          <a:prstGeom prst="rect">
            <a:avLst/>
          </a:prstGeom>
          <a:noFill/>
        </p:spPr>
        <p:txBody>
          <a:bodyPr wrap="square" lIns="0" tIns="0" rIns="0" bIns="0" anchor="t">
            <a:spAutoFit/>
          </a:bodyPr>
          <a:lstStyle/>
          <a:p>
            <a:pPr algn="l">
              <a:lnSpc>
                <a:spcPct val="100000"/>
              </a:lnSpc>
            </a:pPr>
            <a:r>
              <a:rPr sz="2400" b="1" i="0">
                <a:solidFill>
                  <a:srgbClr val="000000"/>
                </a:solidFill>
                <a:latin typeface="Cambria"/>
              </a:rPr>
              <a:t>Study for Mexico — Progress Update</a:t>
            </a:r>
          </a:p>
        </p:txBody>
      </p:sp>
      <p:sp>
        <p:nvSpPr>
          <p:cNvPr id="5" name="TextBox 4"/>
          <p:cNvSpPr txBox="1"/>
          <p:nvPr/>
        </p:nvSpPr>
        <p:spPr>
          <a:xfrm>
            <a:off x="1417320" y="5120640"/>
            <a:ext cx="9144000" cy="457200"/>
          </a:xfrm>
          <a:prstGeom prst="rect">
            <a:avLst/>
          </a:prstGeom>
          <a:noFill/>
        </p:spPr>
        <p:txBody>
          <a:bodyPr wrap="square" lIns="0" tIns="0" rIns="0" bIns="0" anchor="t">
            <a:spAutoFit/>
          </a:bodyPr>
          <a:lstStyle/>
          <a:p>
            <a:pPr algn="l">
              <a:lnSpc>
                <a:spcPct val="100000"/>
              </a:lnSpc>
            </a:pPr>
            <a:r>
              <a:rPr sz="1800" b="0" i="0">
                <a:solidFill>
                  <a:srgbClr val="444444"/>
                </a:solidFill>
                <a:latin typeface="Cambria"/>
              </a:rPr>
              <a:t>04/22/2026</a:t>
            </a:r>
          </a:p>
        </p:txBody>
      </p:sp>
      <p:sp>
        <p:nvSpPr>
          <p:cNvPr id="6" name="TextBox 5"/>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 / 31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Research Question</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1737360"/>
            <a:ext cx="9601200" cy="822960"/>
          </a:xfrm>
          <a:prstGeom prst="rect">
            <a:avLst/>
          </a:prstGeom>
          <a:noFill/>
        </p:spPr>
        <p:txBody>
          <a:bodyPr wrap="square" lIns="0" tIns="0" rIns="0" bIns="0" anchor="t">
            <a:spAutoFit/>
          </a:bodyPr>
          <a:lstStyle/>
          <a:p>
            <a:pPr algn="ctr">
              <a:lnSpc>
                <a:spcPct val="115000"/>
              </a:lnSpc>
            </a:pPr>
            <a:r>
              <a:rPr sz="2200" b="1" i="0">
                <a:solidFill>
                  <a:srgbClr val="000000"/>
                </a:solidFill>
                <a:latin typeface="Cambria"/>
              </a:rPr>
              <a:t>Does exogenous access to EU citizenship through an ancestry-based reform alter remittance inflows?</a:t>
            </a:r>
          </a:p>
        </p:txBody>
      </p:sp>
      <p:sp>
        <p:nvSpPr>
          <p:cNvPr id="5" name="TextBox 4"/>
          <p:cNvSpPr txBox="1"/>
          <p:nvPr/>
        </p:nvSpPr>
        <p:spPr>
          <a:xfrm>
            <a:off x="685800" y="3108960"/>
            <a:ext cx="10972800" cy="1485535"/>
          </a:xfrm>
          <a:prstGeom prst="rect">
            <a:avLst/>
          </a:prstGeom>
          <a:noFill/>
        </p:spPr>
        <p:txBody>
          <a:bodyPr wrap="square" lIns="0" tIns="0" rIns="0" bIns="0">
            <a:spAutoFit/>
          </a:bodyPr>
          <a:lstStyle/>
          <a:p>
            <a:pPr marL="320040" indent="-228600" algn="l">
              <a:lnSpc>
                <a:spcPct val="115000"/>
              </a:lnSpc>
              <a:buFont typeface="Arial"/>
              <a:buChar char="•"/>
            </a:pPr>
            <a:r>
              <a:rPr sz="1700" dirty="0">
                <a:solidFill>
                  <a:srgbClr val="000000"/>
                </a:solidFill>
                <a:latin typeface="Cambria"/>
              </a:rPr>
              <a:t>We start with remittances as the primary outcome.</a:t>
            </a:r>
          </a:p>
          <a:p>
            <a:pPr marL="320040" indent="-228600" algn="l">
              <a:lnSpc>
                <a:spcPct val="115000"/>
              </a:lnSpc>
              <a:spcBef>
                <a:spcPts val="800"/>
              </a:spcBef>
              <a:buFont typeface="Arial"/>
              <a:buChar char="•"/>
            </a:pPr>
            <a:r>
              <a:rPr sz="1700" b="0" i="0" dirty="0">
                <a:solidFill>
                  <a:srgbClr val="000000"/>
                </a:solidFill>
                <a:latin typeface="Cambria"/>
              </a:rPr>
              <a:t>Remittances are a direct, observable financial response to migration.</a:t>
            </a:r>
          </a:p>
          <a:p>
            <a:pPr marL="320040" indent="-228600" algn="l">
              <a:lnSpc>
                <a:spcPct val="115000"/>
              </a:lnSpc>
              <a:spcBef>
                <a:spcPts val="800"/>
              </a:spcBef>
              <a:buFont typeface="Arial"/>
              <a:buChar char="•"/>
            </a:pPr>
            <a:r>
              <a:rPr sz="1700" b="0" i="0" dirty="0">
                <a:solidFill>
                  <a:srgbClr val="000000"/>
                </a:solidFill>
                <a:latin typeface="Cambria"/>
              </a:rPr>
              <a:t>Available at relatively high frequency and at subnational level.</a:t>
            </a:r>
          </a:p>
          <a:p>
            <a:pPr marL="320040" indent="-228600" algn="l">
              <a:lnSpc>
                <a:spcPct val="115000"/>
              </a:lnSpc>
              <a:spcBef>
                <a:spcPts val="800"/>
              </a:spcBef>
              <a:buFont typeface="Arial"/>
              <a:buChar char="•"/>
            </a:pPr>
            <a:r>
              <a:rPr sz="1700" b="0" i="0" dirty="0">
                <a:solidFill>
                  <a:srgbClr val="000000"/>
                </a:solidFill>
                <a:latin typeface="Cambria"/>
              </a:rPr>
              <a:t>Capture both migration decisions and labor-market outcomes abroad.</a:t>
            </a:r>
          </a:p>
        </p:txBody>
      </p:sp>
      <p:sp>
        <p:nvSpPr>
          <p:cNvPr id="6" name="TextBox 5"/>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2 / 31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Motivation</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91640"/>
            <a:ext cx="10972800" cy="4846320"/>
          </a:xfrm>
          <a:prstGeom prst="rect">
            <a:avLst/>
          </a:prstGeom>
          <a:noFill/>
        </p:spPr>
        <p:txBody>
          <a:bodyPr wrap="square" lIns="0" tIns="0" rIns="0" bIns="0">
            <a:spAutoFit/>
          </a:bodyPr>
          <a:lstStyle/>
          <a:p>
            <a:pPr marL="320040" indent="-228600" algn="l">
              <a:lnSpc>
                <a:spcPct val="115000"/>
              </a:lnSpc>
              <a:buFont typeface="Arial"/>
              <a:buChar char="•"/>
            </a:pPr>
            <a:r>
              <a:rPr sz="1700">
                <a:solidFill>
                  <a:srgbClr val="000000"/>
                </a:solidFill>
                <a:latin typeface="Cambria"/>
              </a:rPr>
              <a:t>Legal status is central to migrants' economic integration, yet most empirical work focuses on restrictive policies, while large-scale external citizenship liberalizations remain relatively understudied.</a:t>
            </a:r>
          </a:p>
          <a:p>
            <a:pPr marL="320040" indent="-228600" algn="l">
              <a:lnSpc>
                <a:spcPct val="115000"/>
              </a:lnSpc>
              <a:spcBef>
                <a:spcPts val="800"/>
              </a:spcBef>
              <a:buFont typeface="Arial"/>
              <a:buChar char="•"/>
            </a:pPr>
            <a:r>
              <a:rPr sz="1700" b="0" i="0">
                <a:solidFill>
                  <a:srgbClr val="000000"/>
                </a:solidFill>
                <a:latin typeface="Cambria"/>
              </a:rPr>
              <a:t>Spain's Ley de Nietos (2022) provides a plausibly exogenous shock to legal status: eligibility is determined by predetermined ancestry.</a:t>
            </a:r>
          </a:p>
          <a:p>
            <a:pPr marL="320040" indent="-228600" algn="l">
              <a:lnSpc>
                <a:spcPct val="115000"/>
              </a:lnSpc>
              <a:spcBef>
                <a:spcPts val="800"/>
              </a:spcBef>
              <a:buFont typeface="Arial"/>
              <a:buChar char="•"/>
            </a:pPr>
            <a:r>
              <a:rPr sz="1700" b="0" i="0">
                <a:solidFill>
                  <a:srgbClr val="000000"/>
                </a:solidFill>
                <a:latin typeface="Cambria"/>
              </a:rPr>
              <a:t>Mexico is a relevant case: it hosted a large community of Spanish exiles and is today a major emigration-origin country, with rising migration to Spain.</a:t>
            </a:r>
          </a:p>
          <a:p>
            <a:pPr marL="320040" indent="-228600" algn="l">
              <a:lnSpc>
                <a:spcPct val="115000"/>
              </a:lnSpc>
              <a:spcBef>
                <a:spcPts val="800"/>
              </a:spcBef>
              <a:buFont typeface="Arial"/>
              <a:buChar char="•"/>
            </a:pPr>
            <a:r>
              <a:rPr sz="1700" b="0" i="0">
                <a:solidFill>
                  <a:srgbClr val="000000"/>
                </a:solidFill>
                <a:latin typeface="Cambria"/>
              </a:rPr>
              <a:t>Unlike the well-studied Mexico–U.S. corridor, Mexico–Spain migration may operate through different legal and socioeconomic channels, potentially leading to distinct effects.</a:t>
            </a: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3 / 31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91640"/>
            <a:ext cx="10972800" cy="3059427"/>
          </a:xfrm>
          <a:prstGeom prst="rect">
            <a:avLst/>
          </a:prstGeom>
          <a:noFill/>
        </p:spPr>
        <p:txBody>
          <a:bodyPr wrap="square" lIns="0" tIns="0" rIns="0" bIns="0">
            <a:spAutoFit/>
          </a:bodyPr>
          <a:lstStyle/>
          <a:p>
            <a:pPr marL="320040" indent="-228600" algn="l">
              <a:lnSpc>
                <a:spcPct val="115000"/>
              </a:lnSpc>
              <a:buFont typeface="Arial"/>
              <a:buChar char="•"/>
            </a:pPr>
            <a:r>
              <a:rPr sz="1700" dirty="0">
                <a:solidFill>
                  <a:srgbClr val="000000"/>
                </a:solidFill>
                <a:latin typeface="Cambria"/>
              </a:rPr>
              <a:t>Mexican Population Census (IPUMS 1960, 1970). Earlier rounds are not available. Provides place of birth, previous place of residence, and years in the current locality.</a:t>
            </a:r>
          </a:p>
          <a:p>
            <a:pPr marL="320040" indent="-228600" algn="l">
              <a:lnSpc>
                <a:spcPct val="115000"/>
              </a:lnSpc>
              <a:spcBef>
                <a:spcPts val="800"/>
              </a:spcBef>
              <a:buFont typeface="Arial"/>
              <a:buChar char="•"/>
            </a:pPr>
            <a:r>
              <a:rPr sz="1700" b="0" i="0" dirty="0">
                <a:solidFill>
                  <a:srgbClr val="000000"/>
                </a:solidFill>
                <a:latin typeface="Cambria"/>
              </a:rPr>
              <a:t>Remittance Data (CONAPO). Quarterly municipal remittance inflows (in USD), 2013–2024.</a:t>
            </a:r>
          </a:p>
          <a:p>
            <a:pPr marL="320040" indent="-228600" algn="l">
              <a:lnSpc>
                <a:spcPct val="115000"/>
              </a:lnSpc>
              <a:spcBef>
                <a:spcPts val="800"/>
              </a:spcBef>
              <a:buFont typeface="Arial"/>
              <a:buChar char="•"/>
            </a:pPr>
            <a:r>
              <a:rPr sz="1700" b="0" i="0" dirty="0">
                <a:solidFill>
                  <a:srgbClr val="000000"/>
                </a:solidFill>
                <a:latin typeface="Cambria"/>
              </a:rPr>
              <a:t>Marginalization Index (CONAPO). Municipal-level index summarizing socioeconomic deprivation; available for 2015 and 2020.</a:t>
            </a:r>
          </a:p>
          <a:p>
            <a:pPr marL="320040" indent="-228600" algn="l">
              <a:lnSpc>
                <a:spcPct val="115000"/>
              </a:lnSpc>
              <a:spcBef>
                <a:spcPts val="800"/>
              </a:spcBef>
              <a:buFont typeface="Arial"/>
              <a:buChar char="•"/>
            </a:pPr>
            <a:r>
              <a:rPr sz="1700" b="0" i="0" dirty="0">
                <a:solidFill>
                  <a:srgbClr val="000000"/>
                </a:solidFill>
                <a:latin typeface="Cambria"/>
              </a:rPr>
              <a:t>Population data </a:t>
            </a:r>
            <a:r>
              <a:rPr lang="es-ES" sz="1700" b="0" i="0" dirty="0">
                <a:solidFill>
                  <a:srgbClr val="000000"/>
                </a:solidFill>
                <a:latin typeface="Cambria"/>
              </a:rPr>
              <a:t>from</a:t>
            </a:r>
            <a:r>
              <a:rPr sz="1700" b="0" i="0" dirty="0">
                <a:solidFill>
                  <a:srgbClr val="000000"/>
                </a:solidFill>
                <a:latin typeface="Cambria"/>
              </a:rPr>
              <a:t> 2020 Mexican Population Census. Used for population-based controls.</a:t>
            </a:r>
            <a:endParaRPr lang="es-ES" sz="1700" b="0" i="0" dirty="0">
              <a:solidFill>
                <a:srgbClr val="000000"/>
              </a:solidFill>
              <a:latin typeface="Cambria"/>
            </a:endParaRPr>
          </a:p>
          <a:p>
            <a:pPr marL="320040" indent="-228600" algn="l">
              <a:lnSpc>
                <a:spcPct val="115000"/>
              </a:lnSpc>
              <a:spcBef>
                <a:spcPts val="800"/>
              </a:spcBef>
              <a:buFont typeface="Arial"/>
              <a:buChar char="•"/>
            </a:pPr>
            <a:endParaRPr sz="1700" b="0" i="0" dirty="0">
              <a:solidFill>
                <a:srgbClr val="000000"/>
              </a:solidFill>
              <a:latin typeface="Cambria"/>
            </a:endParaRPr>
          </a:p>
          <a:p>
            <a:pPr marL="91440" algn="l">
              <a:lnSpc>
                <a:spcPct val="115000"/>
              </a:lnSpc>
              <a:spcBef>
                <a:spcPts val="800"/>
              </a:spcBef>
            </a:pPr>
            <a:r>
              <a:rPr sz="1300" b="0" i="1" dirty="0">
                <a:latin typeface="Cambria"/>
              </a:rPr>
              <a:t>Merging note. Mexican municipality (INEGI) codes drift across rounds, so we use the IPUMS-standardized INEGI as the base for the 1960/1970 censuses, and reconcile every other source through a name- and state-based crosswalk (details in the appendix).</a:t>
            </a: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4 / 31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Empirical Strategy</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325880"/>
            <a:ext cx="10972800" cy="457200"/>
          </a:xfrm>
          <a:prstGeom prst="rect">
            <a:avLst/>
          </a:prstGeom>
          <a:noFill/>
        </p:spPr>
        <p:txBody>
          <a:bodyPr wrap="square" lIns="0" tIns="0" rIns="0" bIns="0" anchor="t">
            <a:spAutoFit/>
          </a:bodyPr>
          <a:lstStyle/>
          <a:p>
            <a:pPr algn="l">
              <a:lnSpc>
                <a:spcPct val="100000"/>
              </a:lnSpc>
            </a:pPr>
            <a:r>
              <a:rPr sz="2200" b="1" i="0" dirty="0">
                <a:solidFill>
                  <a:srgbClr val="000000"/>
                </a:solidFill>
                <a:latin typeface="Cambria"/>
              </a:rPr>
              <a:t>Spanish Stock-Based Exposure Measure</a:t>
            </a:r>
          </a:p>
        </p:txBody>
      </p:sp>
      <p:sp>
        <p:nvSpPr>
          <p:cNvPr id="5" name="TextBox 4"/>
          <p:cNvSpPr txBox="1"/>
          <p:nvPr/>
        </p:nvSpPr>
        <p:spPr>
          <a:xfrm>
            <a:off x="685800" y="1783080"/>
            <a:ext cx="10972800" cy="4846320"/>
          </a:xfrm>
          <a:prstGeom prst="rect">
            <a:avLst/>
          </a:prstGeom>
          <a:noFill/>
        </p:spPr>
        <p:txBody>
          <a:bodyPr wrap="square" lIns="0" tIns="0" rIns="0" bIns="0">
            <a:spAutoFit/>
          </a:bodyPr>
          <a:lstStyle/>
          <a:p>
            <a:pPr marL="320040" indent="-228600" algn="l">
              <a:lnSpc>
                <a:spcPct val="115000"/>
              </a:lnSpc>
              <a:buFont typeface="Arial"/>
              <a:buChar char="•"/>
            </a:pPr>
            <a:r>
              <a:rPr sz="1700" dirty="0">
                <a:solidFill>
                  <a:srgbClr val="000000"/>
                </a:solidFill>
                <a:latin typeface="Cambria"/>
              </a:rPr>
              <a:t>Difference-in-differences with treatment intensity, municipality and year FE.</a:t>
            </a:r>
          </a:p>
          <a:p>
            <a:pPr marL="320040" indent="-228600" algn="l">
              <a:lnSpc>
                <a:spcPct val="115000"/>
              </a:lnSpc>
              <a:spcBef>
                <a:spcPts val="800"/>
              </a:spcBef>
              <a:buFont typeface="Arial"/>
              <a:buChar char="•"/>
            </a:pPr>
            <a:r>
              <a:rPr sz="1700" b="0" i="0" dirty="0">
                <a:solidFill>
                  <a:srgbClr val="000000"/>
                </a:solidFill>
                <a:latin typeface="Cambria"/>
              </a:rPr>
              <a:t>Historical censuses do not consistently report immigrants' year of arrival, so we measure treatment intensity with the historical stock of Spanish-born residents, irrespective of arrival year.</a:t>
            </a:r>
          </a:p>
          <a:p>
            <a:pPr marL="320040" indent="-228600" algn="l">
              <a:lnSpc>
                <a:spcPct val="115000"/>
              </a:lnSpc>
              <a:spcBef>
                <a:spcPts val="800"/>
              </a:spcBef>
              <a:buFont typeface="Arial"/>
              <a:buChar char="•"/>
            </a:pPr>
            <a:r>
              <a:rPr sz="1700" b="0" i="0" dirty="0">
                <a:solidFill>
                  <a:srgbClr val="000000"/>
                </a:solidFill>
                <a:latin typeface="Cambria"/>
              </a:rPr>
              <a:t>This proxies municipal exposure to the Law: municipalities with larger historical Spanish communities were more likely to have received Spanish refugees during 1936–1978 and thus to have generated larger pools of eligible descendants.</a:t>
            </a:r>
          </a:p>
          <a:p>
            <a:pPr marL="320040" indent="-228600" algn="l">
              <a:lnSpc>
                <a:spcPct val="115000"/>
              </a:lnSpc>
              <a:spcBef>
                <a:spcPts val="800"/>
              </a:spcBef>
              <a:buFont typeface="Arial"/>
              <a:buChar char="•"/>
            </a:pPr>
            <a:r>
              <a:rPr sz="1700" b="0" i="0" dirty="0">
                <a:solidFill>
                  <a:srgbClr val="000000"/>
                </a:solidFill>
                <a:latin typeface="Cambria"/>
              </a:rPr>
              <a:t>Stock built from the place-of-birth question in the 1960 and 1970 censuses:</a:t>
            </a:r>
          </a:p>
        </p:txBody>
      </p:sp>
      <p:sp>
        <p:nvSpPr>
          <p:cNvPr id="6" name="TextBox 5"/>
          <p:cNvSpPr txBox="1"/>
          <p:nvPr/>
        </p:nvSpPr>
        <p:spPr>
          <a:xfrm>
            <a:off x="3828674" y="4291210"/>
            <a:ext cx="4534651" cy="369332"/>
          </a:xfrm>
          <a:prstGeom prst="rect">
            <a:avLst/>
          </a:prstGeom>
          <a:noFill/>
        </p:spPr>
        <p:txBody>
          <a:bodyPr wrap="square" lIns="0" tIns="0" rIns="0" bIns="0" anchor="t">
            <a:spAutoFit/>
          </a:bodyPr>
          <a:lstStyle/>
          <a:p>
            <a:pPr algn="ctr">
              <a:lnSpc>
                <a:spcPct val="100000"/>
              </a:lnSpc>
            </a:pPr>
            <a:r>
              <a:rPr sz="2400" b="0" i="1" dirty="0">
                <a:solidFill>
                  <a:srgbClr val="000000"/>
                </a:solidFill>
                <a:latin typeface="Cambria"/>
              </a:rPr>
              <a:t>Eₘ = ( S₆₀,ₘ + S₇₀,ₘ ) / 2</a:t>
            </a:r>
          </a:p>
        </p:txBody>
      </p:sp>
      <p:sp>
        <p:nvSpPr>
          <p:cNvPr id="7" name="TextBox 6"/>
          <p:cNvSpPr txBox="1"/>
          <p:nvPr/>
        </p:nvSpPr>
        <p:spPr>
          <a:xfrm>
            <a:off x="1052203" y="4809451"/>
            <a:ext cx="9637261" cy="215444"/>
          </a:xfrm>
          <a:prstGeom prst="rect">
            <a:avLst/>
          </a:prstGeom>
          <a:noFill/>
        </p:spPr>
        <p:txBody>
          <a:bodyPr wrap="square" lIns="0" tIns="0" rIns="0" bIns="0" anchor="t">
            <a:spAutoFit/>
          </a:bodyPr>
          <a:lstStyle/>
          <a:p>
            <a:pPr algn="l">
              <a:lnSpc>
                <a:spcPct val="100000"/>
              </a:lnSpc>
            </a:pPr>
            <a:r>
              <a:rPr sz="1400" b="0" dirty="0">
                <a:latin typeface="Cambria"/>
              </a:rPr>
              <a:t>where</a:t>
            </a:r>
            <a:r>
              <a:rPr sz="1400" b="0" i="1" dirty="0">
                <a:latin typeface="Cambria"/>
              </a:rPr>
              <a:t> S₆₀,ₘ </a:t>
            </a:r>
            <a:r>
              <a:rPr sz="1400" b="0" dirty="0">
                <a:latin typeface="Cambria"/>
              </a:rPr>
              <a:t>and</a:t>
            </a:r>
            <a:r>
              <a:rPr sz="1400" b="0" i="1" dirty="0">
                <a:latin typeface="Cambria"/>
              </a:rPr>
              <a:t> S₇₀,ₘ </a:t>
            </a:r>
            <a:r>
              <a:rPr sz="1400" b="0" dirty="0">
                <a:latin typeface="Cambria"/>
              </a:rPr>
              <a:t>are the Spanish-born population in municipality m in 1960 and 1970.</a:t>
            </a:r>
          </a:p>
        </p:txBody>
      </p:sp>
      <p:sp>
        <p:nvSpPr>
          <p:cNvPr id="8" name="TextBox 7"/>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5 / 31</a:t>
            </a:r>
          </a:p>
        </p:txBody>
      </p:sp>
      <p:sp>
        <p:nvSpPr>
          <p:cNvPr id="10" name="CuadroTexto 9">
            <a:extLst>
              <a:ext uri="{FF2B5EF4-FFF2-40B4-BE49-F238E27FC236}">
                <a16:creationId xmlns:a16="http://schemas.microsoft.com/office/drawing/2014/main" id="{7837E789-0B6E-EB9F-F263-B444FBE637CA}"/>
              </a:ext>
            </a:extLst>
          </p:cNvPr>
          <p:cNvSpPr txBox="1"/>
          <p:nvPr/>
        </p:nvSpPr>
        <p:spPr>
          <a:xfrm>
            <a:off x="685800" y="5145773"/>
            <a:ext cx="10820400" cy="1660711"/>
          </a:xfrm>
          <a:prstGeom prst="rect">
            <a:avLst/>
          </a:prstGeom>
          <a:noFill/>
        </p:spPr>
        <p:txBody>
          <a:bodyPr wrap="square">
            <a:spAutoFit/>
          </a:bodyPr>
          <a:lstStyle/>
          <a:p>
            <a:pPr marL="377190" indent="-285750">
              <a:lnSpc>
                <a:spcPct val="115000"/>
              </a:lnSpc>
              <a:buFont typeface="Arial" panose="020B0604020202020204" pitchFamily="34" charset="0"/>
              <a:buChar char="•"/>
            </a:pPr>
            <a:r>
              <a:rPr lang="en-US" sz="1700" u="sng" dirty="0">
                <a:solidFill>
                  <a:srgbClr val="000000"/>
                </a:solidFill>
                <a:latin typeface="Cambria"/>
              </a:rPr>
              <a:t>Limitations</a:t>
            </a:r>
          </a:p>
          <a:p>
            <a:pPr marL="777240" lvl="1" indent="-228600">
              <a:lnSpc>
                <a:spcPct val="115000"/>
              </a:lnSpc>
              <a:spcAft>
                <a:spcPts val="700"/>
              </a:spcAft>
              <a:buFont typeface="Arial"/>
              <a:buChar char="•"/>
            </a:pPr>
            <a:r>
              <a:rPr lang="en-US" sz="1700" dirty="0">
                <a:solidFill>
                  <a:srgbClr val="000000"/>
                </a:solidFill>
                <a:latin typeface="Cambria"/>
              </a:rPr>
              <a:t>Descendants may not reside in the same municipality where earlier generations settled. This introduces measurement errors in the municipal exposure proxy. </a:t>
            </a:r>
          </a:p>
          <a:p>
            <a:pPr marL="777240" lvl="1" indent="-228600">
              <a:lnSpc>
                <a:spcPct val="115000"/>
              </a:lnSpc>
              <a:spcAft>
                <a:spcPts val="700"/>
              </a:spcAft>
              <a:buFont typeface="Arial"/>
              <a:buChar char="•"/>
            </a:pPr>
            <a:r>
              <a:rPr lang="en-US" sz="1700" dirty="0">
                <a:solidFill>
                  <a:srgbClr val="000000"/>
                </a:solidFill>
                <a:latin typeface="Cambria"/>
              </a:rPr>
              <a:t>The census does not allow us to distinguish precisely the arrival date of Spanish exiles, limiting our ability to classify whether settlement occurred before or after the 1955 cutoff.</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dirty="0">
                <a:solidFill>
                  <a:srgbClr val="000000"/>
                </a:solidFill>
                <a:latin typeface="Cambria"/>
              </a:rPr>
              <a:t>Empirical Strategy</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325880"/>
            <a:ext cx="10972800" cy="457200"/>
          </a:xfrm>
          <a:prstGeom prst="rect">
            <a:avLst/>
          </a:prstGeom>
          <a:noFill/>
        </p:spPr>
        <p:txBody>
          <a:bodyPr wrap="square" lIns="0" tIns="0" rIns="0" bIns="0" anchor="t">
            <a:spAutoFit/>
          </a:bodyPr>
          <a:lstStyle/>
          <a:p>
            <a:pPr algn="l">
              <a:lnSpc>
                <a:spcPct val="100000"/>
              </a:lnSpc>
            </a:pPr>
            <a:r>
              <a:rPr sz="2200" b="1" i="0" dirty="0">
                <a:solidFill>
                  <a:srgbClr val="000000"/>
                </a:solidFill>
                <a:latin typeface="Cambria"/>
              </a:rPr>
              <a:t>Spanish Stock-Based Specification</a:t>
            </a:r>
          </a:p>
        </p:txBody>
      </p:sp>
      <p:sp>
        <p:nvSpPr>
          <p:cNvPr id="5" name="TextBox 4"/>
          <p:cNvSpPr txBox="1"/>
          <p:nvPr/>
        </p:nvSpPr>
        <p:spPr>
          <a:xfrm>
            <a:off x="685800" y="1783080"/>
            <a:ext cx="10972800" cy="4846320"/>
          </a:xfrm>
          <a:prstGeom prst="rect">
            <a:avLst/>
          </a:prstGeom>
          <a:noFill/>
        </p:spPr>
        <p:txBody>
          <a:bodyPr wrap="square" lIns="0" tIns="0" rIns="0" bIns="0">
            <a:spAutoFit/>
          </a:bodyPr>
          <a:lstStyle/>
          <a:p>
            <a:pPr marL="320040" indent="-228600" algn="l">
              <a:lnSpc>
                <a:spcPct val="115000"/>
              </a:lnSpc>
              <a:buFont typeface="Arial"/>
              <a:buChar char="•"/>
            </a:pPr>
            <a:r>
              <a:rPr sz="1700">
                <a:solidFill>
                  <a:srgbClr val="000000"/>
                </a:solidFill>
                <a:latin typeface="Cambria"/>
              </a:rPr>
              <a:t>Baseline model with municipality and year fixed effects:</a:t>
            </a:r>
          </a:p>
        </p:txBody>
      </p:sp>
      <p:sp>
        <p:nvSpPr>
          <p:cNvPr id="6" name="TextBox 5"/>
          <p:cNvSpPr txBox="1"/>
          <p:nvPr/>
        </p:nvSpPr>
        <p:spPr>
          <a:xfrm>
            <a:off x="914400" y="2331720"/>
            <a:ext cx="10515600" cy="640080"/>
          </a:xfrm>
          <a:prstGeom prst="rect">
            <a:avLst/>
          </a:prstGeom>
          <a:noFill/>
        </p:spPr>
        <p:txBody>
          <a:bodyPr wrap="square" lIns="0" tIns="0" rIns="0" bIns="0" anchor="t">
            <a:spAutoFit/>
          </a:bodyPr>
          <a:lstStyle/>
          <a:p>
            <a:pPr algn="ctr">
              <a:lnSpc>
                <a:spcPct val="100000"/>
              </a:lnSpc>
            </a:pPr>
            <a:r>
              <a:rPr sz="2000" b="0" i="1">
                <a:solidFill>
                  <a:srgbClr val="000000"/>
                </a:solidFill>
                <a:latin typeface="Cambria"/>
              </a:rPr>
              <a:t>log(remittances)ₘₜ = β₀ + β₁ · postₜ × log(Eₘ) + γₜ + δₘ + uₘₜ</a:t>
            </a:r>
          </a:p>
        </p:txBody>
      </p:sp>
      <p:sp>
        <p:nvSpPr>
          <p:cNvPr id="7" name="TextBox 6"/>
          <p:cNvSpPr txBox="1"/>
          <p:nvPr/>
        </p:nvSpPr>
        <p:spPr>
          <a:xfrm>
            <a:off x="685800" y="3154680"/>
            <a:ext cx="10972800" cy="4846320"/>
          </a:xfrm>
          <a:prstGeom prst="rect">
            <a:avLst/>
          </a:prstGeom>
          <a:noFill/>
        </p:spPr>
        <p:txBody>
          <a:bodyPr wrap="square" lIns="0" tIns="0" rIns="0" bIns="0">
            <a:spAutoFit/>
          </a:bodyPr>
          <a:lstStyle/>
          <a:p>
            <a:pPr marL="320040" indent="-228600" algn="l">
              <a:lnSpc>
                <a:spcPct val="115000"/>
              </a:lnSpc>
              <a:buFont typeface="Arial"/>
              <a:buChar char="•"/>
            </a:pPr>
            <a:r>
              <a:rPr sz="1700">
                <a:solidFill>
                  <a:srgbClr val="000000"/>
                </a:solidFill>
                <a:latin typeface="Cambria"/>
              </a:rPr>
              <a:t>We allow for differential time trends by interacting year FE with baseline U.S. migration (2000 or 2010), accounting for structural differences between traditional U.S.-migration municipalities and those more likely to respond to legal opportunities to Spain:</a:t>
            </a:r>
          </a:p>
        </p:txBody>
      </p:sp>
      <p:sp>
        <p:nvSpPr>
          <p:cNvPr id="8" name="TextBox 7"/>
          <p:cNvSpPr txBox="1"/>
          <p:nvPr/>
        </p:nvSpPr>
        <p:spPr>
          <a:xfrm>
            <a:off x="914400" y="4297680"/>
            <a:ext cx="10515600" cy="640080"/>
          </a:xfrm>
          <a:prstGeom prst="rect">
            <a:avLst/>
          </a:prstGeom>
          <a:noFill/>
        </p:spPr>
        <p:txBody>
          <a:bodyPr wrap="square" lIns="0" tIns="0" rIns="0" bIns="0" anchor="t">
            <a:spAutoFit/>
          </a:bodyPr>
          <a:lstStyle/>
          <a:p>
            <a:pPr algn="ctr">
              <a:lnSpc>
                <a:spcPct val="100000"/>
              </a:lnSpc>
            </a:pPr>
            <a:r>
              <a:rPr sz="2000" b="0" i="1">
                <a:solidFill>
                  <a:srgbClr val="000000"/>
                </a:solidFill>
                <a:latin typeface="Cambria"/>
              </a:rPr>
              <a:t>log(remittances)ₘₜ = β₀ + β₁ · postₜ × log(Eₘ) + γₜ + δₘ + θₜ · USmigₘ + uₘₜ</a:t>
            </a:r>
          </a:p>
        </p:txBody>
      </p:sp>
      <p:sp>
        <p:nvSpPr>
          <p:cNvPr id="9" name="TextBox 8"/>
          <p:cNvSpPr txBox="1"/>
          <p:nvPr/>
        </p:nvSpPr>
        <p:spPr>
          <a:xfrm>
            <a:off x="685800" y="5120640"/>
            <a:ext cx="10972800" cy="4846320"/>
          </a:xfrm>
          <a:prstGeom prst="rect">
            <a:avLst/>
          </a:prstGeom>
          <a:noFill/>
        </p:spPr>
        <p:txBody>
          <a:bodyPr wrap="square" lIns="0" tIns="0" rIns="0" bIns="0">
            <a:spAutoFit/>
          </a:bodyPr>
          <a:lstStyle/>
          <a:p>
            <a:pPr marL="320040" indent="-228600" algn="l">
              <a:lnSpc>
                <a:spcPct val="115000"/>
              </a:lnSpc>
              <a:buFont typeface="Arial"/>
              <a:buChar char="•"/>
            </a:pPr>
            <a:r>
              <a:rPr sz="1700">
                <a:solidFill>
                  <a:srgbClr val="000000"/>
                </a:solidFill>
                <a:latin typeface="Cambria"/>
              </a:rPr>
              <a:t>Robustness: share of Spanish-born residents and a dummy for presence (Appendix).</a:t>
            </a:r>
          </a:p>
        </p:txBody>
      </p:sp>
      <p:sp>
        <p:nvSpPr>
          <p:cNvPr id="10" name="TextBox 9"/>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6 / 31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5B3A0-379F-54C8-DA30-9E0899504FAA}"/>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CD4E99DD-D5FE-8E3F-92A0-5F8CEF7A533B}"/>
              </a:ext>
            </a:extLst>
          </p:cNvPr>
          <p:cNvSpPr txBox="1"/>
          <p:nvPr/>
        </p:nvSpPr>
        <p:spPr>
          <a:xfrm>
            <a:off x="548640" y="1727918"/>
            <a:ext cx="10667999" cy="3539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dirty="0">
                <a:solidFill>
                  <a:srgbClr val="000000"/>
                </a:solidFill>
                <a:latin typeface="Cambria"/>
              </a:rPr>
              <a:t>Exposure</a:t>
            </a:r>
            <a:r>
              <a:rPr lang="en-US" sz="1700" dirty="0">
                <a:latin typeface="Times New Roman"/>
                <a:ea typeface="Calibri"/>
                <a:cs typeface="Times New Roman"/>
              </a:rPr>
              <a:t>: historical </a:t>
            </a:r>
            <a:r>
              <a:rPr lang="en-US" sz="1700" baseline="0" dirty="0">
                <a:latin typeface="Times New Roman"/>
                <a:ea typeface="Calibri"/>
                <a:cs typeface="Times New Roman"/>
              </a:rPr>
              <a:t>Spanish-born population </a:t>
            </a:r>
            <a:r>
              <a:rPr lang="en-US" sz="1700" dirty="0">
                <a:latin typeface="Times New Roman"/>
                <a:ea typeface="Calibri"/>
                <a:cs typeface="Times New Roman"/>
              </a:rPr>
              <a:t>(log </a:t>
            </a:r>
            <a:r>
              <a:rPr lang="en-US" sz="1700" baseline="0" dirty="0">
                <a:latin typeface="Times New Roman"/>
                <a:ea typeface="Calibri"/>
                <a:cs typeface="Times New Roman"/>
              </a:rPr>
              <a:t>of </a:t>
            </a:r>
            <a:r>
              <a:rPr lang="en-US" sz="1700" dirty="0">
                <a:latin typeface="Times New Roman"/>
                <a:ea typeface="Calibri"/>
                <a:cs typeface="Times New Roman"/>
              </a:rPr>
              <a:t>average stock, 1960–1970)</a:t>
            </a:r>
            <a:endParaRPr lang="es-ES" sz="1700" dirty="0">
              <a:latin typeface="Times New Roman"/>
              <a:ea typeface="Calibri"/>
              <a:cs typeface="Times New Roman"/>
            </a:endParaRPr>
          </a:p>
        </p:txBody>
      </p:sp>
      <p:pic>
        <p:nvPicPr>
          <p:cNvPr id="2" name="Imagen 1" descr="Gráfico&#10;&#10;El contenido generado por IA puede ser incorrecto.">
            <a:extLst>
              <a:ext uri="{FF2B5EF4-FFF2-40B4-BE49-F238E27FC236}">
                <a16:creationId xmlns:a16="http://schemas.microsoft.com/office/drawing/2014/main" id="{7433B156-C5C4-8A7B-BD2A-454ABDFCAB0A}"/>
              </a:ext>
            </a:extLst>
          </p:cNvPr>
          <p:cNvPicPr>
            <a:picLocks noChangeAspect="1"/>
          </p:cNvPicPr>
          <p:nvPr/>
        </p:nvPicPr>
        <p:blipFill>
          <a:blip r:embed="rId3"/>
          <a:srcRect t="7667" r="-89" b="-167"/>
          <a:stretch>
            <a:fillRect/>
          </a:stretch>
        </p:blipFill>
        <p:spPr>
          <a:xfrm>
            <a:off x="1366224" y="2089763"/>
            <a:ext cx="9459556" cy="4659007"/>
          </a:xfrm>
          <a:prstGeom prst="rect">
            <a:avLst/>
          </a:prstGeom>
        </p:spPr>
      </p:pic>
      <p:sp>
        <p:nvSpPr>
          <p:cNvPr id="3" name="TextBox 1">
            <a:extLst>
              <a:ext uri="{FF2B5EF4-FFF2-40B4-BE49-F238E27FC236}">
                <a16:creationId xmlns:a16="http://schemas.microsoft.com/office/drawing/2014/main" id="{18D36EF9-F996-9B92-2E24-6E6B6878D483}"/>
              </a:ext>
            </a:extLst>
          </p:cNvPr>
          <p:cNvSpPr txBox="1"/>
          <p:nvPr/>
        </p:nvSpPr>
        <p:spPr>
          <a:xfrm>
            <a:off x="548640" y="228600"/>
            <a:ext cx="10972800" cy="822960"/>
          </a:xfrm>
          <a:prstGeom prst="rect">
            <a:avLst/>
          </a:prstGeom>
          <a:noFill/>
        </p:spPr>
        <p:txBody>
          <a:bodyPr wrap="square" lIns="0" tIns="0" rIns="0" bIns="0" anchor="t">
            <a:spAutoFit/>
          </a:bodyPr>
          <a:lstStyle/>
          <a:p>
            <a:pPr algn="l">
              <a:lnSpc>
                <a:spcPct val="100000"/>
              </a:lnSpc>
            </a:pPr>
            <a:r>
              <a:rPr sz="4000" b="1" i="0" dirty="0">
                <a:solidFill>
                  <a:srgbClr val="000000"/>
                </a:solidFill>
                <a:latin typeface="Cambria"/>
              </a:rPr>
              <a:t>Empirical Strategy</a:t>
            </a:r>
          </a:p>
        </p:txBody>
      </p:sp>
      <p:sp>
        <p:nvSpPr>
          <p:cNvPr id="6" name="Rectangle 2">
            <a:extLst>
              <a:ext uri="{FF2B5EF4-FFF2-40B4-BE49-F238E27FC236}">
                <a16:creationId xmlns:a16="http://schemas.microsoft.com/office/drawing/2014/main" id="{D8C7BF26-5880-380E-52E1-6D930CBEE842}"/>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16A7285-642E-D67C-F7B0-CE2EF8B6031A}"/>
              </a:ext>
            </a:extLst>
          </p:cNvPr>
          <p:cNvSpPr txBox="1"/>
          <p:nvPr/>
        </p:nvSpPr>
        <p:spPr>
          <a:xfrm>
            <a:off x="594360" y="1325880"/>
            <a:ext cx="10972800" cy="457200"/>
          </a:xfrm>
          <a:prstGeom prst="rect">
            <a:avLst/>
          </a:prstGeom>
          <a:noFill/>
        </p:spPr>
        <p:txBody>
          <a:bodyPr wrap="square" lIns="0" tIns="0" rIns="0" bIns="0" anchor="t">
            <a:spAutoFit/>
          </a:bodyPr>
          <a:lstStyle/>
          <a:p>
            <a:pPr algn="l">
              <a:lnSpc>
                <a:spcPct val="100000"/>
              </a:lnSpc>
            </a:pPr>
            <a:r>
              <a:rPr sz="2200" b="1" i="0" dirty="0">
                <a:solidFill>
                  <a:srgbClr val="000000"/>
                </a:solidFill>
                <a:latin typeface="Cambria"/>
              </a:rPr>
              <a:t>Spanish Stock-Based Specification</a:t>
            </a:r>
          </a:p>
        </p:txBody>
      </p:sp>
    </p:spTree>
    <p:extLst>
      <p:ext uri="{BB962C8B-B14F-4D97-AF65-F5344CB8AC3E}">
        <p14:creationId xmlns:p14="http://schemas.microsoft.com/office/powerpoint/2010/main" val="1598844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0972800" cy="822960"/>
          </a:xfrm>
          <a:prstGeom prst="rect">
            <a:avLst/>
          </a:prstGeom>
          <a:noFill/>
        </p:spPr>
        <p:txBody>
          <a:bodyPr wrap="square" lIns="0" tIns="0" rIns="0" bIns="0" anchor="t">
            <a:spAutoFit/>
          </a:bodyPr>
          <a:lstStyle/>
          <a:p>
            <a:pPr algn="l">
              <a:lnSpc>
                <a:spcPct val="100000"/>
              </a:lnSpc>
            </a:pPr>
            <a:r>
              <a:rPr sz="4000" b="1" i="0">
                <a:solidFill>
                  <a:srgbClr val="000000"/>
                </a:solidFill>
                <a:latin typeface="Cambria"/>
              </a:rPr>
              <a:t>Empirical Strategy</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325880"/>
            <a:ext cx="10972800" cy="457200"/>
          </a:xfrm>
          <a:prstGeom prst="rect">
            <a:avLst/>
          </a:prstGeom>
          <a:noFill/>
        </p:spPr>
        <p:txBody>
          <a:bodyPr wrap="square" lIns="0" tIns="0" rIns="0" bIns="0" anchor="t">
            <a:spAutoFit/>
          </a:bodyPr>
          <a:lstStyle/>
          <a:p>
            <a:pPr algn="l">
              <a:lnSpc>
                <a:spcPct val="100000"/>
              </a:lnSpc>
            </a:pPr>
            <a:r>
              <a:rPr sz="2200" b="1" i="0">
                <a:solidFill>
                  <a:srgbClr val="000000"/>
                </a:solidFill>
                <a:latin typeface="Cambria"/>
              </a:rPr>
              <a:t>Cohort &amp; Window Exposure Measure (new specification)</a:t>
            </a:r>
          </a:p>
        </p:txBody>
      </p:sp>
      <p:sp>
        <p:nvSpPr>
          <p:cNvPr id="5" name="TextBox 4"/>
          <p:cNvSpPr txBox="1"/>
          <p:nvPr/>
        </p:nvSpPr>
        <p:spPr>
          <a:xfrm>
            <a:off x="685800" y="1783080"/>
            <a:ext cx="10972800" cy="4374980"/>
          </a:xfrm>
          <a:prstGeom prst="rect">
            <a:avLst/>
          </a:prstGeom>
          <a:noFill/>
        </p:spPr>
        <p:txBody>
          <a:bodyPr wrap="square" lIns="0" tIns="0" rIns="0" bIns="0">
            <a:spAutoFit/>
          </a:bodyPr>
          <a:lstStyle/>
          <a:p>
            <a:pPr marL="320040" indent="-228600" algn="l">
              <a:lnSpc>
                <a:spcPct val="115000"/>
              </a:lnSpc>
              <a:buFont typeface="Arial"/>
              <a:buChar char="•"/>
            </a:pPr>
            <a:r>
              <a:rPr sz="1600" dirty="0">
                <a:solidFill>
                  <a:srgbClr val="000000"/>
                </a:solidFill>
                <a:latin typeface="Cambria"/>
              </a:rPr>
              <a:t>We add a second specification that exploits the census question on years residing in the current locality.</a:t>
            </a:r>
          </a:p>
          <a:p>
            <a:pPr marL="320040" indent="-228600" algn="l">
              <a:lnSpc>
                <a:spcPct val="115000"/>
              </a:lnSpc>
              <a:spcBef>
                <a:spcPts val="800"/>
              </a:spcBef>
              <a:buFont typeface="Arial"/>
              <a:buChar char="•"/>
            </a:pPr>
            <a:r>
              <a:rPr sz="1600" b="0" i="0" dirty="0">
                <a:solidFill>
                  <a:srgbClr val="000000"/>
                </a:solidFill>
                <a:latin typeface="Cambria"/>
              </a:rPr>
              <a:t>For Spanish-born individuals, this lets us infer an "arrival-to-locality" year and classify settlement relative to key cutoffs (1955, 1975).</a:t>
            </a:r>
          </a:p>
          <a:p>
            <a:pPr marL="320040" indent="-228600" algn="l">
              <a:lnSpc>
                <a:spcPct val="115000"/>
              </a:lnSpc>
              <a:spcBef>
                <a:spcPts val="800"/>
              </a:spcBef>
              <a:buFont typeface="Arial"/>
              <a:buChar char="•"/>
            </a:pPr>
            <a:r>
              <a:rPr sz="1600" b="0" i="0" dirty="0">
                <a:solidFill>
                  <a:srgbClr val="000000"/>
                </a:solidFill>
                <a:latin typeface="Cambria"/>
              </a:rPr>
              <a:t>1960 census → municipalities with Spanish-born residents arrived 1936–1955; </a:t>
            </a:r>
            <a:endParaRPr lang="es-ES" sz="1600" b="0" i="0" dirty="0">
              <a:solidFill>
                <a:srgbClr val="000000"/>
              </a:solidFill>
              <a:latin typeface="Cambria"/>
            </a:endParaRPr>
          </a:p>
          <a:p>
            <a:pPr marL="320040" indent="-228600">
              <a:lnSpc>
                <a:spcPct val="115000"/>
              </a:lnSpc>
              <a:spcBef>
                <a:spcPts val="800"/>
              </a:spcBef>
              <a:buFont typeface="Arial"/>
              <a:buChar char="•"/>
            </a:pPr>
            <a:r>
              <a:rPr sz="1600" b="0" i="0" dirty="0">
                <a:solidFill>
                  <a:srgbClr val="000000"/>
                </a:solidFill>
                <a:latin typeface="Cambria"/>
              </a:rPr>
              <a:t>1970 census → </a:t>
            </a:r>
            <a:r>
              <a:rPr lang="en-US" sz="1600" b="0" i="0" noProof="1">
                <a:solidFill>
                  <a:srgbClr val="000000"/>
                </a:solidFill>
                <a:latin typeface="Cambria"/>
              </a:rPr>
              <a:t>municipalities with Spanish-born residents </a:t>
            </a:r>
            <a:r>
              <a:rPr sz="1600" b="0" i="0" dirty="0">
                <a:solidFill>
                  <a:srgbClr val="000000"/>
                </a:solidFill>
                <a:latin typeface="Cambria"/>
              </a:rPr>
              <a:t>arrived 1956–1978.</a:t>
            </a:r>
          </a:p>
          <a:p>
            <a:pPr marL="320040" indent="-228600" algn="l">
              <a:lnSpc>
                <a:spcPct val="115000"/>
              </a:lnSpc>
              <a:spcBef>
                <a:spcPts val="800"/>
              </a:spcBef>
              <a:buFont typeface="Arial"/>
              <a:buChar char="•"/>
            </a:pPr>
            <a:r>
              <a:rPr sz="1600" b="0" i="0" dirty="0">
                <a:solidFill>
                  <a:srgbClr val="000000"/>
                </a:solidFill>
                <a:latin typeface="Cambria"/>
              </a:rPr>
              <a:t>We compare outcomes in municipalities with greater exposure to early refugees (1936–1955) vs. later arrivals (1956–1978).</a:t>
            </a:r>
            <a:endParaRPr lang="es-ES" sz="1600" b="0" i="0" dirty="0">
              <a:solidFill>
                <a:srgbClr val="000000"/>
              </a:solidFill>
              <a:latin typeface="Cambria"/>
            </a:endParaRPr>
          </a:p>
          <a:p>
            <a:pPr marL="320040" indent="-228600" algn="l">
              <a:lnSpc>
                <a:spcPct val="115000"/>
              </a:lnSpc>
              <a:spcBef>
                <a:spcPts val="800"/>
              </a:spcBef>
              <a:buFont typeface="Arial"/>
              <a:buChar char="•"/>
            </a:pPr>
            <a:r>
              <a:rPr lang="en-US" sz="1600" i="0" u="sng" noProof="1">
                <a:solidFill>
                  <a:srgbClr val="000000"/>
                </a:solidFill>
                <a:latin typeface="Cambria"/>
              </a:rPr>
              <a:t>Limitations: </a:t>
            </a:r>
          </a:p>
          <a:p>
            <a:pPr marL="777240" lvl="1" indent="-228600">
              <a:lnSpc>
                <a:spcPct val="115000"/>
              </a:lnSpc>
              <a:spcBef>
                <a:spcPts val="800"/>
              </a:spcBef>
              <a:buFont typeface="Arial"/>
              <a:buChar char="•"/>
            </a:pPr>
            <a:r>
              <a:rPr lang="en-US" sz="1600" b="0" i="0" noProof="1">
                <a:solidFill>
                  <a:srgbClr val="000000"/>
                </a:solidFill>
                <a:latin typeface="Cambria"/>
              </a:rPr>
              <a:t>This strategy likely underestimates the 1936–1955 group due to survivor bias  and the 1956–1978 group due to the absence of a 1980 census.</a:t>
            </a:r>
          </a:p>
          <a:p>
            <a:pPr marL="777240" lvl="1" indent="-228600">
              <a:lnSpc>
                <a:spcPct val="115000"/>
              </a:lnSpc>
              <a:spcBef>
                <a:spcPts val="800"/>
              </a:spcBef>
              <a:buFont typeface="Arial"/>
              <a:buChar char="•"/>
            </a:pPr>
            <a:r>
              <a:rPr lang="en-US" sz="1600" dirty="0">
                <a:solidFill>
                  <a:srgbClr val="000000"/>
                </a:solidFill>
                <a:latin typeface="Cambria"/>
              </a:rPr>
              <a:t>Arrival-to-locality year can only be reconstructed for “stayers” (individuals who migrated internally after arrival will be missed), and is therefore likely to be selected toward less mobile populations (more detail about identification of arrival-to-locality year  in the </a:t>
            </a:r>
            <a:r>
              <a:rPr lang="en-US" sz="1600" dirty="0">
                <a:solidFill>
                  <a:srgbClr val="000000"/>
                </a:solidFill>
                <a:latin typeface="Cambria"/>
                <a:hlinkClick r:id="rId3" action="ppaction://hlinksldjump"/>
              </a:rPr>
              <a:t>appendix</a:t>
            </a:r>
            <a:r>
              <a:rPr lang="en-US" sz="1600" dirty="0">
                <a:solidFill>
                  <a:srgbClr val="000000"/>
                </a:solidFill>
                <a:latin typeface="Cambria"/>
              </a:rPr>
              <a:t>).</a:t>
            </a:r>
          </a:p>
        </p:txBody>
      </p:sp>
      <p:sp>
        <p:nvSpPr>
          <p:cNvPr id="6" name="TextBox 5"/>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7 / 31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Empirical Strategy</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325880"/>
            <a:ext cx="10972800" cy="457200"/>
          </a:xfrm>
          <a:prstGeom prst="rect">
            <a:avLst/>
          </a:prstGeom>
          <a:noFill/>
        </p:spPr>
        <p:txBody>
          <a:bodyPr wrap="square" lIns="0" tIns="0" rIns="0" bIns="0" anchor="t">
            <a:spAutoFit/>
          </a:bodyPr>
          <a:lstStyle/>
          <a:p>
            <a:pPr algn="l">
              <a:lnSpc>
                <a:spcPct val="100000"/>
              </a:lnSpc>
            </a:pPr>
            <a:r>
              <a:rPr sz="2200" b="1" i="0">
                <a:solidFill>
                  <a:srgbClr val="000000"/>
                </a:solidFill>
                <a:latin typeface="Cambria"/>
              </a:rPr>
              <a:t>Cohort &amp; Window Exposure — Why Presence Dummies?</a:t>
            </a:r>
          </a:p>
        </p:txBody>
      </p:sp>
      <p:sp>
        <p:nvSpPr>
          <p:cNvPr id="5" name="TextBox 4"/>
          <p:cNvSpPr txBox="1"/>
          <p:nvPr/>
        </p:nvSpPr>
        <p:spPr>
          <a:xfrm>
            <a:off x="685800" y="1783080"/>
            <a:ext cx="10972800" cy="4846320"/>
          </a:xfrm>
          <a:prstGeom prst="rect">
            <a:avLst/>
          </a:prstGeom>
          <a:noFill/>
        </p:spPr>
        <p:txBody>
          <a:bodyPr wrap="square" lIns="0" tIns="0" rIns="0" bIns="0">
            <a:spAutoFit/>
          </a:bodyPr>
          <a:lstStyle/>
          <a:p>
            <a:pPr marL="320040" indent="-228600" algn="l">
              <a:lnSpc>
                <a:spcPct val="115000"/>
              </a:lnSpc>
              <a:buFont typeface="Arial"/>
              <a:buChar char="•"/>
            </a:pPr>
            <a:r>
              <a:rPr sz="1600">
                <a:solidFill>
                  <a:srgbClr val="000000"/>
                </a:solidFill>
                <a:latin typeface="Cambria"/>
              </a:rPr>
              <a:t>Within each window, there is very limited cross-municipality variation in the count of Spaniards (most treated cells have N = 1 or 2 in the unweighted census).</a:t>
            </a:r>
          </a:p>
          <a:p>
            <a:pPr marL="320040" indent="-228600" algn="l">
              <a:lnSpc>
                <a:spcPct val="115000"/>
              </a:lnSpc>
              <a:spcBef>
                <a:spcPts val="800"/>
              </a:spcBef>
              <a:buFont typeface="Arial"/>
              <a:buChar char="•"/>
            </a:pPr>
            <a:r>
              <a:rPr sz="1600" b="0" i="0">
                <a:solidFill>
                  <a:srgbClr val="000000"/>
                </a:solidFill>
                <a:latin typeface="Cambria"/>
              </a:rPr>
              <a:t>We therefore use dummies of Spanish presence by window (1936–1955 and 1956–1978) instead of shares or logs of stock:</a:t>
            </a:r>
          </a:p>
        </p:txBody>
      </p:sp>
      <p:sp>
        <p:nvSpPr>
          <p:cNvPr id="6" name="TextBox 5"/>
          <p:cNvSpPr txBox="1"/>
          <p:nvPr/>
        </p:nvSpPr>
        <p:spPr>
          <a:xfrm>
            <a:off x="731520" y="3246120"/>
            <a:ext cx="10698480" cy="640080"/>
          </a:xfrm>
          <a:prstGeom prst="rect">
            <a:avLst/>
          </a:prstGeom>
          <a:noFill/>
        </p:spPr>
        <p:txBody>
          <a:bodyPr wrap="square" lIns="0" tIns="0" rIns="0" bIns="0" anchor="t">
            <a:spAutoFit/>
          </a:bodyPr>
          <a:lstStyle/>
          <a:p>
            <a:pPr algn="ctr">
              <a:lnSpc>
                <a:spcPct val="100000"/>
              </a:lnSpc>
            </a:pPr>
            <a:r>
              <a:rPr sz="1700" b="0" i="1" dirty="0">
                <a:solidFill>
                  <a:srgbClr val="000000"/>
                </a:solidFill>
                <a:latin typeface="Cambria"/>
              </a:rPr>
              <a:t>log(remittances)ₘₜ = β₀ + β₁ · postₜ × 1{presence 36–55}ₘ + β₂ · postₜ × 1{presence 56–78}ₘ + </a:t>
            </a:r>
            <a:r>
              <a:rPr sz="1700" b="0" i="1" dirty="0" err="1">
                <a:solidFill>
                  <a:srgbClr val="000000"/>
                </a:solidFill>
                <a:latin typeface="Cambria"/>
              </a:rPr>
              <a:t>γ</a:t>
            </a:r>
            <a:r>
              <a:rPr sz="1700" b="0" i="1" dirty="0">
                <a:solidFill>
                  <a:srgbClr val="000000"/>
                </a:solidFill>
                <a:latin typeface="Cambria"/>
              </a:rPr>
              <a:t>ₜ + </a:t>
            </a:r>
            <a:r>
              <a:rPr sz="1700" b="0" i="1" dirty="0" err="1">
                <a:solidFill>
                  <a:srgbClr val="000000"/>
                </a:solidFill>
                <a:latin typeface="Cambria"/>
              </a:rPr>
              <a:t>δ</a:t>
            </a:r>
            <a:r>
              <a:rPr sz="1700" b="0" i="1" dirty="0">
                <a:solidFill>
                  <a:srgbClr val="000000"/>
                </a:solidFill>
                <a:latin typeface="Cambria"/>
              </a:rPr>
              <a:t>ₘ + uₘₜ</a:t>
            </a:r>
          </a:p>
        </p:txBody>
      </p:sp>
      <p:pic>
        <p:nvPicPr>
          <p:cNvPr id="7" name="Picture 6" descr="presencia española por ventanas.png"/>
          <p:cNvPicPr>
            <a:picLocks noChangeAspect="1"/>
          </p:cNvPicPr>
          <p:nvPr/>
        </p:nvPicPr>
        <p:blipFill>
          <a:blip r:embed="rId2"/>
          <a:srcRect l="1166"/>
          <a:stretch>
            <a:fillRect/>
          </a:stretch>
        </p:blipFill>
        <p:spPr>
          <a:xfrm>
            <a:off x="3551349" y="4047767"/>
            <a:ext cx="5241701" cy="2282906"/>
          </a:xfrm>
          <a:prstGeom prst="rect">
            <a:avLst/>
          </a:prstGeom>
        </p:spPr>
      </p:pic>
      <p:sp>
        <p:nvSpPr>
          <p:cNvPr id="9" name="TextBox 8"/>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8 / 31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Empirical Strategy</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325880"/>
            <a:ext cx="10972800" cy="457200"/>
          </a:xfrm>
          <a:prstGeom prst="rect">
            <a:avLst/>
          </a:prstGeom>
          <a:noFill/>
        </p:spPr>
        <p:txBody>
          <a:bodyPr wrap="square" lIns="0" tIns="0" rIns="0" bIns="0" anchor="t">
            <a:spAutoFit/>
          </a:bodyPr>
          <a:lstStyle/>
          <a:p>
            <a:pPr algn="l">
              <a:lnSpc>
                <a:spcPct val="100000"/>
              </a:lnSpc>
            </a:pPr>
            <a:r>
              <a:rPr sz="2200" b="1" i="0">
                <a:solidFill>
                  <a:srgbClr val="000000"/>
                </a:solidFill>
                <a:latin typeface="Cambria"/>
              </a:rPr>
              <a:t>Cohort &amp; Window — Open Question on Parametrization</a:t>
            </a:r>
          </a:p>
        </p:txBody>
      </p:sp>
      <p:sp>
        <p:nvSpPr>
          <p:cNvPr id="5" name="TextBox 4"/>
          <p:cNvSpPr txBox="1"/>
          <p:nvPr/>
        </p:nvSpPr>
        <p:spPr>
          <a:xfrm>
            <a:off x="685800" y="1783080"/>
            <a:ext cx="10972800" cy="4146456"/>
          </a:xfrm>
          <a:prstGeom prst="rect">
            <a:avLst/>
          </a:prstGeom>
          <a:noFill/>
        </p:spPr>
        <p:txBody>
          <a:bodyPr wrap="square" lIns="0" tIns="0" rIns="0" bIns="0">
            <a:spAutoFit/>
          </a:bodyPr>
          <a:lstStyle/>
          <a:p>
            <a:pPr marL="320040" indent="-228600" algn="l">
              <a:lnSpc>
                <a:spcPct val="115000"/>
              </a:lnSpc>
              <a:buFont typeface="Arial"/>
              <a:buChar char="•"/>
            </a:pPr>
            <a:r>
              <a:rPr sz="1500" dirty="0">
                <a:solidFill>
                  <a:srgbClr val="000000"/>
                </a:solidFill>
                <a:latin typeface="Cambria"/>
              </a:rPr>
              <a:t>Current specification (slide 9)</a:t>
            </a:r>
            <a:r>
              <a:rPr lang="es-ES" sz="1500" dirty="0">
                <a:solidFill>
                  <a:srgbClr val="000000"/>
                </a:solidFill>
                <a:latin typeface="Cambria"/>
              </a:rPr>
              <a:t>:</a:t>
            </a:r>
            <a:r>
              <a:rPr sz="1500" dirty="0">
                <a:solidFill>
                  <a:srgbClr val="000000"/>
                </a:solidFill>
                <a:latin typeface="Cambria"/>
              </a:rPr>
              <a:t> two independent dummies: β₁ on 1{36–55} and β₂ on 1{56–78}. Not wrong, but the counterfactual is a hybrid:</a:t>
            </a:r>
          </a:p>
          <a:p>
            <a:pPr marL="640080" indent="-228600" algn="l">
              <a:lnSpc>
                <a:spcPct val="115000"/>
              </a:lnSpc>
              <a:spcBef>
                <a:spcPts val="800"/>
              </a:spcBef>
              <a:buFont typeface="Arial"/>
              <a:buChar char="•"/>
            </a:pPr>
            <a:r>
              <a:rPr sz="1500" b="0" i="0" dirty="0">
                <a:solidFill>
                  <a:srgbClr val="000000"/>
                </a:solidFill>
                <a:latin typeface="Cambria"/>
              </a:rPr>
              <a:t>For β₁, the comparison group “no 36–55 presence” pools Never-treated with Late-only municipalities.</a:t>
            </a:r>
          </a:p>
          <a:p>
            <a:pPr marL="640080" indent="-228600" algn="l">
              <a:lnSpc>
                <a:spcPct val="115000"/>
              </a:lnSpc>
              <a:spcBef>
                <a:spcPts val="800"/>
              </a:spcBef>
              <a:buFont typeface="Arial"/>
              <a:buChar char="•"/>
            </a:pPr>
            <a:r>
              <a:rPr sz="1500" b="0" i="0" dirty="0">
                <a:solidFill>
                  <a:srgbClr val="000000"/>
                </a:solidFill>
                <a:latin typeface="Cambria"/>
              </a:rPr>
              <a:t>For β₂, the comparison group “no 56–78 presence” pools Never-treated with Early-only municipalities.</a:t>
            </a:r>
          </a:p>
          <a:p>
            <a:pPr marL="640080" indent="-228600" algn="l">
              <a:lnSpc>
                <a:spcPct val="115000"/>
              </a:lnSpc>
              <a:spcBef>
                <a:spcPts val="800"/>
              </a:spcBef>
              <a:buFont typeface="Arial"/>
              <a:buChar char="•"/>
            </a:pPr>
            <a:r>
              <a:rPr sz="1500" b="0" i="0" dirty="0">
                <a:solidFill>
                  <a:srgbClr val="000000"/>
                </a:solidFill>
                <a:latin typeface="Cambria"/>
              </a:rPr>
              <a:t>Each coefficient therefore mixes a “vs. Never” contrast with an “early-vs-late” contrast.</a:t>
            </a:r>
          </a:p>
          <a:p>
            <a:pPr marL="320040" indent="-228600" algn="l">
              <a:lnSpc>
                <a:spcPct val="115000"/>
              </a:lnSpc>
              <a:buFont typeface="Arial"/>
              <a:buChar char="•"/>
            </a:pPr>
            <a:r>
              <a:rPr lang="es-ES" sz="1500" dirty="0">
                <a:solidFill>
                  <a:srgbClr val="000000"/>
                </a:solidFill>
                <a:latin typeface="Cambria"/>
              </a:rPr>
              <a:t>Alternative o</a:t>
            </a:r>
            <a:r>
              <a:rPr lang="en-US" sz="1500" noProof="1">
                <a:solidFill>
                  <a:srgbClr val="000000"/>
                </a:solidFill>
                <a:latin typeface="Cambria"/>
              </a:rPr>
              <a:t>ption</a:t>
            </a:r>
            <a:r>
              <a:rPr sz="1500" dirty="0">
                <a:solidFill>
                  <a:srgbClr val="000000"/>
                </a:solidFill>
                <a:latin typeface="Cambria"/>
              </a:rPr>
              <a:t> A (4 groups). Early-only (36–55), Late-only (56–78), Both, Never.</a:t>
            </a:r>
          </a:p>
          <a:p>
            <a:pPr marL="640080" indent="-228600" algn="l">
              <a:lnSpc>
                <a:spcPct val="115000"/>
              </a:lnSpc>
              <a:spcBef>
                <a:spcPts val="800"/>
              </a:spcBef>
              <a:buFont typeface="Arial"/>
              <a:buChar char="•"/>
            </a:pPr>
            <a:r>
              <a:rPr sz="1500" b="0" i="0" dirty="0">
                <a:solidFill>
                  <a:srgbClr val="000000"/>
                </a:solidFill>
                <a:latin typeface="Cambria"/>
              </a:rPr>
              <a:t>Counterfactual: each treated group is compared against Never-treated. Clean separation of early vs. later exile cohorts, but the "Both" cell is very small (6 municipalities).</a:t>
            </a:r>
          </a:p>
          <a:p>
            <a:pPr marL="320040" indent="-228600">
              <a:lnSpc>
                <a:spcPct val="115000"/>
              </a:lnSpc>
              <a:spcBef>
                <a:spcPts val="800"/>
              </a:spcBef>
              <a:buFont typeface="Arial"/>
              <a:buChar char="•"/>
            </a:pPr>
            <a:r>
              <a:rPr lang="es-ES" sz="1500" dirty="0">
                <a:solidFill>
                  <a:srgbClr val="000000"/>
                </a:solidFill>
                <a:latin typeface="Cambria"/>
              </a:rPr>
              <a:t>Alternative o</a:t>
            </a:r>
            <a:r>
              <a:rPr lang="en-US" sz="1500" b="0" i="0" noProof="1">
                <a:solidFill>
                  <a:srgbClr val="000000"/>
                </a:solidFill>
                <a:latin typeface="Cambria"/>
              </a:rPr>
              <a:t>ption</a:t>
            </a:r>
            <a:r>
              <a:rPr sz="1500" b="0" i="0" dirty="0">
                <a:solidFill>
                  <a:srgbClr val="000000"/>
                </a:solidFill>
                <a:latin typeface="Cambria"/>
              </a:rPr>
              <a:t> B (3 groups). Early-any (36–55, alone or with 56–78), Late-only, Never.</a:t>
            </a:r>
          </a:p>
          <a:p>
            <a:pPr marL="640080" indent="-228600" algn="l">
              <a:lnSpc>
                <a:spcPct val="115000"/>
              </a:lnSpc>
              <a:spcBef>
                <a:spcPts val="800"/>
              </a:spcBef>
              <a:buFont typeface="Arial"/>
              <a:buChar char="•"/>
            </a:pPr>
            <a:r>
              <a:rPr sz="1500" b="0" i="0" dirty="0">
                <a:solidFill>
                  <a:srgbClr val="000000"/>
                </a:solidFill>
                <a:latin typeface="Cambria"/>
              </a:rPr>
              <a:t>Counterfactual: Early-any absorbs the "Both" group; Late-only captures arrivals that would have faced tighter entry standards under the Law's ancestry rules. Larger cells, but Early-any mixes early-only + both, so the implicit contrast changes.</a:t>
            </a:r>
          </a:p>
          <a:p>
            <a:pPr marL="320040" indent="-228600" algn="l">
              <a:lnSpc>
                <a:spcPct val="115000"/>
              </a:lnSpc>
              <a:spcBef>
                <a:spcPts val="800"/>
              </a:spcBef>
              <a:buFont typeface="Arial"/>
              <a:buChar char="•"/>
            </a:pPr>
            <a:r>
              <a:rPr sz="1500" b="0" i="0" dirty="0">
                <a:solidFill>
                  <a:srgbClr val="000000"/>
                </a:solidFill>
                <a:latin typeface="Cambria"/>
              </a:rPr>
              <a:t>Question: which parametrization best matches our identification? The answer shapes how we construct the entropy-balancing groups below.</a:t>
            </a:r>
          </a:p>
        </p:txBody>
      </p:sp>
      <p:sp>
        <p:nvSpPr>
          <p:cNvPr id="6" name="TextBox 5"/>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9 / 31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i="0" dirty="0">
                <a:solidFill>
                  <a:srgbClr val="000000"/>
                </a:solidFill>
                <a:latin typeface="Cambria"/>
              </a:rPr>
              <a:t>Preliminary Results</a:t>
            </a:r>
            <a:r>
              <a:rPr lang="es-ES" sz="3600" b="1" i="0" dirty="0">
                <a:solidFill>
                  <a:srgbClr val="000000"/>
                </a:solidFill>
                <a:latin typeface="Cambria"/>
              </a:rPr>
              <a:t>: </a:t>
            </a:r>
            <a:r>
              <a:rPr lang="en-US" sz="3600" b="1" noProof="1">
                <a:solidFill>
                  <a:srgbClr val="000000"/>
                </a:solidFill>
                <a:latin typeface="Cambria"/>
              </a:rPr>
              <a:t>Stock-Based Exposure</a:t>
            </a:r>
            <a:endParaRPr sz="3600" b="1" i="0" dirty="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325880"/>
            <a:ext cx="10972800" cy="338554"/>
          </a:xfrm>
          <a:prstGeom prst="rect">
            <a:avLst/>
          </a:prstGeom>
          <a:noFill/>
        </p:spPr>
        <p:txBody>
          <a:bodyPr wrap="square" lIns="0" tIns="0" rIns="0" bIns="0" anchor="t">
            <a:spAutoFit/>
          </a:bodyPr>
          <a:lstStyle/>
          <a:p>
            <a:pPr algn="l">
              <a:lnSpc>
                <a:spcPct val="100000"/>
              </a:lnSpc>
            </a:pPr>
            <a:r>
              <a:rPr lang="es-ES" sz="2200" b="1" i="0" dirty="0">
                <a:solidFill>
                  <a:srgbClr val="000000"/>
                </a:solidFill>
                <a:latin typeface="Cambria"/>
              </a:rPr>
              <a:t>1</a:t>
            </a:r>
            <a:r>
              <a:rPr lang="es-ES" sz="2200" b="1" dirty="0">
                <a:solidFill>
                  <a:srgbClr val="000000"/>
                </a:solidFill>
                <a:latin typeface="Cambria"/>
              </a:rPr>
              <a:t>.</a:t>
            </a:r>
            <a:r>
              <a:rPr lang="es-ES" sz="2200" b="1" i="0" dirty="0">
                <a:solidFill>
                  <a:srgbClr val="000000"/>
                </a:solidFill>
                <a:latin typeface="Cambria"/>
              </a:rPr>
              <a:t> </a:t>
            </a:r>
            <a:r>
              <a:rPr sz="2200" b="1" i="0" dirty="0">
                <a:solidFill>
                  <a:srgbClr val="000000"/>
                </a:solidFill>
                <a:latin typeface="Cambria"/>
              </a:rPr>
              <a:t>Baseline Specification</a:t>
            </a:r>
          </a:p>
        </p:txBody>
      </p:sp>
      <p:sp>
        <p:nvSpPr>
          <p:cNvPr id="5" name="TextBox 4"/>
          <p:cNvSpPr txBox="1"/>
          <p:nvPr/>
        </p:nvSpPr>
        <p:spPr>
          <a:xfrm>
            <a:off x="731520" y="1828800"/>
            <a:ext cx="10698480" cy="457200"/>
          </a:xfrm>
          <a:prstGeom prst="rect">
            <a:avLst/>
          </a:prstGeom>
          <a:noFill/>
        </p:spPr>
        <p:txBody>
          <a:bodyPr wrap="square" lIns="0" tIns="0" rIns="0" bIns="0" anchor="t">
            <a:spAutoFit/>
          </a:bodyPr>
          <a:lstStyle/>
          <a:p>
            <a:pPr algn="ctr">
              <a:lnSpc>
                <a:spcPct val="115000"/>
              </a:lnSpc>
            </a:pPr>
            <a:r>
              <a:rPr sz="1800" b="0" i="1">
                <a:solidFill>
                  <a:srgbClr val="000000"/>
                </a:solidFill>
                <a:latin typeface="Cambria"/>
              </a:rPr>
              <a:t>log(remittances)ₘₜ = β₀ + β₁ · postₜ × log(Eₘ) + γₜ + δₘ + uₘₜ</a:t>
            </a:r>
          </a:p>
        </p:txBody>
      </p:sp>
      <p:sp>
        <p:nvSpPr>
          <p:cNvPr id="7" name="TextBox 6"/>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10 / 31</a:t>
            </a:r>
          </a:p>
        </p:txBody>
      </p:sp>
      <p:pic>
        <p:nvPicPr>
          <p:cNvPr id="11" name="Imagen 10">
            <a:extLst>
              <a:ext uri="{FF2B5EF4-FFF2-40B4-BE49-F238E27FC236}">
                <a16:creationId xmlns:a16="http://schemas.microsoft.com/office/drawing/2014/main" id="{9F04C24D-DABD-76A9-4EBF-25EAAD895D4B}"/>
              </a:ext>
            </a:extLst>
          </p:cNvPr>
          <p:cNvPicPr>
            <a:picLocks noChangeAspect="1"/>
          </p:cNvPicPr>
          <p:nvPr/>
        </p:nvPicPr>
        <p:blipFill>
          <a:blip r:embed="rId2"/>
          <a:stretch>
            <a:fillRect/>
          </a:stretch>
        </p:blipFill>
        <p:spPr>
          <a:xfrm>
            <a:off x="3276880" y="2416320"/>
            <a:ext cx="5699200" cy="3945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Preliminary Results</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325880"/>
            <a:ext cx="10972800" cy="338554"/>
          </a:xfrm>
          <a:prstGeom prst="rect">
            <a:avLst/>
          </a:prstGeom>
          <a:noFill/>
        </p:spPr>
        <p:txBody>
          <a:bodyPr wrap="square" lIns="0" tIns="0" rIns="0" bIns="0" anchor="t">
            <a:spAutoFit/>
          </a:bodyPr>
          <a:lstStyle/>
          <a:p>
            <a:pPr algn="l">
              <a:lnSpc>
                <a:spcPct val="100000"/>
              </a:lnSpc>
            </a:pPr>
            <a:r>
              <a:rPr lang="es-ES" sz="2200" b="1" i="0" dirty="0">
                <a:solidFill>
                  <a:srgbClr val="000000"/>
                </a:solidFill>
                <a:latin typeface="Cambria"/>
              </a:rPr>
              <a:t>2. </a:t>
            </a:r>
            <a:r>
              <a:rPr sz="2200" b="1" i="0" dirty="0">
                <a:solidFill>
                  <a:srgbClr val="000000"/>
                </a:solidFill>
                <a:latin typeface="Cambria"/>
              </a:rPr>
              <a:t>Differential Time Trends by Baseline U.S. Migration</a:t>
            </a:r>
          </a:p>
        </p:txBody>
      </p:sp>
      <p:sp>
        <p:nvSpPr>
          <p:cNvPr id="5" name="TextBox 4"/>
          <p:cNvSpPr txBox="1"/>
          <p:nvPr/>
        </p:nvSpPr>
        <p:spPr>
          <a:xfrm>
            <a:off x="548640" y="1828800"/>
            <a:ext cx="11064240" cy="457200"/>
          </a:xfrm>
          <a:prstGeom prst="rect">
            <a:avLst/>
          </a:prstGeom>
          <a:noFill/>
        </p:spPr>
        <p:txBody>
          <a:bodyPr wrap="square" lIns="0" tIns="0" rIns="0" bIns="0" anchor="t">
            <a:spAutoFit/>
          </a:bodyPr>
          <a:lstStyle/>
          <a:p>
            <a:pPr algn="ctr">
              <a:lnSpc>
                <a:spcPct val="115000"/>
              </a:lnSpc>
            </a:pPr>
            <a:r>
              <a:rPr sz="1700" b="0" i="1">
                <a:solidFill>
                  <a:srgbClr val="000000"/>
                </a:solidFill>
                <a:latin typeface="Cambria"/>
              </a:rPr>
              <a:t>log(remittances)ₘₜ = β₀ + β₁ · postₜ × log(Eₘ) + γₜ + δₘ + θₜ · USmig₂₀₁₀,ₘ + uₘₜ</a:t>
            </a:r>
          </a:p>
        </p:txBody>
      </p:sp>
      <p:sp>
        <p:nvSpPr>
          <p:cNvPr id="7" name="TextBox 6"/>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11 / 31</a:t>
            </a:r>
          </a:p>
        </p:txBody>
      </p:sp>
      <p:pic>
        <p:nvPicPr>
          <p:cNvPr id="11" name="Imagen 10">
            <a:extLst>
              <a:ext uri="{FF2B5EF4-FFF2-40B4-BE49-F238E27FC236}">
                <a16:creationId xmlns:a16="http://schemas.microsoft.com/office/drawing/2014/main" id="{F4466B98-14D7-394E-C71F-4E60B61BF075}"/>
              </a:ext>
            </a:extLst>
          </p:cNvPr>
          <p:cNvPicPr>
            <a:picLocks noChangeAspect="1"/>
          </p:cNvPicPr>
          <p:nvPr/>
        </p:nvPicPr>
        <p:blipFill>
          <a:blip r:embed="rId2"/>
          <a:stretch>
            <a:fillRect/>
          </a:stretch>
        </p:blipFill>
        <p:spPr>
          <a:xfrm>
            <a:off x="3231160" y="2450366"/>
            <a:ext cx="5699200" cy="3945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FD17A-0F91-1B24-90A5-4AC786DDFF7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FF8672C-887D-5F1F-E081-C8D0504EB045}"/>
              </a:ext>
            </a:extLst>
          </p:cNvPr>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Preliminary Results</a:t>
            </a:r>
          </a:p>
        </p:txBody>
      </p:sp>
      <p:sp>
        <p:nvSpPr>
          <p:cNvPr id="3" name="Rectangle 2">
            <a:extLst>
              <a:ext uri="{FF2B5EF4-FFF2-40B4-BE49-F238E27FC236}">
                <a16:creationId xmlns:a16="http://schemas.microsoft.com/office/drawing/2014/main" id="{4349C978-240B-7829-7474-810BE037456C}"/>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8F2C679-58C3-DA05-B4CA-4447ED9B17D2}"/>
              </a:ext>
            </a:extLst>
          </p:cNvPr>
          <p:cNvSpPr txBox="1"/>
          <p:nvPr/>
        </p:nvSpPr>
        <p:spPr>
          <a:xfrm>
            <a:off x="594360" y="1325880"/>
            <a:ext cx="10972800" cy="338554"/>
          </a:xfrm>
          <a:prstGeom prst="rect">
            <a:avLst/>
          </a:prstGeom>
          <a:noFill/>
        </p:spPr>
        <p:txBody>
          <a:bodyPr wrap="square" lIns="0" tIns="0" rIns="0" bIns="0" anchor="t">
            <a:spAutoFit/>
          </a:bodyPr>
          <a:lstStyle/>
          <a:p>
            <a:pPr algn="l">
              <a:lnSpc>
                <a:spcPct val="100000"/>
              </a:lnSpc>
            </a:pPr>
            <a:r>
              <a:rPr lang="es-ES" sz="2200" b="1" dirty="0">
                <a:solidFill>
                  <a:srgbClr val="000000"/>
                </a:solidFill>
                <a:latin typeface="Cambria"/>
              </a:rPr>
              <a:t>3. </a:t>
            </a:r>
            <a:r>
              <a:rPr sz="2200" b="1" i="0" dirty="0">
                <a:solidFill>
                  <a:srgbClr val="000000"/>
                </a:solidFill>
                <a:latin typeface="Cambria"/>
              </a:rPr>
              <a:t>Differential Time Trends by Baseline U.S. Migration</a:t>
            </a:r>
            <a:r>
              <a:rPr lang="es-ES" sz="2200" b="1" i="0" dirty="0">
                <a:solidFill>
                  <a:srgbClr val="000000"/>
                </a:solidFill>
                <a:latin typeface="Cambria"/>
              </a:rPr>
              <a:t> and </a:t>
            </a:r>
            <a:r>
              <a:rPr lang="en-US" sz="2200" b="1" i="0" noProof="1">
                <a:solidFill>
                  <a:srgbClr val="000000"/>
                </a:solidFill>
                <a:latin typeface="Cambria"/>
              </a:rPr>
              <a:t>Non-US-Border States</a:t>
            </a:r>
            <a:endParaRPr sz="2200" b="1" i="0" dirty="0">
              <a:solidFill>
                <a:srgbClr val="000000"/>
              </a:solidFill>
              <a:latin typeface="Cambria"/>
            </a:endParaRPr>
          </a:p>
        </p:txBody>
      </p:sp>
      <p:sp>
        <p:nvSpPr>
          <p:cNvPr id="5" name="TextBox 4">
            <a:extLst>
              <a:ext uri="{FF2B5EF4-FFF2-40B4-BE49-F238E27FC236}">
                <a16:creationId xmlns:a16="http://schemas.microsoft.com/office/drawing/2014/main" id="{F545ABA7-87EB-971A-33A6-45AAF9EC8CEA}"/>
              </a:ext>
            </a:extLst>
          </p:cNvPr>
          <p:cNvSpPr txBox="1"/>
          <p:nvPr/>
        </p:nvSpPr>
        <p:spPr>
          <a:xfrm>
            <a:off x="548640" y="1828800"/>
            <a:ext cx="11064240" cy="457200"/>
          </a:xfrm>
          <a:prstGeom prst="rect">
            <a:avLst/>
          </a:prstGeom>
          <a:noFill/>
        </p:spPr>
        <p:txBody>
          <a:bodyPr wrap="square" lIns="0" tIns="0" rIns="0" bIns="0" anchor="t">
            <a:spAutoFit/>
          </a:bodyPr>
          <a:lstStyle/>
          <a:p>
            <a:pPr algn="ctr">
              <a:lnSpc>
                <a:spcPct val="115000"/>
              </a:lnSpc>
            </a:pPr>
            <a:r>
              <a:rPr sz="1700" b="0" i="1">
                <a:solidFill>
                  <a:srgbClr val="000000"/>
                </a:solidFill>
                <a:latin typeface="Cambria"/>
              </a:rPr>
              <a:t>log(remittances)ₘₜ = β₀ + β₁ · postₜ × log(Eₘ) + γₜ + δₘ + θₜ · USmig₂₀₁₀,ₘ + uₘₜ</a:t>
            </a:r>
          </a:p>
        </p:txBody>
      </p:sp>
      <p:sp>
        <p:nvSpPr>
          <p:cNvPr id="7" name="TextBox 6">
            <a:extLst>
              <a:ext uri="{FF2B5EF4-FFF2-40B4-BE49-F238E27FC236}">
                <a16:creationId xmlns:a16="http://schemas.microsoft.com/office/drawing/2014/main" id="{0CE4E658-1761-D4DA-D6D0-F566DD561DD5}"/>
              </a:ext>
            </a:extLst>
          </p:cNvPr>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11 / 31</a:t>
            </a:r>
          </a:p>
        </p:txBody>
      </p:sp>
      <p:pic>
        <p:nvPicPr>
          <p:cNvPr id="9" name="Imagen 8">
            <a:extLst>
              <a:ext uri="{FF2B5EF4-FFF2-40B4-BE49-F238E27FC236}">
                <a16:creationId xmlns:a16="http://schemas.microsoft.com/office/drawing/2014/main" id="{B81667F7-575E-9107-CF4E-A3D24F1B48F5}"/>
              </a:ext>
            </a:extLst>
          </p:cNvPr>
          <p:cNvPicPr>
            <a:picLocks noChangeAspect="1"/>
          </p:cNvPicPr>
          <p:nvPr/>
        </p:nvPicPr>
        <p:blipFill>
          <a:blip r:embed="rId2"/>
          <a:stretch>
            <a:fillRect/>
          </a:stretch>
        </p:blipFill>
        <p:spPr>
          <a:xfrm>
            <a:off x="3231160" y="2416320"/>
            <a:ext cx="5699200" cy="3945600"/>
          </a:xfrm>
          <a:prstGeom prst="rect">
            <a:avLst/>
          </a:prstGeom>
        </p:spPr>
      </p:pic>
    </p:spTree>
    <p:extLst>
      <p:ext uri="{BB962C8B-B14F-4D97-AF65-F5344CB8AC3E}">
        <p14:creationId xmlns:p14="http://schemas.microsoft.com/office/powerpoint/2010/main" val="4021772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Preliminary Results</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325880"/>
            <a:ext cx="10972800" cy="457200"/>
          </a:xfrm>
          <a:prstGeom prst="rect">
            <a:avLst/>
          </a:prstGeom>
          <a:noFill/>
        </p:spPr>
        <p:txBody>
          <a:bodyPr wrap="square" lIns="0" tIns="0" rIns="0" bIns="0" anchor="t">
            <a:spAutoFit/>
          </a:bodyPr>
          <a:lstStyle/>
          <a:p>
            <a:pPr algn="l">
              <a:lnSpc>
                <a:spcPct val="100000"/>
              </a:lnSpc>
            </a:pPr>
            <a:r>
              <a:rPr sz="2200" b="1" i="0">
                <a:solidFill>
                  <a:srgbClr val="000000"/>
                </a:solidFill>
                <a:latin typeface="Cambria"/>
              </a:rPr>
              <a:t>Pooled Estimate (Differential Time Trends)</a:t>
            </a:r>
          </a:p>
        </p:txBody>
      </p:sp>
      <p:sp>
        <p:nvSpPr>
          <p:cNvPr id="7" name="TextBox 6"/>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12 / 31</a:t>
            </a:r>
          </a:p>
        </p:txBody>
      </p:sp>
      <p:graphicFrame>
        <p:nvGraphicFramePr>
          <p:cNvPr id="9" name="Tabla 8">
            <a:extLst>
              <a:ext uri="{FF2B5EF4-FFF2-40B4-BE49-F238E27FC236}">
                <a16:creationId xmlns:a16="http://schemas.microsoft.com/office/drawing/2014/main" id="{C57AF1C4-E6CB-C263-E5ED-BDFD112D13E2}"/>
              </a:ext>
            </a:extLst>
          </p:cNvPr>
          <p:cNvGraphicFramePr>
            <a:graphicFrameLocks noGrp="1"/>
          </p:cNvGraphicFramePr>
          <p:nvPr>
            <p:extLst>
              <p:ext uri="{D42A27DB-BD31-4B8C-83A1-F6EECF244321}">
                <p14:modId xmlns:p14="http://schemas.microsoft.com/office/powerpoint/2010/main" val="180626005"/>
              </p:ext>
            </p:extLst>
          </p:nvPr>
        </p:nvGraphicFramePr>
        <p:xfrm>
          <a:off x="2084760" y="2517658"/>
          <a:ext cx="7991999" cy="3240003"/>
        </p:xfrm>
        <a:graphic>
          <a:graphicData uri="http://schemas.openxmlformats.org/drawingml/2006/table">
            <a:tbl>
              <a:tblPr firstRow="1" lastRow="1" bandRow="1" bandCol="1"/>
              <a:tblGrid>
                <a:gridCol w="3737872">
                  <a:extLst>
                    <a:ext uri="{9D8B030D-6E8A-4147-A177-3AD203B41FA5}">
                      <a16:colId xmlns:a16="http://schemas.microsoft.com/office/drawing/2014/main" val="625826212"/>
                    </a:ext>
                  </a:extLst>
                </a:gridCol>
                <a:gridCol w="1141196">
                  <a:extLst>
                    <a:ext uri="{9D8B030D-6E8A-4147-A177-3AD203B41FA5}">
                      <a16:colId xmlns:a16="http://schemas.microsoft.com/office/drawing/2014/main" val="1123846207"/>
                    </a:ext>
                  </a:extLst>
                </a:gridCol>
                <a:gridCol w="1141196">
                  <a:extLst>
                    <a:ext uri="{9D8B030D-6E8A-4147-A177-3AD203B41FA5}">
                      <a16:colId xmlns:a16="http://schemas.microsoft.com/office/drawing/2014/main" val="2936538694"/>
                    </a:ext>
                  </a:extLst>
                </a:gridCol>
                <a:gridCol w="1971735">
                  <a:extLst>
                    <a:ext uri="{9D8B030D-6E8A-4147-A177-3AD203B41FA5}">
                      <a16:colId xmlns:a16="http://schemas.microsoft.com/office/drawing/2014/main" val="1500237879"/>
                    </a:ext>
                  </a:extLst>
                </a:gridCol>
              </a:tblGrid>
              <a:tr h="259460">
                <a:tc>
                  <a:txBody>
                    <a:bodyPr/>
                    <a:lstStyle/>
                    <a:p>
                      <a:pPr>
                        <a:spcBef>
                          <a:spcPts val="50"/>
                        </a:spcBef>
                        <a:spcAft>
                          <a:spcPts val="50"/>
                        </a:spcAft>
                        <a:buNone/>
                      </a:pPr>
                      <a:endParaRPr lang="en-US" sz="1400" noProof="1">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nchor="b">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spcBef>
                          <a:spcPts val="50"/>
                        </a:spcBef>
                        <a:spcAft>
                          <a:spcPts val="50"/>
                        </a:spcAft>
                        <a:buNone/>
                      </a:pPr>
                      <a:r>
                        <a:rPr lang="en-US" sz="1400" b="1" noProof="1">
                          <a:effectLst/>
                          <a:latin typeface="Cambria" panose="02040503050406030204" pitchFamily="18" charset="0"/>
                          <a:ea typeface="Aptos" panose="020B0004020202020204" pitchFamily="34" charset="0"/>
                          <a:cs typeface="Times New Roman" panose="02020603050405020304" pitchFamily="18" charset="0"/>
                        </a:rPr>
                        <a:t>Log Remittances</a:t>
                      </a:r>
                    </a:p>
                  </a:txBody>
                  <a:tcPr marL="68580" marR="68580" marT="0" marB="0" anchor="b">
                    <a:lnL>
                      <a:noFill/>
                    </a:lnL>
                    <a:lnR>
                      <a:noFill/>
                    </a:lnR>
                    <a:lnT>
                      <a:noFill/>
                    </a:lnT>
                    <a:lnB w="9525" cap="flat" cmpd="sng" algn="ctr">
                      <a:solidFill>
                        <a:schemeClr val="tx1"/>
                      </a:solidFill>
                      <a:prstDash val="solid"/>
                      <a:round/>
                      <a:headEnd type="none" w="med" len="med"/>
                      <a:tailEnd type="none" w="med" len="med"/>
                    </a:lnB>
                    <a:noFill/>
                  </a:tcPr>
                </a:tc>
                <a:tc hMerge="1">
                  <a:txBody>
                    <a:bodyPr/>
                    <a:lstStyle/>
                    <a:p>
                      <a:pPr>
                        <a:spcAft>
                          <a:spcPts val="1000"/>
                        </a:spcAft>
                        <a:buNone/>
                      </a:pPr>
                      <a:endParaRPr lang="en-US" sz="1400" noProof="1">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noFill/>
                  </a:tcPr>
                </a:tc>
                <a:tc hMerge="1">
                  <a:txBody>
                    <a:bodyPr/>
                    <a:lstStyle/>
                    <a:p>
                      <a:pPr>
                        <a:spcAft>
                          <a:spcPts val="1000"/>
                        </a:spcAft>
                        <a:buNone/>
                      </a:pPr>
                      <a:endParaRPr lang="es-AR" sz="1400" dirty="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7906894"/>
                  </a:ext>
                </a:extLst>
              </a:tr>
              <a:tr h="259460">
                <a:tc>
                  <a:txBody>
                    <a:bodyPr/>
                    <a:lstStyle/>
                    <a:p>
                      <a:pPr>
                        <a:spcBef>
                          <a:spcPts val="50"/>
                        </a:spcBef>
                        <a:spcAft>
                          <a:spcPts val="50"/>
                        </a:spcAft>
                        <a:buNone/>
                      </a:pPr>
                      <a:r>
                        <a:rPr lang="en-US" sz="1400" dirty="0">
                          <a:effectLst/>
                          <a:latin typeface="Cambria" panose="02040503050406030204" pitchFamily="18" charset="0"/>
                          <a:ea typeface="Aptos" panose="020B0004020202020204" pitchFamily="34" charset="0"/>
                          <a:cs typeface="Times New Roman" panose="02020603050405020304" pitchFamily="18" charset="0"/>
                        </a:rPr>
                        <a:t> </a:t>
                      </a:r>
                      <a:endParaRPr lang="es-AR" sz="1400" dirty="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nchor="b">
                    <a:lnL>
                      <a:noFill/>
                    </a:lnL>
                    <a:lnR>
                      <a:noFill/>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spcBef>
                          <a:spcPts val="50"/>
                        </a:spcBef>
                        <a:spcAft>
                          <a:spcPts val="50"/>
                        </a:spcAft>
                        <a:buNone/>
                      </a:pPr>
                      <a:r>
                        <a:rPr lang="en-US" sz="1400" dirty="0">
                          <a:effectLst/>
                          <a:latin typeface="Cambria" panose="02040503050406030204" pitchFamily="18" charset="0"/>
                          <a:ea typeface="Aptos" panose="020B0004020202020204" pitchFamily="34" charset="0"/>
                          <a:cs typeface="Times New Roman" panose="02020603050405020304" pitchFamily="18" charset="0"/>
                        </a:rPr>
                        <a:t> (1)</a:t>
                      </a:r>
                      <a:endParaRPr lang="es-AR" sz="1400" dirty="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nchor="b">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spcBef>
                          <a:spcPts val="50"/>
                        </a:spcBef>
                        <a:spcAft>
                          <a:spcPts val="50"/>
                        </a:spcAft>
                        <a:buNone/>
                      </a:pPr>
                      <a:r>
                        <a:rPr lang="en-US" sz="1400" dirty="0">
                          <a:effectLst/>
                          <a:latin typeface="Cambria" panose="02040503050406030204" pitchFamily="18" charset="0"/>
                          <a:ea typeface="Aptos" panose="020B0004020202020204" pitchFamily="34" charset="0"/>
                          <a:cs typeface="Times New Roman" panose="02020603050405020304" pitchFamily="18" charset="0"/>
                        </a:rPr>
                        <a:t>(2) </a:t>
                      </a:r>
                      <a:endParaRPr lang="es-AR" sz="1400" dirty="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nchor="b">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spcBef>
                          <a:spcPts val="50"/>
                        </a:spcBef>
                        <a:spcAft>
                          <a:spcPts val="50"/>
                        </a:spcAft>
                        <a:buNone/>
                      </a:pPr>
                      <a:r>
                        <a:rPr lang="en-US" sz="1400" dirty="0">
                          <a:effectLst/>
                          <a:latin typeface="Cambria" panose="02040503050406030204" pitchFamily="18" charset="0"/>
                          <a:ea typeface="Aptos" panose="020B0004020202020204" pitchFamily="34" charset="0"/>
                          <a:cs typeface="Times New Roman" panose="02020603050405020304" pitchFamily="18" charset="0"/>
                        </a:rPr>
                        <a:t>(3) </a:t>
                      </a:r>
                      <a:endParaRPr lang="es-AR" sz="1400" dirty="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nchor="b">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567029"/>
                  </a:ext>
                </a:extLst>
              </a:tr>
              <a:tr h="259460">
                <a:tc>
                  <a:txBody>
                    <a:bodyPr/>
                    <a:lstStyle/>
                    <a:p>
                      <a:pP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Post × Log Spanish-born (average)</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w="9525" cap="flat" cmpd="sng" algn="ctr">
                      <a:solidFill>
                        <a:schemeClr val="tx1"/>
                      </a:solidFill>
                      <a:prstDash val="solid"/>
                      <a:round/>
                      <a:headEnd type="none" w="med" len="med"/>
                      <a:tailEnd type="none" w="med" len="med"/>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0.078***</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w="9525" cap="flat" cmpd="sng" algn="ctr">
                      <a:solidFill>
                        <a:schemeClr val="tx1"/>
                      </a:solidFill>
                      <a:prstDash val="solid"/>
                      <a:round/>
                      <a:headEnd type="none" w="med" len="med"/>
                      <a:tailEnd type="none" w="med" len="med"/>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0.070***</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w="9525" cap="flat" cmpd="sng" algn="ctr">
                      <a:solidFill>
                        <a:schemeClr val="tx1"/>
                      </a:solidFill>
                      <a:prstDash val="solid"/>
                      <a:round/>
                      <a:headEnd type="none" w="med" len="med"/>
                      <a:tailEnd type="none" w="med" len="med"/>
                    </a:lnT>
                    <a:lnB>
                      <a:noFill/>
                    </a:lnB>
                    <a:noFill/>
                  </a:tcPr>
                </a:tc>
                <a:tc>
                  <a:txBody>
                    <a:bodyPr/>
                    <a:lstStyle/>
                    <a:p>
                      <a:pPr algn="ctr">
                        <a:spcBef>
                          <a:spcPts val="50"/>
                        </a:spcBef>
                        <a:spcAft>
                          <a:spcPts val="50"/>
                        </a:spcAft>
                        <a:buNone/>
                      </a:pPr>
                      <a:r>
                        <a:rPr lang="en-US" sz="1400" dirty="0">
                          <a:effectLst/>
                          <a:latin typeface="Cambria" panose="02040503050406030204" pitchFamily="18" charset="0"/>
                          <a:ea typeface="Aptos" panose="020B0004020202020204" pitchFamily="34" charset="0"/>
                          <a:cs typeface="Times New Roman" panose="02020603050405020304" pitchFamily="18" charset="0"/>
                        </a:rPr>
                        <a:t>0.063***</a:t>
                      </a:r>
                      <a:endParaRPr lang="es-AR" sz="1400" dirty="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w="9525"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329263881"/>
                  </a:ext>
                </a:extLst>
              </a:tr>
              <a:tr h="259460">
                <a:tc>
                  <a:txBody>
                    <a:bodyPr/>
                    <a:lstStyle/>
                    <a:p>
                      <a:pP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 </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(0.010)</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(0.011)</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(0.014)</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1499821585"/>
                  </a:ext>
                </a:extLst>
              </a:tr>
              <a:tr h="259460">
                <a:tc>
                  <a:txBody>
                    <a:bodyPr/>
                    <a:lstStyle/>
                    <a:p>
                      <a:pP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R²</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0.971</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0.981</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0.979</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3637319367"/>
                  </a:ext>
                </a:extLst>
              </a:tr>
              <a:tr h="259460">
                <a:tc>
                  <a:txBody>
                    <a:bodyPr/>
                    <a:lstStyle/>
                    <a:p>
                      <a:pP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Observations</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27864</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27864</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24660</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610074129"/>
                  </a:ext>
                </a:extLst>
              </a:tr>
              <a:tr h="259460">
                <a:tc>
                  <a:txBody>
                    <a:bodyPr/>
                    <a:lstStyle/>
                    <a:p>
                      <a:pP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Municipality FE</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Yes</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Yes</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Yes</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2807726974"/>
                  </a:ext>
                </a:extLst>
              </a:tr>
              <a:tr h="259460">
                <a:tc>
                  <a:txBody>
                    <a:bodyPr/>
                    <a:lstStyle/>
                    <a:p>
                      <a:pP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Time FE</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Yes</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Yes</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Yes</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1143866412"/>
                  </a:ext>
                </a:extLst>
              </a:tr>
              <a:tr h="259460">
                <a:tc>
                  <a:txBody>
                    <a:bodyPr/>
                    <a:lstStyle/>
                    <a:p>
                      <a:pP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Migration × Time FE</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No</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dirty="0">
                          <a:effectLst/>
                          <a:latin typeface="Cambria" panose="02040503050406030204" pitchFamily="18" charset="0"/>
                          <a:ea typeface="Aptos" panose="020B0004020202020204" pitchFamily="34" charset="0"/>
                          <a:cs typeface="Times New Roman" panose="02020603050405020304" pitchFamily="18" charset="0"/>
                        </a:rPr>
                        <a:t>Yes</a:t>
                      </a:r>
                      <a:endParaRPr lang="es-AR" sz="1400" dirty="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Yes</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1967875231"/>
                  </a:ext>
                </a:extLst>
              </a:tr>
              <a:tr h="324168">
                <a:tc>
                  <a:txBody>
                    <a:bodyPr/>
                    <a:lstStyle/>
                    <a:p>
                      <a:pP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Sample</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Full</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Full</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dirty="0">
                          <a:effectLst/>
                          <a:latin typeface="Cambria" panose="02040503050406030204" pitchFamily="18" charset="0"/>
                          <a:ea typeface="Aptos" panose="020B0004020202020204" pitchFamily="34" charset="0"/>
                          <a:cs typeface="Times New Roman" panose="02020603050405020304" pitchFamily="18" charset="0"/>
                        </a:rPr>
                        <a:t>No border states</a:t>
                      </a:r>
                      <a:endParaRPr lang="es-AR" sz="1400" dirty="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664756084"/>
                  </a:ext>
                </a:extLst>
              </a:tr>
              <a:tr h="580695">
                <a:tc gridSpan="4">
                  <a:txBody>
                    <a:bodyPr/>
                    <a:lstStyle/>
                    <a:p>
                      <a:pPr algn="ctr">
                        <a:spcBef>
                          <a:spcPts val="500"/>
                        </a:spcBef>
                        <a:spcAft>
                          <a:spcPts val="180"/>
                        </a:spcAft>
                        <a:buNone/>
                      </a:pPr>
                      <a:r>
                        <a:rPr lang="en-US" sz="1200" dirty="0">
                          <a:effectLst/>
                          <a:latin typeface="Cambria" panose="02040503050406030204" pitchFamily="18" charset="0"/>
                          <a:ea typeface="Aptos" panose="020B0004020202020204" pitchFamily="34" charset="0"/>
                          <a:cs typeface="Times New Roman" panose="02020603050405020304" pitchFamily="18" charset="0"/>
                        </a:rPr>
                        <a:t>Standard errors clustered at the municipality level in parentheses. </a:t>
                      </a:r>
                      <a:endParaRPr lang="es-AR" sz="1200" dirty="0">
                        <a:effectLst/>
                        <a:latin typeface="Cambria" panose="02040503050406030204" pitchFamily="18" charset="0"/>
                        <a:ea typeface="Aptos" panose="020B0004020202020204" pitchFamily="34" charset="0"/>
                        <a:cs typeface="Times New Roman" panose="02020603050405020304" pitchFamily="18" charset="0"/>
                      </a:endParaRPr>
                    </a:p>
                    <a:p>
                      <a:pPr algn="ctr">
                        <a:spcBef>
                          <a:spcPts val="180"/>
                        </a:spcBef>
                        <a:spcAft>
                          <a:spcPts val="0"/>
                        </a:spcAft>
                        <a:buNone/>
                      </a:pPr>
                      <a:r>
                        <a:rPr lang="en-US" sz="1200" i="1" dirty="0">
                          <a:effectLst/>
                          <a:latin typeface="Cambria" panose="02040503050406030204" pitchFamily="18" charset="0"/>
                          <a:ea typeface="Aptos" panose="020B0004020202020204" pitchFamily="34" charset="0"/>
                          <a:cs typeface="Times New Roman" panose="02020603050405020304" pitchFamily="18" charset="0"/>
                        </a:rPr>
                        <a:t>* p&lt;0.1,** </a:t>
                      </a:r>
                      <a:r>
                        <a:rPr lang="en-US" sz="1200" b="1" i="1" dirty="0">
                          <a:effectLst/>
                          <a:latin typeface="Cambria" panose="02040503050406030204" pitchFamily="18" charset="0"/>
                          <a:ea typeface="Aptos" panose="020B0004020202020204" pitchFamily="34" charset="0"/>
                          <a:cs typeface="Times New Roman" panose="02020603050405020304" pitchFamily="18" charset="0"/>
                        </a:rPr>
                        <a:t> </a:t>
                      </a:r>
                      <a:r>
                        <a:rPr lang="en-US" sz="1200" i="1" dirty="0">
                          <a:effectLst/>
                          <a:latin typeface="Cambria" panose="02040503050406030204" pitchFamily="18" charset="0"/>
                          <a:ea typeface="Aptos" panose="020B0004020202020204" pitchFamily="34" charset="0"/>
                          <a:cs typeface="Times New Roman" panose="02020603050405020304" pitchFamily="18" charset="0"/>
                        </a:rPr>
                        <a:t>p&lt;0.05,</a:t>
                      </a:r>
                      <a:r>
                        <a:rPr lang="en-US" sz="1200" b="1" i="1" dirty="0">
                          <a:effectLst/>
                          <a:latin typeface="Cambria" panose="02040503050406030204" pitchFamily="18" charset="0"/>
                          <a:ea typeface="Aptos" panose="020B0004020202020204" pitchFamily="34" charset="0"/>
                          <a:cs typeface="Times New Roman" panose="02020603050405020304" pitchFamily="18" charset="0"/>
                        </a:rPr>
                        <a:t> </a:t>
                      </a:r>
                      <a:r>
                        <a:rPr lang="en-US" sz="1200" i="1" dirty="0">
                          <a:effectLst/>
                          <a:latin typeface="Cambria" panose="02040503050406030204" pitchFamily="18" charset="0"/>
                          <a:ea typeface="Aptos" panose="020B0004020202020204" pitchFamily="34" charset="0"/>
                          <a:cs typeface="Times New Roman" panose="02020603050405020304" pitchFamily="18" charset="0"/>
                        </a:rPr>
                        <a:t> ** p&lt;0.01.</a:t>
                      </a:r>
                      <a:endParaRPr lang="es-AR" sz="1200" i="1" dirty="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hMerge="1">
                  <a:txBody>
                    <a:bodyPr/>
                    <a:lstStyle/>
                    <a:p>
                      <a:endParaRPr lang="es-AR"/>
                    </a:p>
                  </a:txBody>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350908064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pPr algn="l">
              <a:lnSpc>
                <a:spcPct val="100000"/>
              </a:lnSpc>
            </a:pPr>
            <a:r>
              <a:rPr sz="3600" b="1" i="0" dirty="0">
                <a:solidFill>
                  <a:srgbClr val="000000"/>
                </a:solidFill>
                <a:latin typeface="Cambria"/>
              </a:rPr>
              <a:t>Feedback</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91640"/>
            <a:ext cx="10972800" cy="1879938"/>
          </a:xfrm>
          <a:prstGeom prst="rect">
            <a:avLst/>
          </a:prstGeom>
          <a:noFill/>
        </p:spPr>
        <p:txBody>
          <a:bodyPr wrap="square" lIns="0" tIns="0" rIns="0" bIns="0">
            <a:spAutoFit/>
          </a:bodyPr>
          <a:lstStyle/>
          <a:p>
            <a:pPr marL="320040" indent="-228600" algn="l">
              <a:lnSpc>
                <a:spcPct val="115000"/>
              </a:lnSpc>
              <a:buFont typeface="Arial"/>
              <a:buChar char="•"/>
            </a:pPr>
            <a:r>
              <a:rPr sz="1600" dirty="0">
                <a:solidFill>
                  <a:srgbClr val="000000"/>
                </a:solidFill>
                <a:latin typeface="Cambria"/>
              </a:rPr>
              <a:t>Poisson specification in light of recent criticism of log(y+1).</a:t>
            </a:r>
            <a:endParaRPr lang="es-AR" sz="1600" dirty="0">
              <a:solidFill>
                <a:srgbClr val="000000"/>
              </a:solidFill>
              <a:latin typeface="Cambria"/>
            </a:endParaRPr>
          </a:p>
          <a:p>
            <a:pPr marL="320040" indent="-228600" algn="l">
              <a:lnSpc>
                <a:spcPct val="115000"/>
              </a:lnSpc>
              <a:spcBef>
                <a:spcPts val="800"/>
              </a:spcBef>
              <a:buFont typeface="Arial"/>
              <a:buChar char="•"/>
            </a:pPr>
            <a:r>
              <a:rPr sz="1600" dirty="0">
                <a:solidFill>
                  <a:srgbClr val="000000"/>
                </a:solidFill>
                <a:latin typeface="Cambria"/>
              </a:rPr>
              <a:t>Entropy-balanced weighted regression. Concern: Spaniards may have settled in municipalities with labor-market conditions that are more conducive to remittances. EB addresses this selection by re-weighting the control group to match the treated.</a:t>
            </a:r>
          </a:p>
          <a:p>
            <a:pPr marL="320040" indent="-228600" algn="l">
              <a:lnSpc>
                <a:spcPct val="115000"/>
              </a:lnSpc>
              <a:spcBef>
                <a:spcPts val="800"/>
              </a:spcBef>
              <a:buFont typeface="Arial"/>
              <a:buChar char="•"/>
            </a:pPr>
            <a:r>
              <a:rPr sz="1600" b="0" i="0" dirty="0">
                <a:solidFill>
                  <a:srgbClr val="000000"/>
                </a:solidFill>
                <a:latin typeface="Cambria"/>
              </a:rPr>
              <a:t>Today's update focuses on the Entropy Balancing piece. Poisson is pending until we close the EB / model parametrization decisions.</a:t>
            </a: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13 / 31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Entropy Balancing — Variables &amp; Options</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00200"/>
            <a:ext cx="10972800" cy="3941272"/>
          </a:xfrm>
          <a:prstGeom prst="rect">
            <a:avLst/>
          </a:prstGeom>
          <a:noFill/>
        </p:spPr>
        <p:txBody>
          <a:bodyPr wrap="square" lIns="0" tIns="0" rIns="0" bIns="0">
            <a:spAutoFit/>
          </a:bodyPr>
          <a:lstStyle/>
          <a:p>
            <a:pPr marL="320040" indent="-228600">
              <a:lnSpc>
                <a:spcPct val="115000"/>
              </a:lnSpc>
              <a:buFont typeface="Arial"/>
              <a:buChar char="•"/>
            </a:pPr>
            <a:r>
              <a:rPr sz="1500" b="1" dirty="0">
                <a:solidFill>
                  <a:srgbClr val="000000"/>
                </a:solidFill>
                <a:latin typeface="Cambria"/>
              </a:rPr>
              <a:t>Candidate covariates: </a:t>
            </a:r>
            <a:r>
              <a:rPr sz="1500" dirty="0">
                <a:solidFill>
                  <a:srgbClr val="000000"/>
                </a:solidFill>
                <a:latin typeface="Cambria"/>
              </a:rPr>
              <a:t>pre-period remittance outcomes </a:t>
            </a:r>
            <a:r>
              <a:rPr lang="en-US" sz="1500" noProof="1">
                <a:solidFill>
                  <a:srgbClr val="000000"/>
                </a:solidFill>
                <a:latin typeface="Cambria"/>
              </a:rPr>
              <a:t>(average of pre-treatment total remittances, average of pre-treatment log remittances</a:t>
            </a:r>
            <a:r>
              <a:rPr sz="1500" dirty="0">
                <a:solidFill>
                  <a:srgbClr val="000000"/>
                </a:solidFill>
                <a:latin typeface="Cambria"/>
              </a:rPr>
              <a:t>), U.S. emigration (2000, 2010), population by age group, total population (1990</a:t>
            </a:r>
            <a:r>
              <a:rPr lang="es-ES" sz="1500" dirty="0">
                <a:solidFill>
                  <a:srgbClr val="000000"/>
                </a:solidFill>
                <a:latin typeface="Cambria"/>
              </a:rPr>
              <a:t>, 1995, 2000, 2005, 2010, 2015, </a:t>
            </a:r>
            <a:r>
              <a:rPr sz="1500" dirty="0">
                <a:solidFill>
                  <a:srgbClr val="000000"/>
                </a:solidFill>
                <a:latin typeface="Cambria"/>
              </a:rPr>
              <a:t>2020), surface</a:t>
            </a:r>
            <a:r>
              <a:rPr lang="es-ES" sz="1500" dirty="0">
                <a:solidFill>
                  <a:srgbClr val="000000"/>
                </a:solidFill>
                <a:latin typeface="Cambria"/>
              </a:rPr>
              <a:t> (km2),</a:t>
            </a:r>
            <a:r>
              <a:rPr sz="1500" dirty="0">
                <a:solidFill>
                  <a:srgbClr val="000000"/>
                </a:solidFill>
                <a:latin typeface="Cambria"/>
              </a:rPr>
              <a:t> density</a:t>
            </a:r>
            <a:r>
              <a:rPr lang="es-ES" sz="1500" dirty="0">
                <a:solidFill>
                  <a:srgbClr val="000000"/>
                </a:solidFill>
                <a:latin typeface="Cambria"/>
              </a:rPr>
              <a:t> in 2020</a:t>
            </a:r>
            <a:r>
              <a:rPr sz="1500" dirty="0">
                <a:solidFill>
                  <a:srgbClr val="000000"/>
                </a:solidFill>
                <a:latin typeface="Cambria"/>
              </a:rPr>
              <a:t>, sex composition</a:t>
            </a:r>
            <a:r>
              <a:rPr lang="es-ES" sz="1500" dirty="0">
                <a:solidFill>
                  <a:srgbClr val="000000"/>
                </a:solidFill>
                <a:latin typeface="Cambria"/>
              </a:rPr>
              <a:t> in 2020 (</a:t>
            </a:r>
            <a:r>
              <a:rPr lang="en-US" sz="1500" noProof="1">
                <a:solidFill>
                  <a:srgbClr val="000000"/>
                </a:solidFill>
                <a:latin typeface="Cambria"/>
              </a:rPr>
              <a:t>percentage of men, percentage of women, men to women ratio</a:t>
            </a:r>
            <a:r>
              <a:rPr lang="es-ES" sz="1500" dirty="0">
                <a:solidFill>
                  <a:srgbClr val="000000"/>
                </a:solidFill>
                <a:latin typeface="Cambria"/>
              </a:rPr>
              <a:t>)</a:t>
            </a:r>
            <a:r>
              <a:rPr sz="1500" dirty="0">
                <a:solidFill>
                  <a:srgbClr val="000000"/>
                </a:solidFill>
                <a:latin typeface="Cambria"/>
              </a:rPr>
              <a:t>, labor </a:t>
            </a:r>
            <a:r>
              <a:rPr lang="en-US" sz="1500" noProof="1">
                <a:solidFill>
                  <a:srgbClr val="000000"/>
                </a:solidFill>
                <a:latin typeface="Cambria"/>
              </a:rPr>
              <a:t>covariates in 2020 (percentage of PEA, percentage of ocupation</a:t>
            </a:r>
            <a:r>
              <a:rPr sz="1500" dirty="0">
                <a:solidFill>
                  <a:srgbClr val="000000"/>
                </a:solidFill>
                <a:latin typeface="Cambria"/>
              </a:rPr>
              <a:t>), </a:t>
            </a:r>
            <a:r>
              <a:rPr lang="en-US" sz="1500" noProof="1">
                <a:solidFill>
                  <a:srgbClr val="000000"/>
                </a:solidFill>
                <a:latin typeface="Cambria"/>
              </a:rPr>
              <a:t>schooling in 2020 (percentage of the population aged 15 and above with no schooling, with basic education, with upper secondary education, and with tertiary education)</a:t>
            </a:r>
            <a:r>
              <a:rPr lang="es-AR" sz="1500" dirty="0">
                <a:solidFill>
                  <a:srgbClr val="000000"/>
                </a:solidFill>
                <a:latin typeface="Cambria"/>
              </a:rPr>
              <a:t>, </a:t>
            </a:r>
            <a:r>
              <a:rPr sz="1500" dirty="0">
                <a:solidFill>
                  <a:srgbClr val="000000"/>
                </a:solidFill>
                <a:latin typeface="Cambria"/>
              </a:rPr>
              <a:t>literacy rates</a:t>
            </a:r>
            <a:r>
              <a:rPr lang="es-ES" sz="1500" dirty="0">
                <a:solidFill>
                  <a:srgbClr val="000000"/>
                </a:solidFill>
                <a:latin typeface="Cambria"/>
              </a:rPr>
              <a:t>  </a:t>
            </a:r>
            <a:r>
              <a:rPr lang="en-US" sz="1500" noProof="1">
                <a:solidFill>
                  <a:srgbClr val="000000"/>
                </a:solidFill>
                <a:latin typeface="Cambria"/>
              </a:rPr>
              <a:t>(percentage of literate individuals aged 15–24 and aged 25 and above), marginalization index (1990, 1995, 2000, 2005, 2010, </a:t>
            </a:r>
            <a:r>
              <a:rPr sz="1500" dirty="0">
                <a:solidFill>
                  <a:srgbClr val="000000"/>
                </a:solidFill>
                <a:latin typeface="Cambria"/>
              </a:rPr>
              <a:t>2015</a:t>
            </a:r>
            <a:r>
              <a:rPr lang="es-ES" sz="1500" dirty="0">
                <a:solidFill>
                  <a:srgbClr val="000000"/>
                </a:solidFill>
                <a:latin typeface="Cambria"/>
              </a:rPr>
              <a:t>, 2020</a:t>
            </a:r>
            <a:r>
              <a:rPr sz="1500" dirty="0">
                <a:solidFill>
                  <a:srgbClr val="000000"/>
                </a:solidFill>
                <a:latin typeface="Cambria"/>
              </a:rPr>
              <a:t>).</a:t>
            </a:r>
          </a:p>
          <a:p>
            <a:pPr marL="320040" indent="-228600" algn="l">
              <a:lnSpc>
                <a:spcPct val="115000"/>
              </a:lnSpc>
              <a:spcBef>
                <a:spcPts val="800"/>
              </a:spcBef>
              <a:buFont typeface="Arial"/>
              <a:buChar char="•"/>
            </a:pPr>
            <a:r>
              <a:rPr sz="1500" b="1" i="0" dirty="0">
                <a:solidFill>
                  <a:srgbClr val="000000"/>
                </a:solidFill>
                <a:latin typeface="Cambria"/>
              </a:rPr>
              <a:t>Four EB specifications chosen from this menu:</a:t>
            </a:r>
          </a:p>
          <a:p>
            <a:pPr marL="640080" indent="-228600">
              <a:lnSpc>
                <a:spcPct val="115000"/>
              </a:lnSpc>
              <a:spcBef>
                <a:spcPts val="800"/>
              </a:spcBef>
              <a:buFont typeface="Arial"/>
              <a:buChar char="•"/>
            </a:pPr>
            <a:r>
              <a:rPr sz="1500" b="0" i="1" dirty="0">
                <a:solidFill>
                  <a:srgbClr val="000000"/>
                </a:solidFill>
                <a:latin typeface="Cambria"/>
              </a:rPr>
              <a:t>Option 1 </a:t>
            </a:r>
            <a:r>
              <a:rPr sz="1500" b="0" i="0" dirty="0">
                <a:solidFill>
                  <a:srgbClr val="000000"/>
                </a:solidFill>
                <a:latin typeface="Cambria"/>
              </a:rPr>
              <a:t>— Outcome only: </a:t>
            </a:r>
            <a:r>
              <a:rPr lang="en-US" sz="1500" noProof="1">
                <a:solidFill>
                  <a:srgbClr val="000000"/>
                </a:solidFill>
                <a:latin typeface="Cambria"/>
              </a:rPr>
              <a:t>average of pre-treatment total remittances</a:t>
            </a:r>
            <a:r>
              <a:rPr sz="1500" b="0" i="0" dirty="0">
                <a:solidFill>
                  <a:srgbClr val="000000"/>
                </a:solidFill>
                <a:latin typeface="Cambria"/>
              </a:rPr>
              <a:t>.</a:t>
            </a:r>
          </a:p>
          <a:p>
            <a:pPr marL="640080" indent="-228600">
              <a:lnSpc>
                <a:spcPct val="115000"/>
              </a:lnSpc>
              <a:spcBef>
                <a:spcPts val="800"/>
              </a:spcBef>
              <a:buFont typeface="Arial"/>
              <a:buChar char="•"/>
            </a:pPr>
            <a:r>
              <a:rPr sz="1500" b="0" i="1" dirty="0">
                <a:solidFill>
                  <a:srgbClr val="000000"/>
                </a:solidFill>
                <a:latin typeface="Cambria"/>
              </a:rPr>
              <a:t>Option 2 </a:t>
            </a:r>
            <a:r>
              <a:rPr sz="1500" b="0" i="0" dirty="0">
                <a:solidFill>
                  <a:srgbClr val="000000"/>
                </a:solidFill>
                <a:latin typeface="Cambria"/>
              </a:rPr>
              <a:t>— Parsimonious</a:t>
            </a:r>
            <a:r>
              <a:rPr lang="es-ES" sz="1500" b="0" i="0" dirty="0">
                <a:solidFill>
                  <a:srgbClr val="000000"/>
                </a:solidFill>
                <a:latin typeface="Cambria"/>
              </a:rPr>
              <a:t>:</a:t>
            </a:r>
            <a:r>
              <a:rPr lang="en-US" sz="1500" noProof="1">
                <a:solidFill>
                  <a:srgbClr val="000000"/>
                </a:solidFill>
                <a:latin typeface="Cambria"/>
              </a:rPr>
              <a:t> average of pre-treatment log remittances</a:t>
            </a:r>
            <a:r>
              <a:rPr lang="en-US" sz="1500" b="0" i="0" dirty="0">
                <a:solidFill>
                  <a:srgbClr val="000000"/>
                </a:solidFill>
                <a:latin typeface="Cambria"/>
              </a:rPr>
              <a:t>, </a:t>
            </a:r>
            <a:r>
              <a:rPr lang="en-US" sz="1500" dirty="0">
                <a:solidFill>
                  <a:srgbClr val="000000"/>
                </a:solidFill>
                <a:latin typeface="Cambria"/>
              </a:rPr>
              <a:t>U.S. emigration (2010)</a:t>
            </a:r>
            <a:r>
              <a:rPr lang="en-US" sz="1500" b="0" i="0" dirty="0">
                <a:solidFill>
                  <a:srgbClr val="000000"/>
                </a:solidFill>
                <a:latin typeface="Cambria"/>
              </a:rPr>
              <a:t>, </a:t>
            </a:r>
            <a:r>
              <a:rPr lang="en-US" sz="1500" noProof="1">
                <a:solidFill>
                  <a:srgbClr val="000000"/>
                </a:solidFill>
                <a:latin typeface="Cambria"/>
              </a:rPr>
              <a:t>marginalization index  (2010)</a:t>
            </a:r>
            <a:r>
              <a:rPr lang="en-US" sz="1500" b="0" i="0" dirty="0">
                <a:solidFill>
                  <a:srgbClr val="000000"/>
                </a:solidFill>
                <a:latin typeface="Cambria"/>
              </a:rPr>
              <a:t>, population (2010), density (2020). Captures outcome level, migration networks, structural development and size/urbanity</a:t>
            </a:r>
            <a:r>
              <a:rPr sz="1500" b="0" i="0" dirty="0">
                <a:solidFill>
                  <a:srgbClr val="000000"/>
                </a:solidFill>
                <a:latin typeface="Cambria"/>
              </a:rPr>
              <a:t>.</a:t>
            </a:r>
          </a:p>
          <a:p>
            <a:pPr marL="640080" indent="-228600">
              <a:lnSpc>
                <a:spcPct val="115000"/>
              </a:lnSpc>
              <a:spcBef>
                <a:spcPts val="800"/>
              </a:spcBef>
              <a:buFont typeface="Arial"/>
              <a:buChar char="•"/>
            </a:pPr>
            <a:r>
              <a:rPr sz="1500" b="0" i="1" dirty="0">
                <a:solidFill>
                  <a:srgbClr val="000000"/>
                </a:solidFill>
                <a:latin typeface="Cambria"/>
              </a:rPr>
              <a:t>Option 3 </a:t>
            </a:r>
            <a:r>
              <a:rPr sz="1500" b="0" i="0" dirty="0">
                <a:solidFill>
                  <a:srgbClr val="000000"/>
                </a:solidFill>
                <a:latin typeface="Cambria"/>
              </a:rPr>
              <a:t>— Intermediate with time dimension: adds </a:t>
            </a:r>
            <a:r>
              <a:rPr lang="en-US" sz="1500" dirty="0">
                <a:solidFill>
                  <a:srgbClr val="000000"/>
                </a:solidFill>
                <a:latin typeface="Cambria"/>
              </a:rPr>
              <a:t>U.S. emigration (2000)</a:t>
            </a:r>
            <a:r>
              <a:rPr sz="1500" b="0" i="0" dirty="0">
                <a:solidFill>
                  <a:srgbClr val="000000"/>
                </a:solidFill>
                <a:latin typeface="Cambria"/>
              </a:rPr>
              <a:t>, </a:t>
            </a:r>
            <a:r>
              <a:rPr lang="en-US" sz="1500" noProof="1">
                <a:solidFill>
                  <a:srgbClr val="000000"/>
                </a:solidFill>
                <a:latin typeface="Cambria"/>
              </a:rPr>
              <a:t>marginalization index  (2000),</a:t>
            </a:r>
            <a:r>
              <a:rPr sz="1500" b="0" i="0" dirty="0">
                <a:solidFill>
                  <a:srgbClr val="000000"/>
                </a:solidFill>
                <a:latin typeface="Cambria"/>
              </a:rPr>
              <a:t> and</a:t>
            </a:r>
            <a:r>
              <a:rPr lang="en-US" sz="1500" noProof="1">
                <a:solidFill>
                  <a:srgbClr val="000000"/>
                </a:solidFill>
                <a:latin typeface="Cambria"/>
              </a:rPr>
              <a:t> PEA (2020)</a:t>
            </a:r>
            <a:r>
              <a:rPr sz="1500" b="0" i="0" dirty="0">
                <a:solidFill>
                  <a:srgbClr val="000000"/>
                </a:solidFill>
                <a:latin typeface="Cambria"/>
              </a:rPr>
              <a:t>.</a:t>
            </a:r>
          </a:p>
          <a:p>
            <a:pPr marL="640080" indent="-228600">
              <a:lnSpc>
                <a:spcPct val="115000"/>
              </a:lnSpc>
              <a:spcBef>
                <a:spcPts val="800"/>
              </a:spcBef>
              <a:buFont typeface="Arial"/>
              <a:buChar char="•"/>
            </a:pPr>
            <a:r>
              <a:rPr sz="1500" b="0" i="1" dirty="0">
                <a:solidFill>
                  <a:srgbClr val="000000"/>
                </a:solidFill>
                <a:latin typeface="Cambria"/>
              </a:rPr>
              <a:t>Option 4 </a:t>
            </a:r>
            <a:r>
              <a:rPr sz="1500" b="0" i="0" dirty="0">
                <a:solidFill>
                  <a:srgbClr val="000000"/>
                </a:solidFill>
                <a:latin typeface="Cambria"/>
              </a:rPr>
              <a:t>— Human </a:t>
            </a:r>
            <a:r>
              <a:rPr lang="en-US" sz="1500" b="0" i="0" dirty="0">
                <a:solidFill>
                  <a:srgbClr val="000000"/>
                </a:solidFill>
                <a:latin typeface="Cambria"/>
              </a:rPr>
              <a:t>capital: adds percentage of population with </a:t>
            </a:r>
            <a:r>
              <a:rPr lang="en-US" sz="1500" noProof="1">
                <a:solidFill>
                  <a:srgbClr val="000000"/>
                </a:solidFill>
                <a:latin typeface="Cambria"/>
              </a:rPr>
              <a:t>no schooling  </a:t>
            </a:r>
            <a:r>
              <a:rPr lang="en-US" sz="1500" b="0" i="0" dirty="0">
                <a:solidFill>
                  <a:srgbClr val="000000"/>
                </a:solidFill>
                <a:latin typeface="Cambria"/>
              </a:rPr>
              <a:t>and with </a:t>
            </a:r>
            <a:r>
              <a:rPr lang="en-US" sz="1500" noProof="1">
                <a:solidFill>
                  <a:srgbClr val="000000"/>
                </a:solidFill>
                <a:latin typeface="Cambria"/>
              </a:rPr>
              <a:t>basic education</a:t>
            </a:r>
            <a:r>
              <a:rPr lang="en-US" sz="1500" b="0" i="0" dirty="0">
                <a:solidFill>
                  <a:srgbClr val="000000"/>
                </a:solidFill>
                <a:latin typeface="Cambria"/>
              </a:rPr>
              <a:t> to Option 3</a:t>
            </a:r>
            <a:r>
              <a:rPr lang="en-US" sz="1500" dirty="0">
                <a:solidFill>
                  <a:srgbClr val="000000"/>
                </a:solidFill>
                <a:latin typeface="Cambria"/>
              </a:rPr>
              <a:t>.</a:t>
            </a:r>
            <a:endParaRPr sz="1500" b="0" i="0" dirty="0">
              <a:solidFill>
                <a:srgbClr val="000000"/>
              </a:solidFill>
              <a:latin typeface="Cambria"/>
            </a:endParaRP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14 / 31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Entropy Balancing — Pre-Arrival Covariates</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91640"/>
            <a:ext cx="10972800" cy="2651431"/>
          </a:xfrm>
          <a:prstGeom prst="rect">
            <a:avLst/>
          </a:prstGeom>
          <a:noFill/>
        </p:spPr>
        <p:txBody>
          <a:bodyPr wrap="square" lIns="0" tIns="0" rIns="0" bIns="0">
            <a:spAutoFit/>
          </a:bodyPr>
          <a:lstStyle/>
          <a:p>
            <a:pPr marL="320040" indent="-228600" algn="l">
              <a:lnSpc>
                <a:spcPct val="115000"/>
              </a:lnSpc>
              <a:buFont typeface="Arial"/>
              <a:buChar char="•"/>
            </a:pPr>
            <a:r>
              <a:rPr sz="1600" dirty="0">
                <a:solidFill>
                  <a:srgbClr val="000000"/>
                </a:solidFill>
                <a:latin typeface="Cambria"/>
              </a:rPr>
              <a:t>To address </a:t>
            </a:r>
            <a:r>
              <a:rPr lang="en-US" sz="1600" noProof="1">
                <a:solidFill>
                  <a:srgbClr val="000000"/>
                </a:solidFill>
                <a:latin typeface="Cambria"/>
              </a:rPr>
              <a:t>the</a:t>
            </a:r>
            <a:r>
              <a:rPr lang="es-ES" sz="1600" dirty="0">
                <a:solidFill>
                  <a:srgbClr val="000000"/>
                </a:solidFill>
                <a:latin typeface="Cambria"/>
              </a:rPr>
              <a:t> </a:t>
            </a:r>
            <a:r>
              <a:rPr sz="1600" dirty="0">
                <a:solidFill>
                  <a:srgbClr val="000000"/>
                </a:solidFill>
                <a:latin typeface="Cambria"/>
              </a:rPr>
              <a:t>selection concern as tightly as possible, we would ideally balance on municipality characteristics predating Spanish arrival.</a:t>
            </a:r>
          </a:p>
          <a:p>
            <a:pPr marL="320040" indent="-228600" algn="l">
              <a:lnSpc>
                <a:spcPct val="115000"/>
              </a:lnSpc>
              <a:spcBef>
                <a:spcPts val="800"/>
              </a:spcBef>
              <a:buFont typeface="Arial"/>
              <a:buChar char="•"/>
            </a:pPr>
            <a:r>
              <a:rPr sz="1600" b="0" i="0" dirty="0">
                <a:solidFill>
                  <a:srgbClr val="000000"/>
                </a:solidFill>
                <a:latin typeface="Cambria"/>
              </a:rPr>
              <a:t>Publicly available tabulations at the municipal level are scarce for the pre-1930s period.</a:t>
            </a:r>
          </a:p>
          <a:p>
            <a:pPr marL="320040" indent="-228600" algn="l">
              <a:lnSpc>
                <a:spcPct val="115000"/>
              </a:lnSpc>
              <a:spcBef>
                <a:spcPts val="800"/>
              </a:spcBef>
              <a:buFont typeface="Arial"/>
              <a:buChar char="•"/>
            </a:pPr>
            <a:r>
              <a:rPr sz="1600" b="0" i="0" dirty="0">
                <a:solidFill>
                  <a:srgbClr val="000000"/>
                </a:solidFill>
                <a:latin typeface="Cambria"/>
              </a:rPr>
              <a:t>The 1921 </a:t>
            </a:r>
            <a:r>
              <a:rPr lang="en-US" sz="1600" b="0" i="0" noProof="1">
                <a:solidFill>
                  <a:srgbClr val="000000"/>
                </a:solidFill>
                <a:latin typeface="Cambria"/>
              </a:rPr>
              <a:t>census is the only pre-1930s Mexican census with municipal-level population tabulations</a:t>
            </a:r>
            <a:r>
              <a:rPr sz="1600" b="0" i="0" dirty="0">
                <a:solidFill>
                  <a:srgbClr val="000000"/>
                </a:solidFill>
                <a:latin typeface="Cambria"/>
              </a:rPr>
              <a:t>.</a:t>
            </a:r>
          </a:p>
          <a:p>
            <a:pPr marL="320040" indent="-228600" algn="l">
              <a:lnSpc>
                <a:spcPct val="115000"/>
              </a:lnSpc>
              <a:spcBef>
                <a:spcPts val="800"/>
              </a:spcBef>
              <a:buFont typeface="Arial"/>
              <a:buChar char="•"/>
            </a:pPr>
            <a:r>
              <a:rPr sz="1600" b="0" i="0" dirty="0">
                <a:solidFill>
                  <a:srgbClr val="000000"/>
                </a:solidFill>
                <a:latin typeface="Cambria"/>
              </a:rPr>
              <a:t>Merge challenge: municipal boundaries changed substantially between 1921 and the CONAPO 2013–2024 panel; a crosswalk is feasible but non-trivial.</a:t>
            </a:r>
          </a:p>
          <a:p>
            <a:pPr marL="320040" indent="-228600" algn="l">
              <a:lnSpc>
                <a:spcPct val="115000"/>
              </a:lnSpc>
              <a:spcBef>
                <a:spcPts val="800"/>
              </a:spcBef>
              <a:buFont typeface="Arial"/>
              <a:buChar char="•"/>
            </a:pPr>
            <a:r>
              <a:rPr sz="1600" b="0" i="0" dirty="0">
                <a:solidFill>
                  <a:srgbClr val="000000"/>
                </a:solidFill>
                <a:latin typeface="Cambria"/>
              </a:rPr>
              <a:t>Open question: is it worth the effort of building that crosswalk given the likelihood of imperfect matches, or should we document the limitation and rely on post-arrival covariates?</a:t>
            </a: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15 / 31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EB — Strategies for the Cohort &amp; Window Model</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280160"/>
            <a:ext cx="10972800" cy="457200"/>
          </a:xfrm>
          <a:prstGeom prst="rect">
            <a:avLst/>
          </a:prstGeom>
          <a:noFill/>
        </p:spPr>
        <p:txBody>
          <a:bodyPr wrap="square" lIns="0" tIns="0" rIns="0" bIns="0" anchor="t">
            <a:spAutoFit/>
          </a:bodyPr>
          <a:lstStyle/>
          <a:p>
            <a:pPr algn="l">
              <a:lnSpc>
                <a:spcPct val="100000"/>
              </a:lnSpc>
            </a:pPr>
            <a:r>
              <a:rPr sz="2200" b="1" i="0">
                <a:solidFill>
                  <a:srgbClr val="000000"/>
                </a:solidFill>
                <a:latin typeface="Cambria"/>
              </a:rPr>
              <a:t>Treatment is binary but with two "intensities"</a:t>
            </a:r>
          </a:p>
        </p:txBody>
      </p:sp>
      <p:sp>
        <p:nvSpPr>
          <p:cNvPr id="5" name="TextBox 4"/>
          <p:cNvSpPr txBox="1"/>
          <p:nvPr/>
        </p:nvSpPr>
        <p:spPr>
          <a:xfrm>
            <a:off x="548640" y="2587752"/>
            <a:ext cx="10972800" cy="3042308"/>
          </a:xfrm>
          <a:prstGeom prst="rect">
            <a:avLst/>
          </a:prstGeom>
          <a:noFill/>
        </p:spPr>
        <p:txBody>
          <a:bodyPr wrap="square" lIns="0" tIns="0" rIns="0" bIns="0">
            <a:spAutoFit/>
          </a:bodyPr>
          <a:lstStyle/>
          <a:p>
            <a:pPr marL="320040" indent="-228600">
              <a:lnSpc>
                <a:spcPct val="115000"/>
              </a:lnSpc>
              <a:spcBef>
                <a:spcPts val="800"/>
              </a:spcBef>
              <a:buFont typeface="Arial"/>
              <a:buChar char="•"/>
            </a:pPr>
            <a:r>
              <a:rPr lang="en-US" sz="1500" b="1" dirty="0">
                <a:solidFill>
                  <a:srgbClr val="000000"/>
                </a:solidFill>
                <a:latin typeface="Cambria"/>
              </a:rPr>
              <a:t>Strategy 1. </a:t>
            </a:r>
            <a:r>
              <a:rPr lang="en-US" sz="1500" dirty="0">
                <a:solidFill>
                  <a:srgbClr val="000000"/>
                </a:solidFill>
                <a:latin typeface="Cambria"/>
              </a:rPr>
              <a:t>Presence (any window, 27 </a:t>
            </a:r>
            <a:r>
              <a:rPr lang="en-US" sz="1500" noProof="1">
                <a:solidFill>
                  <a:srgbClr val="000000"/>
                </a:solidFill>
                <a:latin typeface="Cambria"/>
              </a:rPr>
              <a:t>municipalities</a:t>
            </a:r>
            <a:r>
              <a:rPr lang="en-US" sz="1500" dirty="0">
                <a:solidFill>
                  <a:srgbClr val="000000"/>
                </a:solidFill>
                <a:latin typeface="Cambria"/>
              </a:rPr>
              <a:t>) vs. No presence (2,298 municipalities) — 2 groups. Balance a single dummy for any Spanish presence — simple but ignores the window structure the identification exploits.</a:t>
            </a:r>
          </a:p>
          <a:p>
            <a:pPr marL="320040" indent="-228600">
              <a:lnSpc>
                <a:spcPct val="115000"/>
              </a:lnSpc>
              <a:spcBef>
                <a:spcPts val="800"/>
              </a:spcBef>
              <a:buFont typeface="Arial"/>
              <a:buChar char="•"/>
            </a:pPr>
            <a:r>
              <a:rPr lang="en-US" sz="1500" b="1" dirty="0">
                <a:solidFill>
                  <a:srgbClr val="000000"/>
                </a:solidFill>
                <a:latin typeface="Cambria"/>
              </a:rPr>
              <a:t>Strategy 2. </a:t>
            </a:r>
            <a:r>
              <a:rPr lang="en-US" sz="1500" dirty="0">
                <a:solidFill>
                  <a:srgbClr val="000000"/>
                </a:solidFill>
                <a:latin typeface="Cambria"/>
              </a:rPr>
              <a:t>Early-only (36–55, 14 </a:t>
            </a:r>
            <a:r>
              <a:rPr lang="en-US" sz="1500" noProof="1">
                <a:solidFill>
                  <a:srgbClr val="000000"/>
                </a:solidFill>
                <a:latin typeface="Cambria"/>
              </a:rPr>
              <a:t>municipalities</a:t>
            </a:r>
            <a:r>
              <a:rPr lang="en-US" sz="1500" dirty="0">
                <a:solidFill>
                  <a:srgbClr val="000000"/>
                </a:solidFill>
                <a:latin typeface="Cambria"/>
              </a:rPr>
              <a:t>), Late-only (56–78, 7 </a:t>
            </a:r>
            <a:r>
              <a:rPr lang="en-US" sz="1500" noProof="1">
                <a:solidFill>
                  <a:srgbClr val="000000"/>
                </a:solidFill>
                <a:latin typeface="Cambria"/>
              </a:rPr>
              <a:t>municipalities</a:t>
            </a:r>
            <a:r>
              <a:rPr lang="en-US" sz="1500" dirty="0">
                <a:solidFill>
                  <a:srgbClr val="000000"/>
                </a:solidFill>
                <a:latin typeface="Cambria"/>
              </a:rPr>
              <a:t>), Both (6 </a:t>
            </a:r>
            <a:r>
              <a:rPr lang="en-US" sz="1500" noProof="1">
                <a:solidFill>
                  <a:srgbClr val="000000"/>
                </a:solidFill>
                <a:latin typeface="Cambria"/>
              </a:rPr>
              <a:t>municipalities</a:t>
            </a:r>
            <a:r>
              <a:rPr lang="en-US" sz="1500" dirty="0">
                <a:solidFill>
                  <a:srgbClr val="000000"/>
                </a:solidFill>
                <a:latin typeface="Cambria"/>
              </a:rPr>
              <a:t>), Never (2,298 municipalities) — 4 groups. Each treated group is balanced separately against Never; controls receive the average of the three resulting weights before estimation (Low convergence).</a:t>
            </a:r>
          </a:p>
          <a:p>
            <a:pPr marL="320040" indent="-228600">
              <a:lnSpc>
                <a:spcPct val="115000"/>
              </a:lnSpc>
              <a:spcBef>
                <a:spcPts val="800"/>
              </a:spcBef>
              <a:buFont typeface="Arial"/>
              <a:buChar char="•"/>
            </a:pPr>
            <a:r>
              <a:rPr lang="en-US" sz="1500" b="1" i="0" dirty="0">
                <a:solidFill>
                  <a:srgbClr val="000000"/>
                </a:solidFill>
                <a:latin typeface="Cambria"/>
              </a:rPr>
              <a:t>Strategy 3.</a:t>
            </a:r>
            <a:r>
              <a:rPr lang="en-US" sz="1500" b="0" i="0" dirty="0">
                <a:solidFill>
                  <a:srgbClr val="000000"/>
                </a:solidFill>
                <a:latin typeface="Cambria"/>
              </a:rPr>
              <a:t> Early-any (36–55 or 56–78, 20 </a:t>
            </a:r>
            <a:r>
              <a:rPr lang="en-US" sz="1500" noProof="1">
                <a:solidFill>
                  <a:srgbClr val="000000"/>
                </a:solidFill>
                <a:latin typeface="Cambria"/>
              </a:rPr>
              <a:t>municipalities</a:t>
            </a:r>
            <a:r>
              <a:rPr lang="en-US" sz="1500" b="0" i="0" dirty="0">
                <a:solidFill>
                  <a:srgbClr val="000000"/>
                </a:solidFill>
                <a:latin typeface="Cambria"/>
              </a:rPr>
              <a:t>), Late-only (7 </a:t>
            </a:r>
            <a:r>
              <a:rPr lang="en-US" sz="1500" noProof="1">
                <a:solidFill>
                  <a:srgbClr val="000000"/>
                </a:solidFill>
                <a:latin typeface="Cambria"/>
              </a:rPr>
              <a:t>municipalities</a:t>
            </a:r>
            <a:r>
              <a:rPr lang="en-US" sz="1500" b="0" i="0" dirty="0">
                <a:solidFill>
                  <a:srgbClr val="000000"/>
                </a:solidFill>
                <a:latin typeface="Cambria"/>
              </a:rPr>
              <a:t>), Never </a:t>
            </a:r>
            <a:r>
              <a:rPr lang="en-US" sz="1500" dirty="0">
                <a:solidFill>
                  <a:srgbClr val="000000"/>
                </a:solidFill>
                <a:latin typeface="Cambria"/>
              </a:rPr>
              <a:t>(2,298 municipalities) — 3 groups</a:t>
            </a:r>
            <a:r>
              <a:rPr lang="en-US" sz="1500" b="0" i="0" dirty="0">
                <a:solidFill>
                  <a:srgbClr val="000000"/>
                </a:solidFill>
                <a:latin typeface="Cambria"/>
              </a:rPr>
              <a:t>. Same averaging rule for controls.</a:t>
            </a:r>
          </a:p>
          <a:p>
            <a:pPr marL="91440" algn="l">
              <a:lnSpc>
                <a:spcPct val="115000"/>
              </a:lnSpc>
              <a:spcBef>
                <a:spcPts val="800"/>
              </a:spcBef>
            </a:pPr>
            <a:endParaRPr lang="es-AR" sz="1500" dirty="0">
              <a:solidFill>
                <a:srgbClr val="000000"/>
              </a:solidFill>
              <a:latin typeface="Cambria"/>
            </a:endParaRPr>
          </a:p>
          <a:p>
            <a:pPr marL="91440" algn="l">
              <a:lnSpc>
                <a:spcPct val="115000"/>
              </a:lnSpc>
              <a:spcBef>
                <a:spcPts val="800"/>
              </a:spcBef>
            </a:pPr>
            <a:r>
              <a:rPr sz="1500" b="0" i="0" dirty="0">
                <a:solidFill>
                  <a:srgbClr val="000000"/>
                </a:solidFill>
                <a:latin typeface="Cambria"/>
              </a:rPr>
              <a:t>Ideally the balancing groups should mirror the estimation groups — so the choice between is tied to the parametrization question on the cohort model.</a:t>
            </a:r>
          </a:p>
        </p:txBody>
      </p:sp>
      <p:sp>
        <p:nvSpPr>
          <p:cNvPr id="6" name="TextBox 5"/>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16 / 31</a:t>
            </a:r>
          </a:p>
        </p:txBody>
      </p:sp>
      <p:sp>
        <p:nvSpPr>
          <p:cNvPr id="7" name="TextBox 5">
            <a:extLst>
              <a:ext uri="{FF2B5EF4-FFF2-40B4-BE49-F238E27FC236}">
                <a16:creationId xmlns:a16="http://schemas.microsoft.com/office/drawing/2014/main" id="{E7B66CDA-A6FD-9ED7-F539-3D69362E5C5D}"/>
              </a:ext>
            </a:extLst>
          </p:cNvPr>
          <p:cNvSpPr txBox="1"/>
          <p:nvPr/>
        </p:nvSpPr>
        <p:spPr>
          <a:xfrm>
            <a:off x="731520" y="1947672"/>
            <a:ext cx="10698480" cy="640080"/>
          </a:xfrm>
          <a:prstGeom prst="rect">
            <a:avLst/>
          </a:prstGeom>
          <a:noFill/>
        </p:spPr>
        <p:txBody>
          <a:bodyPr wrap="square" lIns="0" tIns="0" rIns="0" bIns="0" anchor="t">
            <a:spAutoFit/>
          </a:bodyPr>
          <a:lstStyle/>
          <a:p>
            <a:pPr algn="ctr">
              <a:lnSpc>
                <a:spcPct val="100000"/>
              </a:lnSpc>
            </a:pPr>
            <a:r>
              <a:rPr sz="1700" b="0" i="1" dirty="0">
                <a:solidFill>
                  <a:srgbClr val="000000"/>
                </a:solidFill>
                <a:latin typeface="Cambria"/>
              </a:rPr>
              <a:t>log(remittances)ₘₜ = β₀ + β₁ · postₜ × 1{presence 36–55}ₘ + β₂ · postₜ × 1{presence 56–78}ₘ + </a:t>
            </a:r>
            <a:r>
              <a:rPr sz="1700" b="0" i="1" dirty="0" err="1">
                <a:solidFill>
                  <a:srgbClr val="000000"/>
                </a:solidFill>
                <a:latin typeface="Cambria"/>
              </a:rPr>
              <a:t>γ</a:t>
            </a:r>
            <a:r>
              <a:rPr sz="1700" b="0" i="1" dirty="0">
                <a:solidFill>
                  <a:srgbClr val="000000"/>
                </a:solidFill>
                <a:latin typeface="Cambria"/>
              </a:rPr>
              <a:t>ₜ + </a:t>
            </a:r>
            <a:r>
              <a:rPr sz="1700" b="0" i="1" dirty="0" err="1">
                <a:solidFill>
                  <a:srgbClr val="000000"/>
                </a:solidFill>
                <a:latin typeface="Cambria"/>
              </a:rPr>
              <a:t>δ</a:t>
            </a:r>
            <a:r>
              <a:rPr sz="1700" b="0" i="1" dirty="0">
                <a:solidFill>
                  <a:srgbClr val="000000"/>
                </a:solidFill>
                <a:latin typeface="Cambria"/>
              </a:rPr>
              <a:t>ₘ + uₘₜ</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i="0" dirty="0">
                <a:solidFill>
                  <a:srgbClr val="000000"/>
                </a:solidFill>
                <a:latin typeface="Cambria"/>
              </a:rPr>
              <a:t>EB Results — </a:t>
            </a:r>
            <a:r>
              <a:rPr lang="en-US" sz="3600" b="1" noProof="1">
                <a:solidFill>
                  <a:srgbClr val="000000"/>
                </a:solidFill>
                <a:latin typeface="Cambria"/>
              </a:rPr>
              <a:t>Strategy</a:t>
            </a:r>
            <a:r>
              <a:rPr lang="es-AR" sz="3600" b="1" dirty="0">
                <a:solidFill>
                  <a:srgbClr val="000000"/>
                </a:solidFill>
                <a:latin typeface="Cambria"/>
              </a:rPr>
              <a:t> 1 (</a:t>
            </a:r>
            <a:r>
              <a:rPr sz="3600" b="1" i="0" dirty="0">
                <a:solidFill>
                  <a:srgbClr val="000000"/>
                </a:solidFill>
                <a:latin typeface="Cambria"/>
              </a:rPr>
              <a:t>Any Presence vs. None</a:t>
            </a:r>
            <a:r>
              <a:rPr lang="es-ES" sz="3600" b="1" i="0" dirty="0">
                <a:solidFill>
                  <a:srgbClr val="000000"/>
                </a:solidFill>
                <a:latin typeface="Cambria"/>
              </a:rPr>
              <a:t>)</a:t>
            </a:r>
            <a:endParaRPr sz="3600" b="1" i="0" dirty="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764245" y="1572834"/>
            <a:ext cx="4250804" cy="1879938"/>
          </a:xfrm>
          <a:prstGeom prst="rect">
            <a:avLst/>
          </a:prstGeom>
          <a:noFill/>
        </p:spPr>
        <p:txBody>
          <a:bodyPr wrap="square" lIns="0" tIns="0" rIns="0" bIns="0">
            <a:spAutoFit/>
          </a:bodyPr>
          <a:lstStyle/>
          <a:p>
            <a:pPr marL="320040" indent="-228600" algn="l">
              <a:lnSpc>
                <a:spcPct val="115000"/>
              </a:lnSpc>
              <a:buFont typeface="Arial"/>
              <a:buChar char="•"/>
            </a:pPr>
            <a:r>
              <a:rPr lang="en-US" sz="1600" noProof="1">
                <a:solidFill>
                  <a:srgbClr val="000000"/>
                </a:solidFill>
                <a:latin typeface="Cambria"/>
              </a:rPr>
              <a:t>Treated = any Spanish presence across windows vs. Never.</a:t>
            </a:r>
          </a:p>
          <a:p>
            <a:pPr marL="320040" indent="-228600" algn="l">
              <a:lnSpc>
                <a:spcPct val="115000"/>
              </a:lnSpc>
              <a:spcBef>
                <a:spcPts val="800"/>
              </a:spcBef>
              <a:buFont typeface="Arial"/>
              <a:buChar char="•"/>
            </a:pPr>
            <a:r>
              <a:rPr lang="en-US" sz="1600" b="0" i="0" noProof="1">
                <a:solidFill>
                  <a:srgbClr val="000000"/>
                </a:solidFill>
                <a:latin typeface="Cambria"/>
              </a:rPr>
              <a:t>All four EB Options converge </a:t>
            </a:r>
            <a:r>
              <a:rPr lang="en-US" sz="1600" noProof="1">
                <a:solidFill>
                  <a:srgbClr val="000000"/>
                </a:solidFill>
                <a:latin typeface="Cambria"/>
              </a:rPr>
              <a:t>when balacing means. </a:t>
            </a:r>
            <a:r>
              <a:rPr lang="en-US" sz="1600" b="0" i="0" noProof="1">
                <a:solidFill>
                  <a:srgbClr val="000000"/>
                </a:solidFill>
                <a:latin typeface="Cambria"/>
              </a:rPr>
              <a:t>Options 2–4 additionally match variances.</a:t>
            </a:r>
          </a:p>
          <a:p>
            <a:pPr marL="320040" indent="-228600" algn="l">
              <a:lnSpc>
                <a:spcPct val="115000"/>
              </a:lnSpc>
              <a:spcBef>
                <a:spcPts val="800"/>
              </a:spcBef>
              <a:buFont typeface="Arial"/>
              <a:buChar char="•"/>
            </a:pPr>
            <a:r>
              <a:rPr lang="en-US" sz="1600" b="0" i="0" noProof="1">
                <a:solidFill>
                  <a:srgbClr val="000000"/>
                </a:solidFill>
                <a:latin typeface="Cambria"/>
              </a:rPr>
              <a:t>Some weights are relatively large</a:t>
            </a:r>
            <a:r>
              <a:rPr lang="en-US" sz="1600" noProof="1">
                <a:solidFill>
                  <a:srgbClr val="000000"/>
                </a:solidFill>
                <a:latin typeface="Cambria"/>
              </a:rPr>
              <a:t>.</a:t>
            </a:r>
            <a:endParaRPr lang="en-US" sz="1600" b="0" i="0" noProof="1">
              <a:solidFill>
                <a:srgbClr val="000000"/>
              </a:solidFill>
              <a:latin typeface="Cambria"/>
            </a:endParaRPr>
          </a:p>
        </p:txBody>
      </p:sp>
      <p:sp>
        <p:nvSpPr>
          <p:cNvPr id="6" name="TextBox 5"/>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19 / 31</a:t>
            </a:r>
          </a:p>
        </p:txBody>
      </p:sp>
      <p:graphicFrame>
        <p:nvGraphicFramePr>
          <p:cNvPr id="12" name="Tabla 11">
            <a:extLst>
              <a:ext uri="{FF2B5EF4-FFF2-40B4-BE49-F238E27FC236}">
                <a16:creationId xmlns:a16="http://schemas.microsoft.com/office/drawing/2014/main" id="{3492317B-1F66-2D32-7AB2-D045B9013CB1}"/>
              </a:ext>
            </a:extLst>
          </p:cNvPr>
          <p:cNvGraphicFramePr>
            <a:graphicFrameLocks noGrp="1"/>
          </p:cNvGraphicFramePr>
          <p:nvPr>
            <p:extLst>
              <p:ext uri="{D42A27DB-BD31-4B8C-83A1-F6EECF244321}">
                <p14:modId xmlns:p14="http://schemas.microsoft.com/office/powerpoint/2010/main" val="1294450014"/>
              </p:ext>
            </p:extLst>
          </p:nvPr>
        </p:nvGraphicFramePr>
        <p:xfrm>
          <a:off x="2004477" y="5341968"/>
          <a:ext cx="8244005" cy="1260000"/>
        </p:xfrm>
        <a:graphic>
          <a:graphicData uri="http://schemas.openxmlformats.org/drawingml/2006/table">
            <a:tbl>
              <a:tblPr>
                <a:tableStyleId>{9D7B26C5-4107-4FEC-AEDC-1716B250A1EF}</a:tableStyleId>
              </a:tblPr>
              <a:tblGrid>
                <a:gridCol w="471086">
                  <a:extLst>
                    <a:ext uri="{9D8B030D-6E8A-4147-A177-3AD203B41FA5}">
                      <a16:colId xmlns:a16="http://schemas.microsoft.com/office/drawing/2014/main" val="2542176691"/>
                    </a:ext>
                  </a:extLst>
                </a:gridCol>
                <a:gridCol w="706629">
                  <a:extLst>
                    <a:ext uri="{9D8B030D-6E8A-4147-A177-3AD203B41FA5}">
                      <a16:colId xmlns:a16="http://schemas.microsoft.com/office/drawing/2014/main" val="609851809"/>
                    </a:ext>
                  </a:extLst>
                </a:gridCol>
                <a:gridCol w="706629">
                  <a:extLst>
                    <a:ext uri="{9D8B030D-6E8A-4147-A177-3AD203B41FA5}">
                      <a16:colId xmlns:a16="http://schemas.microsoft.com/office/drawing/2014/main" val="3723570698"/>
                    </a:ext>
                  </a:extLst>
                </a:gridCol>
                <a:gridCol w="706629">
                  <a:extLst>
                    <a:ext uri="{9D8B030D-6E8A-4147-A177-3AD203B41FA5}">
                      <a16:colId xmlns:a16="http://schemas.microsoft.com/office/drawing/2014/main" val="3452870667"/>
                    </a:ext>
                  </a:extLst>
                </a:gridCol>
                <a:gridCol w="706629">
                  <a:extLst>
                    <a:ext uri="{9D8B030D-6E8A-4147-A177-3AD203B41FA5}">
                      <a16:colId xmlns:a16="http://schemas.microsoft.com/office/drawing/2014/main" val="3019905453"/>
                    </a:ext>
                  </a:extLst>
                </a:gridCol>
                <a:gridCol w="706629">
                  <a:extLst>
                    <a:ext uri="{9D8B030D-6E8A-4147-A177-3AD203B41FA5}">
                      <a16:colId xmlns:a16="http://schemas.microsoft.com/office/drawing/2014/main" val="3167963393"/>
                    </a:ext>
                  </a:extLst>
                </a:gridCol>
                <a:gridCol w="706629">
                  <a:extLst>
                    <a:ext uri="{9D8B030D-6E8A-4147-A177-3AD203B41FA5}">
                      <a16:colId xmlns:a16="http://schemas.microsoft.com/office/drawing/2014/main" val="3426264653"/>
                    </a:ext>
                  </a:extLst>
                </a:gridCol>
                <a:gridCol w="706629">
                  <a:extLst>
                    <a:ext uri="{9D8B030D-6E8A-4147-A177-3AD203B41FA5}">
                      <a16:colId xmlns:a16="http://schemas.microsoft.com/office/drawing/2014/main" val="1705163053"/>
                    </a:ext>
                  </a:extLst>
                </a:gridCol>
                <a:gridCol w="706629">
                  <a:extLst>
                    <a:ext uri="{9D8B030D-6E8A-4147-A177-3AD203B41FA5}">
                      <a16:colId xmlns:a16="http://schemas.microsoft.com/office/drawing/2014/main" val="458796982"/>
                    </a:ext>
                  </a:extLst>
                </a:gridCol>
                <a:gridCol w="706629">
                  <a:extLst>
                    <a:ext uri="{9D8B030D-6E8A-4147-A177-3AD203B41FA5}">
                      <a16:colId xmlns:a16="http://schemas.microsoft.com/office/drawing/2014/main" val="3226460875"/>
                    </a:ext>
                  </a:extLst>
                </a:gridCol>
                <a:gridCol w="706629">
                  <a:extLst>
                    <a:ext uri="{9D8B030D-6E8A-4147-A177-3AD203B41FA5}">
                      <a16:colId xmlns:a16="http://schemas.microsoft.com/office/drawing/2014/main" val="2316668653"/>
                    </a:ext>
                  </a:extLst>
                </a:gridCol>
                <a:gridCol w="706629">
                  <a:extLst>
                    <a:ext uri="{9D8B030D-6E8A-4147-A177-3AD203B41FA5}">
                      <a16:colId xmlns:a16="http://schemas.microsoft.com/office/drawing/2014/main" val="3321980196"/>
                    </a:ext>
                  </a:extLst>
                </a:gridCol>
              </a:tblGrid>
              <a:tr h="252000">
                <a:tc>
                  <a:txBody>
                    <a:bodyPr/>
                    <a:lstStyle/>
                    <a:p>
                      <a:pPr algn="ctr" fontAlgn="ctr">
                        <a:buNone/>
                      </a:pPr>
                      <a:r>
                        <a:rPr lang="es-AR" sz="1300" u="none" strike="noStrike">
                          <a:effectLst/>
                          <a:latin typeface="Cambria" panose="02040503050406030204" pitchFamily="18" charset="0"/>
                        </a:rPr>
                        <a:t> </a:t>
                      </a:r>
                      <a:endParaRPr lang="es-AR" sz="1300" b="1" i="0" u="none" strike="noStrike">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Mean</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Min</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Max</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Variance</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p1</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p5</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p10</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p50</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p90</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p95</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p99</a:t>
                      </a:r>
                      <a:endParaRPr lang="es-AR" sz="1300" b="1" i="0" u="none" strike="noStrike" dirty="0">
                        <a:solidFill>
                          <a:srgbClr val="FFFFFF"/>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4113149567"/>
                  </a:ext>
                </a:extLst>
              </a:tr>
              <a:tr h="252000">
                <a:tc>
                  <a:txBody>
                    <a:bodyPr/>
                    <a:lstStyle/>
                    <a:p>
                      <a:pPr algn="ctr" fontAlgn="ctr">
                        <a:buNone/>
                      </a:pPr>
                      <a:r>
                        <a:rPr lang="es-AR" sz="1300" u="none" strike="noStrike" dirty="0">
                          <a:effectLst/>
                          <a:latin typeface="Cambria" panose="02040503050406030204" pitchFamily="18" charset="0"/>
                        </a:rPr>
                        <a:t>w1.1</a:t>
                      </a:r>
                      <a:endParaRPr lang="es-AR" sz="1300" b="1"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0,023</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0,005</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7,520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0,037</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0,005</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0,005</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0,005</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0,005</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0,016</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1,000</a:t>
                      </a:r>
                      <a:endParaRPr lang="es-AR" sz="1300" b="0" i="0" u="none" strike="noStrike">
                        <a:solidFill>
                          <a:srgbClr val="000000"/>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1051299403"/>
                  </a:ext>
                </a:extLst>
              </a:tr>
              <a:tr h="252000">
                <a:tc>
                  <a:txBody>
                    <a:bodyPr/>
                    <a:lstStyle/>
                    <a:p>
                      <a:pPr algn="ctr" fontAlgn="ctr">
                        <a:buNone/>
                      </a:pPr>
                      <a:r>
                        <a:rPr lang="es-AR" sz="1300" u="none" strike="noStrike" dirty="0">
                          <a:effectLst/>
                          <a:latin typeface="Cambria" panose="02040503050406030204" pitchFamily="18" charset="0"/>
                        </a:rPr>
                        <a:t>w1.2</a:t>
                      </a:r>
                      <a:endParaRPr lang="es-AR" sz="1300" b="1"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0,023</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2,519</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0,019</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0,011</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0,042</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1,000</a:t>
                      </a:r>
                      <a:endParaRPr lang="es-AR" sz="1300" b="0" i="0" u="none" strike="noStrike">
                        <a:solidFill>
                          <a:srgbClr val="000000"/>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1568324382"/>
                  </a:ext>
                </a:extLst>
              </a:tr>
              <a:tr h="252000">
                <a:tc>
                  <a:txBody>
                    <a:bodyPr/>
                    <a:lstStyle/>
                    <a:p>
                      <a:pPr algn="ctr" fontAlgn="ctr">
                        <a:buNone/>
                      </a:pPr>
                      <a:r>
                        <a:rPr lang="es-AR" sz="1300" u="none" strike="noStrike" dirty="0">
                          <a:effectLst/>
                          <a:latin typeface="Cambria" panose="02040503050406030204" pitchFamily="18" charset="0"/>
                        </a:rPr>
                        <a:t>w1.3</a:t>
                      </a:r>
                      <a:endParaRPr lang="es-AR" sz="1300" b="1"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0,023</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2,929</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0,020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0,044</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1,000</a:t>
                      </a:r>
                      <a:endParaRPr lang="es-AR" sz="1300" b="0" i="0" u="none" strike="noStrike">
                        <a:solidFill>
                          <a:srgbClr val="000000"/>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2960110200"/>
                  </a:ext>
                </a:extLst>
              </a:tr>
              <a:tr h="252000">
                <a:tc>
                  <a:txBody>
                    <a:bodyPr/>
                    <a:lstStyle/>
                    <a:p>
                      <a:pPr algn="ctr" fontAlgn="ctr">
                        <a:buNone/>
                      </a:pPr>
                      <a:r>
                        <a:rPr lang="es-AR" sz="1300" u="none" strike="noStrike" dirty="0">
                          <a:effectLst/>
                          <a:latin typeface="Cambria" panose="02040503050406030204" pitchFamily="18" charset="0"/>
                        </a:rPr>
                        <a:t>w1.4</a:t>
                      </a:r>
                      <a:endParaRPr lang="es-AR" sz="1300" b="1"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0,023</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2,836</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0,020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0,007</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0,037</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1,000</a:t>
                      </a:r>
                      <a:endParaRPr lang="es-AR" sz="1300" b="0" i="0" u="none" strike="noStrike" dirty="0">
                        <a:solidFill>
                          <a:srgbClr val="000000"/>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1873322262"/>
                  </a:ext>
                </a:extLst>
              </a:tr>
            </a:tbl>
          </a:graphicData>
        </a:graphic>
      </p:graphicFrame>
      <p:pic>
        <p:nvPicPr>
          <p:cNvPr id="14" name="Imagen 13">
            <a:extLst>
              <a:ext uri="{FF2B5EF4-FFF2-40B4-BE49-F238E27FC236}">
                <a16:creationId xmlns:a16="http://schemas.microsoft.com/office/drawing/2014/main" id="{944D62C2-363D-FBFE-273A-26FF854D3D0A}"/>
              </a:ext>
            </a:extLst>
          </p:cNvPr>
          <p:cNvPicPr>
            <a:picLocks noChangeAspect="1"/>
          </p:cNvPicPr>
          <p:nvPr/>
        </p:nvPicPr>
        <p:blipFill>
          <a:blip r:embed="rId2"/>
          <a:stretch>
            <a:fillRect/>
          </a:stretch>
        </p:blipFill>
        <p:spPr>
          <a:xfrm>
            <a:off x="548640" y="1275999"/>
            <a:ext cx="6180000" cy="370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95E49-5DE2-A0C7-8884-0F2515F0C17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3A3BDD-8708-281E-8977-85DE2D370A3C}"/>
              </a:ext>
            </a:extLst>
          </p:cNvPr>
          <p:cNvSpPr txBox="1"/>
          <p:nvPr/>
        </p:nvSpPr>
        <p:spPr>
          <a:xfrm>
            <a:off x="548640" y="256032"/>
            <a:ext cx="11155680" cy="553998"/>
          </a:xfrm>
          <a:prstGeom prst="rect">
            <a:avLst/>
          </a:prstGeom>
          <a:noFill/>
        </p:spPr>
        <p:txBody>
          <a:bodyPr wrap="square" lIns="0" tIns="0" rIns="0" bIns="0" anchor="t">
            <a:spAutoFit/>
          </a:bodyPr>
          <a:lstStyle/>
          <a:p>
            <a:r>
              <a:rPr sz="3600" b="1" i="0" dirty="0">
                <a:solidFill>
                  <a:srgbClr val="000000"/>
                </a:solidFill>
                <a:latin typeface="Cambria"/>
              </a:rPr>
              <a:t>EB Results — </a:t>
            </a:r>
            <a:r>
              <a:rPr lang="en-US" sz="3600" b="1" noProof="1">
                <a:solidFill>
                  <a:srgbClr val="000000"/>
                </a:solidFill>
                <a:latin typeface="Cambria"/>
              </a:rPr>
              <a:t>Strategy</a:t>
            </a:r>
            <a:r>
              <a:rPr lang="es-AR" sz="3600" b="1" dirty="0">
                <a:solidFill>
                  <a:srgbClr val="000000"/>
                </a:solidFill>
                <a:latin typeface="Cambria"/>
              </a:rPr>
              <a:t> 1 (</a:t>
            </a:r>
            <a:r>
              <a:rPr sz="3600" b="1" i="0" dirty="0">
                <a:solidFill>
                  <a:srgbClr val="000000"/>
                </a:solidFill>
                <a:latin typeface="Cambria"/>
              </a:rPr>
              <a:t>Any Presence vs. None</a:t>
            </a:r>
            <a:r>
              <a:rPr lang="es-ES" sz="3600" b="1" i="0" dirty="0">
                <a:solidFill>
                  <a:srgbClr val="000000"/>
                </a:solidFill>
                <a:latin typeface="Cambria"/>
              </a:rPr>
              <a:t>)</a:t>
            </a:r>
            <a:endParaRPr sz="3600" b="1" i="0" dirty="0">
              <a:solidFill>
                <a:srgbClr val="000000"/>
              </a:solidFill>
              <a:latin typeface="Cambria"/>
            </a:endParaRPr>
          </a:p>
        </p:txBody>
      </p:sp>
      <p:sp>
        <p:nvSpPr>
          <p:cNvPr id="3" name="Rectangle 2">
            <a:extLst>
              <a:ext uri="{FF2B5EF4-FFF2-40B4-BE49-F238E27FC236}">
                <a16:creationId xmlns:a16="http://schemas.microsoft.com/office/drawing/2014/main" id="{0C2CC172-1178-CD64-507D-7118DD0C588D}"/>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39BB3450-B8E3-FE6F-CE35-49A9FF6F6052}"/>
              </a:ext>
            </a:extLst>
          </p:cNvPr>
          <p:cNvSpPr txBox="1"/>
          <p:nvPr/>
        </p:nvSpPr>
        <p:spPr>
          <a:xfrm>
            <a:off x="548640" y="1747199"/>
            <a:ext cx="10739534" cy="258982"/>
          </a:xfrm>
          <a:prstGeom prst="rect">
            <a:avLst/>
          </a:prstGeom>
          <a:noFill/>
        </p:spPr>
        <p:txBody>
          <a:bodyPr wrap="square" lIns="0" tIns="0" rIns="0" bIns="0">
            <a:spAutoFit/>
          </a:bodyPr>
          <a:lstStyle/>
          <a:p>
            <a:pPr marL="320040" indent="-228600" algn="l">
              <a:lnSpc>
                <a:spcPct val="115000"/>
              </a:lnSpc>
              <a:spcBef>
                <a:spcPts val="800"/>
              </a:spcBef>
              <a:buFont typeface="Arial"/>
              <a:buChar char="•"/>
            </a:pPr>
            <a:r>
              <a:rPr lang="en-US" sz="1600" b="0" i="0" noProof="1">
                <a:solidFill>
                  <a:srgbClr val="000000"/>
                </a:solidFill>
                <a:latin typeface="Cambria"/>
              </a:rPr>
              <a:t>Pre-balance imbalances are large as expected — Spaniards cluster in larger, denser, more-developed municipalities.</a:t>
            </a:r>
          </a:p>
        </p:txBody>
      </p:sp>
      <p:sp>
        <p:nvSpPr>
          <p:cNvPr id="6" name="TextBox 5">
            <a:extLst>
              <a:ext uri="{FF2B5EF4-FFF2-40B4-BE49-F238E27FC236}">
                <a16:creationId xmlns:a16="http://schemas.microsoft.com/office/drawing/2014/main" id="{722ACA90-9659-F45F-9F91-3B19495366B9}"/>
              </a:ext>
            </a:extLst>
          </p:cNvPr>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19 / 31</a:t>
            </a:r>
          </a:p>
        </p:txBody>
      </p:sp>
      <p:graphicFrame>
        <p:nvGraphicFramePr>
          <p:cNvPr id="10" name="Tabla 9">
            <a:extLst>
              <a:ext uri="{FF2B5EF4-FFF2-40B4-BE49-F238E27FC236}">
                <a16:creationId xmlns:a16="http://schemas.microsoft.com/office/drawing/2014/main" id="{CCDEAAF6-7FDE-599B-6114-BDEDE5CF54A8}"/>
              </a:ext>
            </a:extLst>
          </p:cNvPr>
          <p:cNvGraphicFramePr>
            <a:graphicFrameLocks noGrp="1"/>
          </p:cNvGraphicFramePr>
          <p:nvPr>
            <p:extLst>
              <p:ext uri="{D42A27DB-BD31-4B8C-83A1-F6EECF244321}">
                <p14:modId xmlns:p14="http://schemas.microsoft.com/office/powerpoint/2010/main" val="1406612377"/>
              </p:ext>
            </p:extLst>
          </p:nvPr>
        </p:nvGraphicFramePr>
        <p:xfrm>
          <a:off x="1794462" y="2596896"/>
          <a:ext cx="8247890" cy="3434685"/>
        </p:xfrm>
        <a:graphic>
          <a:graphicData uri="http://schemas.openxmlformats.org/drawingml/2006/table">
            <a:tbl>
              <a:tblPr>
                <a:tableStyleId>{9D7B26C5-4107-4FEC-AEDC-1716B250A1EF}</a:tableStyleId>
              </a:tblPr>
              <a:tblGrid>
                <a:gridCol w="2118535">
                  <a:extLst>
                    <a:ext uri="{9D8B030D-6E8A-4147-A177-3AD203B41FA5}">
                      <a16:colId xmlns:a16="http://schemas.microsoft.com/office/drawing/2014/main" val="339337374"/>
                    </a:ext>
                  </a:extLst>
                </a:gridCol>
                <a:gridCol w="637619">
                  <a:extLst>
                    <a:ext uri="{9D8B030D-6E8A-4147-A177-3AD203B41FA5}">
                      <a16:colId xmlns:a16="http://schemas.microsoft.com/office/drawing/2014/main" val="473037519"/>
                    </a:ext>
                  </a:extLst>
                </a:gridCol>
                <a:gridCol w="761026">
                  <a:extLst>
                    <a:ext uri="{9D8B030D-6E8A-4147-A177-3AD203B41FA5}">
                      <a16:colId xmlns:a16="http://schemas.microsoft.com/office/drawing/2014/main" val="2195790081"/>
                    </a:ext>
                  </a:extLst>
                </a:gridCol>
                <a:gridCol w="514210">
                  <a:extLst>
                    <a:ext uri="{9D8B030D-6E8A-4147-A177-3AD203B41FA5}">
                      <a16:colId xmlns:a16="http://schemas.microsoft.com/office/drawing/2014/main" val="324446349"/>
                    </a:ext>
                  </a:extLst>
                </a:gridCol>
                <a:gridCol w="740456">
                  <a:extLst>
                    <a:ext uri="{9D8B030D-6E8A-4147-A177-3AD203B41FA5}">
                      <a16:colId xmlns:a16="http://schemas.microsoft.com/office/drawing/2014/main" val="3249939168"/>
                    </a:ext>
                  </a:extLst>
                </a:gridCol>
                <a:gridCol w="966707">
                  <a:extLst>
                    <a:ext uri="{9D8B030D-6E8A-4147-A177-3AD203B41FA5}">
                      <a16:colId xmlns:a16="http://schemas.microsoft.com/office/drawing/2014/main" val="2031076259"/>
                    </a:ext>
                  </a:extLst>
                </a:gridCol>
                <a:gridCol w="514210">
                  <a:extLst>
                    <a:ext uri="{9D8B030D-6E8A-4147-A177-3AD203B41FA5}">
                      <a16:colId xmlns:a16="http://schemas.microsoft.com/office/drawing/2014/main" val="2650476095"/>
                    </a:ext>
                  </a:extLst>
                </a:gridCol>
                <a:gridCol w="617046">
                  <a:extLst>
                    <a:ext uri="{9D8B030D-6E8A-4147-A177-3AD203B41FA5}">
                      <a16:colId xmlns:a16="http://schemas.microsoft.com/office/drawing/2014/main" val="3954909668"/>
                    </a:ext>
                  </a:extLst>
                </a:gridCol>
                <a:gridCol w="863871">
                  <a:extLst>
                    <a:ext uri="{9D8B030D-6E8A-4147-A177-3AD203B41FA5}">
                      <a16:colId xmlns:a16="http://schemas.microsoft.com/office/drawing/2014/main" val="960349322"/>
                    </a:ext>
                  </a:extLst>
                </a:gridCol>
                <a:gridCol w="514210">
                  <a:extLst>
                    <a:ext uri="{9D8B030D-6E8A-4147-A177-3AD203B41FA5}">
                      <a16:colId xmlns:a16="http://schemas.microsoft.com/office/drawing/2014/main" val="2320509216"/>
                    </a:ext>
                  </a:extLst>
                </a:gridCol>
              </a:tblGrid>
              <a:tr h="273775">
                <a:tc>
                  <a:txBody>
                    <a:bodyPr/>
                    <a:lstStyle/>
                    <a:p>
                      <a:pPr>
                        <a:buNone/>
                      </a:pPr>
                      <a:br>
                        <a:rPr lang="en-US" sz="1300" noProof="1">
                          <a:effectLst/>
                          <a:latin typeface="Cambria" panose="02040503050406030204" pitchFamily="18" charset="0"/>
                        </a:rPr>
                      </a:br>
                      <a:endParaRPr lang="en-US" sz="1300" noProof="1">
                        <a:effectLst/>
                        <a:latin typeface="Cambria" panose="02040503050406030204" pitchFamily="18" charset="0"/>
                      </a:endParaRPr>
                    </a:p>
                  </a:txBody>
                  <a:tcPr marL="12558" marR="12558" marT="12558" marB="12558"/>
                </a:tc>
                <a:tc gridSpan="3">
                  <a:txBody>
                    <a:bodyPr/>
                    <a:lstStyle/>
                    <a:p>
                      <a:pPr algn="ctr">
                        <a:buNone/>
                      </a:pPr>
                      <a:r>
                        <a:rPr lang="en-US" sz="1300" b="1" noProof="1">
                          <a:solidFill>
                            <a:srgbClr val="000000"/>
                          </a:solidFill>
                          <a:effectLst/>
                          <a:latin typeface="Cambria" panose="02040503050406030204" pitchFamily="18" charset="0"/>
                        </a:rPr>
                        <a:t>Control</a:t>
                      </a:r>
                    </a:p>
                  </a:txBody>
                  <a:tcPr marL="12558" marR="12558" marT="12558" marB="12558" anchor="ctr"/>
                </a:tc>
                <a:tc hMerge="1">
                  <a:txBody>
                    <a:bodyPr/>
                    <a:lstStyle/>
                    <a:p>
                      <a:endParaRPr/>
                    </a:p>
                  </a:txBody>
                  <a:tcPr marL="12558" marR="12558" marT="12558" marB="12558"/>
                </a:tc>
                <a:tc hMerge="1">
                  <a:txBody>
                    <a:bodyPr/>
                    <a:lstStyle/>
                    <a:p>
                      <a:endParaRPr dirty="0"/>
                    </a:p>
                  </a:txBody>
                  <a:tcPr marL="12558" marR="12558" marT="12558" marB="12558"/>
                </a:tc>
                <a:tc gridSpan="3">
                  <a:txBody>
                    <a:bodyPr/>
                    <a:lstStyle/>
                    <a:p>
                      <a:pPr algn="ctr">
                        <a:buNone/>
                      </a:pPr>
                      <a:r>
                        <a:rPr lang="en-US" sz="1300" b="1" dirty="0">
                          <a:effectLst/>
                          <a:latin typeface="Cambria" panose="02040503050406030204" pitchFamily="18" charset="0"/>
                        </a:rPr>
                        <a:t>Treatment</a:t>
                      </a:r>
                      <a:endParaRPr lang="en-US" sz="1300" b="1" noProof="1">
                        <a:solidFill>
                          <a:srgbClr val="000000"/>
                        </a:solidFill>
                        <a:effectLst/>
                        <a:latin typeface="Cambria" panose="02040503050406030204" pitchFamily="18" charset="0"/>
                      </a:endParaRPr>
                    </a:p>
                  </a:txBody>
                  <a:tcPr marL="12558" marR="12558" marT="12558" marB="12558" anchor="ctr"/>
                </a:tc>
                <a:tc hMerge="1">
                  <a:txBody>
                    <a:bodyPr/>
                    <a:lstStyle/>
                    <a:p>
                      <a:endParaRPr/>
                    </a:p>
                  </a:txBody>
                  <a:tcPr marL="12558" marR="12558" marT="12558" marB="12558"/>
                </a:tc>
                <a:tc hMerge="1">
                  <a:txBody>
                    <a:bodyPr/>
                    <a:lstStyle/>
                    <a:p>
                      <a:endParaRPr dirty="0"/>
                    </a:p>
                  </a:txBody>
                  <a:tcPr marL="12558" marR="12558" marT="12558" marB="12558"/>
                </a:tc>
                <a:tc gridSpan="3">
                  <a:txBody>
                    <a:bodyPr/>
                    <a:lstStyle/>
                    <a:p>
                      <a:pPr algn="ctr">
                        <a:buNone/>
                      </a:pPr>
                      <a:r>
                        <a:rPr lang="en-US" sz="1300" b="1" noProof="1">
                          <a:solidFill>
                            <a:srgbClr val="000000"/>
                          </a:solidFill>
                          <a:effectLst/>
                          <a:latin typeface="Cambria" panose="02040503050406030204" pitchFamily="18" charset="0"/>
                        </a:rPr>
                        <a:t>Total</a:t>
                      </a:r>
                    </a:p>
                  </a:txBody>
                  <a:tcPr marL="12558" marR="12558" marT="12558" marB="12558" anchor="ctr"/>
                </a:tc>
                <a:tc hMerge="1">
                  <a:txBody>
                    <a:bodyPr/>
                    <a:lstStyle/>
                    <a:p>
                      <a:endParaRPr/>
                    </a:p>
                  </a:txBody>
                  <a:tcPr marL="12558" marR="12558" marT="12558" marB="12558"/>
                </a:tc>
                <a:tc hMerge="1">
                  <a:txBody>
                    <a:bodyPr/>
                    <a:lstStyle/>
                    <a:p>
                      <a:endParaRPr dirty="0"/>
                    </a:p>
                  </a:txBody>
                  <a:tcPr marL="12558" marR="12558" marT="12558" marB="12558"/>
                </a:tc>
                <a:extLst>
                  <a:ext uri="{0D108BD9-81ED-4DB2-BD59-A6C34878D82A}">
                    <a16:rowId xmlns:a16="http://schemas.microsoft.com/office/drawing/2014/main" val="2186136846"/>
                  </a:ext>
                </a:extLst>
              </a:tr>
              <a:tr h="337774">
                <a:tc>
                  <a:txBody>
                    <a:bodyPr/>
                    <a:lstStyle/>
                    <a:p>
                      <a:pPr>
                        <a:buNone/>
                      </a:pPr>
                      <a:br>
                        <a:rPr lang="en-US" sz="1300" noProof="1">
                          <a:effectLst/>
                          <a:latin typeface="Cambria" panose="02040503050406030204" pitchFamily="18" charset="0"/>
                        </a:rPr>
                      </a:br>
                      <a:endParaRPr lang="en-US" sz="1300" noProof="1">
                        <a:effectLst/>
                        <a:latin typeface="Cambria" panose="02040503050406030204" pitchFamily="18" charset="0"/>
                      </a:endParaRPr>
                    </a:p>
                  </a:txBody>
                  <a:tcPr marL="12558" marR="12558" marT="12558" marB="12558"/>
                </a:tc>
                <a:tc>
                  <a:txBody>
                    <a:bodyPr/>
                    <a:lstStyle/>
                    <a:p>
                      <a:pPr algn="ctr">
                        <a:buNone/>
                      </a:pPr>
                      <a:r>
                        <a:rPr lang="en-US" sz="1300" b="1" noProof="1">
                          <a:solidFill>
                            <a:srgbClr val="000000"/>
                          </a:solidFill>
                          <a:effectLst/>
                          <a:latin typeface="Cambria" panose="02040503050406030204" pitchFamily="18" charset="0"/>
                        </a:rPr>
                        <a:t>Mean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Variance</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Mean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Variance</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Mean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Variance</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N</a:t>
                      </a:r>
                      <a:endParaRPr lang="en-US" sz="1300" b="1" noProof="1">
                        <a:effectLst/>
                        <a:latin typeface="Cambria" panose="02040503050406030204" pitchFamily="18" charset="0"/>
                      </a:endParaRPr>
                    </a:p>
                  </a:txBody>
                  <a:tcPr marL="12558" marR="12558" marT="12558" marB="12558" anchor="ctr"/>
                </a:tc>
                <a:extLst>
                  <a:ext uri="{0D108BD9-81ED-4DB2-BD59-A6C34878D82A}">
                    <a16:rowId xmlns:a16="http://schemas.microsoft.com/office/drawing/2014/main" val="2744636715"/>
                  </a:ext>
                </a:extLst>
              </a:tr>
              <a:tr h="337774">
                <a:tc>
                  <a:txBody>
                    <a:bodyPr/>
                    <a:lstStyle/>
                    <a:p>
                      <a:pPr algn="l" fontAlgn="ctr">
                        <a:buNone/>
                      </a:pPr>
                      <a:r>
                        <a:rPr lang="en-US" sz="1100" b="1" i="0" u="none" strike="noStrike" noProof="1">
                          <a:solidFill>
                            <a:srgbClr val="000000"/>
                          </a:solidFill>
                          <a:effectLst/>
                          <a:latin typeface="Cambria" panose="02040503050406030204" pitchFamily="18" charset="0"/>
                        </a:rPr>
                        <a:t>Remittances (pre-average)</a:t>
                      </a:r>
                    </a:p>
                  </a:txBody>
                  <a:tcPr marL="9525" marR="9525" marT="9525" marB="0" anchor="ctr"/>
                </a:tc>
                <a:tc>
                  <a:txBody>
                    <a:bodyPr/>
                    <a:lstStyle/>
                    <a:p>
                      <a:pPr algn="ctr">
                        <a:buNone/>
                      </a:pPr>
                      <a:r>
                        <a:rPr lang="en-US" sz="1300" noProof="1">
                          <a:solidFill>
                            <a:srgbClr val="000000"/>
                          </a:solidFill>
                          <a:effectLst/>
                          <a:latin typeface="Cambria" panose="02040503050406030204" pitchFamily="18" charset="0"/>
                        </a:rPr>
                        <a:t>12.030</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898.155</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2,296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198.645</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65,135.086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14.199</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2,017.283</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2,323</a:t>
                      </a:r>
                      <a:endParaRPr lang="en-US" sz="1300" noProof="1">
                        <a:effectLst/>
                        <a:latin typeface="Cambria" panose="02040503050406030204" pitchFamily="18" charset="0"/>
                      </a:endParaRPr>
                    </a:p>
                  </a:txBody>
                  <a:tcPr marL="12558" marR="12558" marT="12558" marB="12558" anchor="ctr"/>
                </a:tc>
                <a:extLst>
                  <a:ext uri="{0D108BD9-81ED-4DB2-BD59-A6C34878D82A}">
                    <a16:rowId xmlns:a16="http://schemas.microsoft.com/office/drawing/2014/main" val="1142984417"/>
                  </a:ext>
                </a:extLst>
              </a:tr>
              <a:tr h="273775">
                <a:tc>
                  <a:txBody>
                    <a:bodyPr/>
                    <a:lstStyle/>
                    <a:p>
                      <a:pPr algn="l" fontAlgn="ctr">
                        <a:buNone/>
                      </a:pPr>
                      <a:r>
                        <a:rPr lang="en-US" sz="1100" b="1" i="0" u="none" strike="noStrike" noProof="1">
                          <a:solidFill>
                            <a:srgbClr val="000000"/>
                          </a:solidFill>
                          <a:effectLst/>
                          <a:latin typeface="Cambria" panose="02040503050406030204" pitchFamily="18" charset="0"/>
                        </a:rPr>
                        <a:t>Log remittances (pre-average)</a:t>
                      </a:r>
                    </a:p>
                  </a:txBody>
                  <a:tcPr marL="9525" marR="9525" marT="9525" marB="0" anchor="ctr"/>
                </a:tc>
                <a:tc>
                  <a:txBody>
                    <a:bodyPr/>
                    <a:lstStyle/>
                    <a:p>
                      <a:pPr algn="ctr">
                        <a:buNone/>
                      </a:pPr>
                      <a:r>
                        <a:rPr lang="en-US" sz="1300" noProof="1">
                          <a:solidFill>
                            <a:srgbClr val="000000"/>
                          </a:solidFill>
                          <a:effectLst/>
                          <a:latin typeface="Cambria" panose="02040503050406030204" pitchFamily="18" charset="0"/>
                        </a:rPr>
                        <a:t>1.260</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2.076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2,296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4.632</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1.544</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1.299</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2.200</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2,323</a:t>
                      </a:r>
                      <a:endParaRPr lang="en-US" sz="1300" noProof="1">
                        <a:effectLst/>
                        <a:latin typeface="Cambria" panose="02040503050406030204" pitchFamily="18" charset="0"/>
                      </a:endParaRPr>
                    </a:p>
                  </a:txBody>
                  <a:tcPr marL="12558" marR="12558" marT="12558" marB="12558" anchor="ctr"/>
                </a:tc>
                <a:extLst>
                  <a:ext uri="{0D108BD9-81ED-4DB2-BD59-A6C34878D82A}">
                    <a16:rowId xmlns:a16="http://schemas.microsoft.com/office/drawing/2014/main" val="1419162376"/>
                  </a:ext>
                </a:extLst>
              </a:tr>
              <a:tr h="273775">
                <a:tc>
                  <a:txBody>
                    <a:bodyPr/>
                    <a:lstStyle/>
                    <a:p>
                      <a:pPr algn="l" fontAlgn="ctr">
                        <a:buNone/>
                      </a:pPr>
                      <a:r>
                        <a:rPr lang="en-US" sz="1100" b="1" i="0" u="none" strike="noStrike" noProof="1">
                          <a:solidFill>
                            <a:srgbClr val="000000"/>
                          </a:solidFill>
                          <a:effectLst/>
                          <a:latin typeface="Cambria" panose="02040503050406030204" pitchFamily="18" charset="0"/>
                        </a:rPr>
                        <a:t>U.S. migrants (2000, %)</a:t>
                      </a:r>
                    </a:p>
                  </a:txBody>
                  <a:tcPr marL="9525" marR="9525" marT="9525" marB="0" anchor="ctr"/>
                </a:tc>
                <a:tc>
                  <a:txBody>
                    <a:bodyPr/>
                    <a:lstStyle/>
                    <a:p>
                      <a:pPr algn="ctr">
                        <a:buNone/>
                      </a:pPr>
                      <a:r>
                        <a:rPr lang="en-US" sz="1300" noProof="1">
                          <a:solidFill>
                            <a:srgbClr val="000000"/>
                          </a:solidFill>
                          <a:effectLst/>
                          <a:latin typeface="Cambria" panose="02040503050406030204" pitchFamily="18" charset="0"/>
                        </a:rPr>
                        <a:t>6.475</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47.929</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2,296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3.377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6.444</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6.439</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47.554</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2,323</a:t>
                      </a:r>
                      <a:endParaRPr lang="en-US" sz="1300" noProof="1">
                        <a:effectLst/>
                        <a:latin typeface="Cambria" panose="02040503050406030204" pitchFamily="18" charset="0"/>
                      </a:endParaRPr>
                    </a:p>
                  </a:txBody>
                  <a:tcPr marL="12558" marR="12558" marT="12558" marB="12558" anchor="ctr"/>
                </a:tc>
                <a:extLst>
                  <a:ext uri="{0D108BD9-81ED-4DB2-BD59-A6C34878D82A}">
                    <a16:rowId xmlns:a16="http://schemas.microsoft.com/office/drawing/2014/main" val="2490280795"/>
                  </a:ext>
                </a:extLst>
              </a:tr>
              <a:tr h="273775">
                <a:tc>
                  <a:txBody>
                    <a:bodyPr/>
                    <a:lstStyle/>
                    <a:p>
                      <a:pPr algn="l" fontAlgn="ctr">
                        <a:buNone/>
                      </a:pPr>
                      <a:r>
                        <a:rPr lang="en-US" sz="1100" b="1" i="0" u="none" strike="noStrike" noProof="1">
                          <a:solidFill>
                            <a:srgbClr val="000000"/>
                          </a:solidFill>
                          <a:effectLst/>
                          <a:latin typeface="Cambria" panose="02040503050406030204" pitchFamily="18" charset="0"/>
                        </a:rPr>
                        <a:t>U.S. migrants (2010, %)</a:t>
                      </a:r>
                    </a:p>
                  </a:txBody>
                  <a:tcPr marL="9525" marR="9525" marT="9525" marB="0" anchor="ctr"/>
                </a:tc>
                <a:tc>
                  <a:txBody>
                    <a:bodyPr/>
                    <a:lstStyle/>
                    <a:p>
                      <a:pPr algn="ctr">
                        <a:buNone/>
                      </a:pPr>
                      <a:r>
                        <a:rPr lang="en-US" sz="1300" noProof="1">
                          <a:solidFill>
                            <a:srgbClr val="000000"/>
                          </a:solidFill>
                          <a:effectLst/>
                          <a:latin typeface="Cambria" panose="02040503050406030204" pitchFamily="18" charset="0"/>
                        </a:rPr>
                        <a:t>3.914</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17.352</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2,296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1.244</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906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3.883</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17.242</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2,323</a:t>
                      </a:r>
                      <a:endParaRPr lang="en-US" sz="1300" noProof="1">
                        <a:effectLst/>
                        <a:latin typeface="Cambria" panose="02040503050406030204" pitchFamily="18" charset="0"/>
                      </a:endParaRPr>
                    </a:p>
                  </a:txBody>
                  <a:tcPr marL="12558" marR="12558" marT="12558" marB="12558" anchor="ctr"/>
                </a:tc>
                <a:extLst>
                  <a:ext uri="{0D108BD9-81ED-4DB2-BD59-A6C34878D82A}">
                    <a16:rowId xmlns:a16="http://schemas.microsoft.com/office/drawing/2014/main" val="2290670642"/>
                  </a:ext>
                </a:extLst>
              </a:tr>
              <a:tr h="273775">
                <a:tc>
                  <a:txBody>
                    <a:bodyPr/>
                    <a:lstStyle/>
                    <a:p>
                      <a:pPr algn="l" fontAlgn="ctr">
                        <a:buNone/>
                      </a:pPr>
                      <a:r>
                        <a:rPr lang="en-US" sz="1100" b="1" i="0" u="none" strike="noStrike" noProof="1">
                          <a:solidFill>
                            <a:srgbClr val="000000"/>
                          </a:solidFill>
                          <a:effectLst/>
                          <a:latin typeface="Cambria" panose="02040503050406030204" pitchFamily="18" charset="0"/>
                        </a:rPr>
                        <a:t>MI (2000)</a:t>
                      </a:r>
                    </a:p>
                  </a:txBody>
                  <a:tcPr marL="9525" marR="9525" marT="9525" marB="0" anchor="ctr"/>
                </a:tc>
                <a:tc>
                  <a:txBody>
                    <a:bodyPr/>
                    <a:lstStyle/>
                    <a:p>
                      <a:pPr algn="ctr">
                        <a:buNone/>
                      </a:pPr>
                      <a:r>
                        <a:rPr lang="en-US" sz="1300" noProof="1">
                          <a:solidFill>
                            <a:srgbClr val="000000"/>
                          </a:solidFill>
                          <a:effectLst/>
                          <a:latin typeface="Cambria" panose="02040503050406030204" pitchFamily="18" charset="0"/>
                        </a:rPr>
                        <a:t>0.037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951</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2,295</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-1.406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394</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0.020</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968</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2,322</a:t>
                      </a:r>
                      <a:endParaRPr lang="en-US" sz="1300" noProof="1">
                        <a:effectLst/>
                        <a:latin typeface="Cambria" panose="02040503050406030204" pitchFamily="18" charset="0"/>
                      </a:endParaRPr>
                    </a:p>
                  </a:txBody>
                  <a:tcPr marL="12558" marR="12558" marT="12558" marB="12558" anchor="ctr"/>
                </a:tc>
                <a:extLst>
                  <a:ext uri="{0D108BD9-81ED-4DB2-BD59-A6C34878D82A}">
                    <a16:rowId xmlns:a16="http://schemas.microsoft.com/office/drawing/2014/main" val="2060383275"/>
                  </a:ext>
                </a:extLst>
              </a:tr>
              <a:tr h="273775">
                <a:tc>
                  <a:txBody>
                    <a:bodyPr/>
                    <a:lstStyle/>
                    <a:p>
                      <a:pPr algn="l" fontAlgn="ctr">
                        <a:buNone/>
                      </a:pPr>
                      <a:r>
                        <a:rPr lang="en-US" sz="1100" b="1" i="0" u="none" strike="noStrike" noProof="1">
                          <a:solidFill>
                            <a:srgbClr val="000000"/>
                          </a:solidFill>
                          <a:effectLst/>
                          <a:latin typeface="Cambria" panose="02040503050406030204" pitchFamily="18" charset="0"/>
                        </a:rPr>
                        <a:t>MI (2010)</a:t>
                      </a:r>
                    </a:p>
                  </a:txBody>
                  <a:tcPr marL="9525" marR="9525" marT="9525" marB="0" anchor="ctr"/>
                </a:tc>
                <a:tc>
                  <a:txBody>
                    <a:bodyPr/>
                    <a:lstStyle/>
                    <a:p>
                      <a:pPr algn="ctr">
                        <a:buNone/>
                      </a:pPr>
                      <a:r>
                        <a:rPr lang="en-US" sz="1300" noProof="1">
                          <a:solidFill>
                            <a:srgbClr val="000000"/>
                          </a:solidFill>
                          <a:effectLst/>
                          <a:latin typeface="Cambria" panose="02040503050406030204" pitchFamily="18" charset="0"/>
                        </a:rPr>
                        <a:t>0.036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950</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2,296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-1.386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305</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0.019</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966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2,323</a:t>
                      </a:r>
                      <a:endParaRPr lang="en-US" sz="1300" noProof="1">
                        <a:effectLst/>
                        <a:latin typeface="Cambria" panose="02040503050406030204" pitchFamily="18" charset="0"/>
                      </a:endParaRPr>
                    </a:p>
                  </a:txBody>
                  <a:tcPr marL="12558" marR="12558" marT="12558" marB="12558" anchor="ctr"/>
                </a:tc>
                <a:extLst>
                  <a:ext uri="{0D108BD9-81ED-4DB2-BD59-A6C34878D82A}">
                    <a16:rowId xmlns:a16="http://schemas.microsoft.com/office/drawing/2014/main" val="640312314"/>
                  </a:ext>
                </a:extLst>
              </a:tr>
              <a:tr h="273775">
                <a:tc>
                  <a:txBody>
                    <a:bodyPr/>
                    <a:lstStyle/>
                    <a:p>
                      <a:pPr algn="l" fontAlgn="ctr">
                        <a:buNone/>
                      </a:pPr>
                      <a:r>
                        <a:rPr lang="en-US" sz="1100" b="1" i="0" u="none" strike="noStrike" noProof="1">
                          <a:solidFill>
                            <a:srgbClr val="000000"/>
                          </a:solidFill>
                          <a:effectLst/>
                          <a:latin typeface="Cambria" panose="02040503050406030204" pitchFamily="18" charset="0"/>
                        </a:rPr>
                        <a:t>Log population (2010)</a:t>
                      </a:r>
                    </a:p>
                  </a:txBody>
                  <a:tcPr marL="9525" marR="9525" marT="9525" marB="0" anchor="ctr"/>
                </a:tc>
                <a:tc>
                  <a:txBody>
                    <a:bodyPr/>
                    <a:lstStyle/>
                    <a:p>
                      <a:pPr algn="ctr">
                        <a:buNone/>
                      </a:pPr>
                      <a:r>
                        <a:rPr lang="en-US" sz="1300" noProof="1">
                          <a:solidFill>
                            <a:srgbClr val="000000"/>
                          </a:solidFill>
                          <a:effectLst/>
                          <a:latin typeface="Cambria" panose="02040503050406030204" pitchFamily="18" charset="0"/>
                        </a:rPr>
                        <a:t>9.347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2.305</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2,296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12.952</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1.552</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9.389</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2.445</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2,323</a:t>
                      </a:r>
                      <a:endParaRPr lang="en-US" sz="1300" noProof="1">
                        <a:effectLst/>
                        <a:latin typeface="Cambria" panose="02040503050406030204" pitchFamily="18" charset="0"/>
                      </a:endParaRPr>
                    </a:p>
                  </a:txBody>
                  <a:tcPr marL="12558" marR="12558" marT="12558" marB="12558" anchor="ctr"/>
                </a:tc>
                <a:extLst>
                  <a:ext uri="{0D108BD9-81ED-4DB2-BD59-A6C34878D82A}">
                    <a16:rowId xmlns:a16="http://schemas.microsoft.com/office/drawing/2014/main" val="2264604382"/>
                  </a:ext>
                </a:extLst>
              </a:tr>
              <a:tr h="273775">
                <a:tc>
                  <a:txBody>
                    <a:bodyPr/>
                    <a:lstStyle/>
                    <a:p>
                      <a:pPr algn="l" fontAlgn="ctr">
                        <a:buNone/>
                      </a:pPr>
                      <a:r>
                        <a:rPr lang="en-US" sz="1100" b="1" i="0" u="none" strike="noStrike" noProof="1">
                          <a:solidFill>
                            <a:srgbClr val="000000"/>
                          </a:solidFill>
                          <a:effectLst/>
                          <a:latin typeface="Cambria" panose="02040503050406030204" pitchFamily="18" charset="0"/>
                        </a:rPr>
                        <a:t>Log density</a:t>
                      </a:r>
                    </a:p>
                  </a:txBody>
                  <a:tcPr marL="9525" marR="9525" marT="9525" marB="0" anchor="ctr"/>
                </a:tc>
                <a:tc>
                  <a:txBody>
                    <a:bodyPr/>
                    <a:lstStyle/>
                    <a:p>
                      <a:pPr algn="ctr">
                        <a:buNone/>
                      </a:pPr>
                      <a:r>
                        <a:rPr lang="en-US" sz="1300" noProof="1">
                          <a:solidFill>
                            <a:srgbClr val="000000"/>
                          </a:solidFill>
                          <a:effectLst/>
                          <a:latin typeface="Cambria" panose="02040503050406030204" pitchFamily="18" charset="0"/>
                        </a:rPr>
                        <a:t>3.928</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2.753</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2,296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6.248</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3.698</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3.955</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2.824</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2,323</a:t>
                      </a:r>
                      <a:endParaRPr lang="en-US" sz="1300" noProof="1">
                        <a:effectLst/>
                        <a:latin typeface="Cambria" panose="02040503050406030204" pitchFamily="18" charset="0"/>
                      </a:endParaRPr>
                    </a:p>
                  </a:txBody>
                  <a:tcPr marL="12558" marR="12558" marT="12558" marB="12558" anchor="ctr"/>
                </a:tc>
                <a:extLst>
                  <a:ext uri="{0D108BD9-81ED-4DB2-BD59-A6C34878D82A}">
                    <a16:rowId xmlns:a16="http://schemas.microsoft.com/office/drawing/2014/main" val="3029095198"/>
                  </a:ext>
                </a:extLst>
              </a:tr>
              <a:tr h="337774">
                <a:tc>
                  <a:txBody>
                    <a:bodyPr/>
                    <a:lstStyle/>
                    <a:p>
                      <a:pPr algn="l" fontAlgn="ctr">
                        <a:buNone/>
                      </a:pPr>
                      <a:r>
                        <a:rPr lang="en-US" sz="1100" b="1" i="0" u="none" strike="noStrike" noProof="1">
                          <a:solidFill>
                            <a:srgbClr val="000000"/>
                          </a:solidFill>
                          <a:effectLst/>
                          <a:latin typeface="Cambria" panose="02040503050406030204" pitchFamily="18" charset="0"/>
                        </a:rPr>
                        <a:t>PEA (%)</a:t>
                      </a:r>
                    </a:p>
                  </a:txBody>
                  <a:tcPr marL="9525" marR="9525" marT="9525" marB="0" anchor="ctr"/>
                </a:tc>
                <a:tc>
                  <a:txBody>
                    <a:bodyPr/>
                    <a:lstStyle/>
                    <a:p>
                      <a:pPr algn="ctr">
                        <a:buNone/>
                      </a:pPr>
                      <a:r>
                        <a:rPr lang="en-US" sz="1300" noProof="1">
                          <a:solidFill>
                            <a:srgbClr val="000000"/>
                          </a:solidFill>
                          <a:effectLst/>
                          <a:latin typeface="Cambria" panose="02040503050406030204" pitchFamily="18" charset="0"/>
                        </a:rPr>
                        <a:t>47.736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73.086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2,296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56.753</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5.041</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47.841</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73.227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2,323</a:t>
                      </a:r>
                      <a:endParaRPr lang="en-US" sz="1300" noProof="1">
                        <a:effectLst/>
                        <a:latin typeface="Cambria" panose="02040503050406030204" pitchFamily="18" charset="0"/>
                      </a:endParaRPr>
                    </a:p>
                  </a:txBody>
                  <a:tcPr marL="12558" marR="12558" marT="12558" marB="12558" anchor="ctr"/>
                </a:tc>
                <a:extLst>
                  <a:ext uri="{0D108BD9-81ED-4DB2-BD59-A6C34878D82A}">
                    <a16:rowId xmlns:a16="http://schemas.microsoft.com/office/drawing/2014/main" val="786526162"/>
                  </a:ext>
                </a:extLst>
              </a:tr>
            </a:tbl>
          </a:graphicData>
        </a:graphic>
      </p:graphicFrame>
    </p:spTree>
    <p:extLst>
      <p:ext uri="{BB962C8B-B14F-4D97-AF65-F5344CB8AC3E}">
        <p14:creationId xmlns:p14="http://schemas.microsoft.com/office/powerpoint/2010/main" val="31596925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i="0" dirty="0">
                <a:solidFill>
                  <a:srgbClr val="000000"/>
                </a:solidFill>
                <a:latin typeface="Cambria"/>
              </a:rPr>
              <a:t>EB Results — </a:t>
            </a:r>
            <a:r>
              <a:rPr lang="en-US" sz="3600" b="1" noProof="1">
                <a:solidFill>
                  <a:srgbClr val="000000"/>
                </a:solidFill>
                <a:latin typeface="Cambria"/>
              </a:rPr>
              <a:t>Strategy</a:t>
            </a:r>
            <a:r>
              <a:rPr lang="es-AR" sz="3600" b="1" dirty="0">
                <a:solidFill>
                  <a:srgbClr val="000000"/>
                </a:solidFill>
                <a:latin typeface="Cambria"/>
              </a:rPr>
              <a:t> 2 </a:t>
            </a:r>
            <a:r>
              <a:rPr sz="3600" b="1" i="0" dirty="0">
                <a:solidFill>
                  <a:srgbClr val="000000"/>
                </a:solidFill>
                <a:latin typeface="Cambria"/>
              </a:rPr>
              <a:t>(4 groups)</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309360" y="1488042"/>
            <a:ext cx="5394960" cy="2548839"/>
          </a:xfrm>
          <a:prstGeom prst="rect">
            <a:avLst/>
          </a:prstGeom>
          <a:noFill/>
        </p:spPr>
        <p:txBody>
          <a:bodyPr wrap="square" lIns="0" tIns="0" rIns="0" bIns="0">
            <a:spAutoFit/>
          </a:bodyPr>
          <a:lstStyle/>
          <a:p>
            <a:pPr marL="320040" indent="-228600" algn="l">
              <a:lnSpc>
                <a:spcPct val="115000"/>
              </a:lnSpc>
              <a:buFont typeface="Arial"/>
              <a:buChar char="•"/>
            </a:pPr>
            <a:r>
              <a:rPr sz="1600" dirty="0">
                <a:solidFill>
                  <a:srgbClr val="000000"/>
                </a:solidFill>
                <a:latin typeface="Cambria"/>
              </a:rPr>
              <a:t>Only Option 1 (outcome-only balancing) converges for all three treated subgroups against Never.</a:t>
            </a:r>
          </a:p>
          <a:p>
            <a:pPr marL="320040" indent="-228600" algn="l">
              <a:lnSpc>
                <a:spcPct val="115000"/>
              </a:lnSpc>
              <a:spcBef>
                <a:spcPts val="800"/>
              </a:spcBef>
              <a:buFont typeface="Arial"/>
              <a:buChar char="•"/>
            </a:pPr>
            <a:r>
              <a:rPr sz="1600" b="0" i="0" dirty="0">
                <a:solidFill>
                  <a:srgbClr val="000000"/>
                </a:solidFill>
                <a:latin typeface="Cambria"/>
              </a:rPr>
              <a:t>Options 2–4 </a:t>
            </a:r>
            <a:r>
              <a:rPr lang="es-ES" sz="1600" dirty="0">
                <a:solidFill>
                  <a:srgbClr val="000000"/>
                </a:solidFill>
                <a:latin typeface="Cambria"/>
              </a:rPr>
              <a:t>,</a:t>
            </a:r>
            <a:r>
              <a:rPr sz="1600" b="0" i="0" dirty="0">
                <a:solidFill>
                  <a:srgbClr val="000000"/>
                </a:solidFill>
                <a:latin typeface="Cambria"/>
              </a:rPr>
              <a:t> balancing both means and variances</a:t>
            </a:r>
            <a:r>
              <a:rPr lang="es-ES" sz="1600" b="0" i="0" dirty="0">
                <a:solidFill>
                  <a:srgbClr val="000000"/>
                </a:solidFill>
                <a:latin typeface="Cambria"/>
              </a:rPr>
              <a:t>,</a:t>
            </a:r>
            <a:r>
              <a:rPr sz="1600" b="0" i="0" dirty="0">
                <a:solidFill>
                  <a:srgbClr val="000000"/>
                </a:solidFill>
                <a:latin typeface="Cambria"/>
              </a:rPr>
              <a:t> fail to converge for the Late-only (G2) and Both (G3) subgroups given the small cell sizes (7 and 6 municipalities).</a:t>
            </a:r>
          </a:p>
          <a:p>
            <a:pPr marL="320040" indent="-228600">
              <a:lnSpc>
                <a:spcPct val="115000"/>
              </a:lnSpc>
              <a:spcBef>
                <a:spcPts val="800"/>
              </a:spcBef>
              <a:buFont typeface="Arial"/>
              <a:buChar char="•"/>
            </a:pPr>
            <a:r>
              <a:rPr lang="en-US" sz="1600" b="0" i="0" dirty="0">
                <a:solidFill>
                  <a:srgbClr val="000000"/>
                </a:solidFill>
                <a:latin typeface="Cambria"/>
              </a:rPr>
              <a:t>Options 2–4, </a:t>
            </a:r>
            <a:r>
              <a:rPr lang="en-US" sz="1600" b="0" i="0" noProof="1">
                <a:solidFill>
                  <a:srgbClr val="000000"/>
                </a:solidFill>
                <a:latin typeface="Cambria"/>
              </a:rPr>
              <a:t>balancing</a:t>
            </a:r>
            <a:r>
              <a:rPr lang="en-US" sz="1600" b="0" i="0" dirty="0">
                <a:solidFill>
                  <a:srgbClr val="000000"/>
                </a:solidFill>
                <a:latin typeface="Cambria"/>
              </a:rPr>
              <a:t> means only, fail </a:t>
            </a:r>
            <a:r>
              <a:rPr lang="en-US" sz="1600" dirty="0">
                <a:solidFill>
                  <a:srgbClr val="000000"/>
                </a:solidFill>
                <a:latin typeface="Cambria"/>
              </a:rPr>
              <a:t>to converge for group Both (G3).</a:t>
            </a:r>
          </a:p>
          <a:p>
            <a:pPr marL="320040" indent="-228600">
              <a:lnSpc>
                <a:spcPct val="115000"/>
              </a:lnSpc>
              <a:spcBef>
                <a:spcPts val="800"/>
              </a:spcBef>
              <a:buFont typeface="Arial"/>
              <a:buChar char="•"/>
            </a:pPr>
            <a:r>
              <a:rPr lang="en-US" sz="1600" noProof="1">
                <a:solidFill>
                  <a:srgbClr val="000000"/>
                </a:solidFill>
                <a:latin typeface="Cambria"/>
              </a:rPr>
              <a:t>Some weights are relatively large.</a:t>
            </a:r>
          </a:p>
        </p:txBody>
      </p:sp>
      <p:sp>
        <p:nvSpPr>
          <p:cNvPr id="6" name="TextBox 5"/>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17 / 31</a:t>
            </a:r>
          </a:p>
        </p:txBody>
      </p:sp>
      <p:graphicFrame>
        <p:nvGraphicFramePr>
          <p:cNvPr id="11" name="Tabla 10">
            <a:extLst>
              <a:ext uri="{FF2B5EF4-FFF2-40B4-BE49-F238E27FC236}">
                <a16:creationId xmlns:a16="http://schemas.microsoft.com/office/drawing/2014/main" id="{21D48F95-E235-8B5E-393D-A289EF443D6E}"/>
              </a:ext>
            </a:extLst>
          </p:cNvPr>
          <p:cNvGraphicFramePr>
            <a:graphicFrameLocks noGrp="1"/>
          </p:cNvGraphicFramePr>
          <p:nvPr>
            <p:extLst>
              <p:ext uri="{D42A27DB-BD31-4B8C-83A1-F6EECF244321}">
                <p14:modId xmlns:p14="http://schemas.microsoft.com/office/powerpoint/2010/main" val="3873562964"/>
              </p:ext>
            </p:extLst>
          </p:nvPr>
        </p:nvGraphicFramePr>
        <p:xfrm>
          <a:off x="1981201" y="5380906"/>
          <a:ext cx="8244005" cy="576000"/>
        </p:xfrm>
        <a:graphic>
          <a:graphicData uri="http://schemas.openxmlformats.org/drawingml/2006/table">
            <a:tbl>
              <a:tblPr>
                <a:tableStyleId>{9D7B26C5-4107-4FEC-AEDC-1716B250A1EF}</a:tableStyleId>
              </a:tblPr>
              <a:tblGrid>
                <a:gridCol w="471086">
                  <a:extLst>
                    <a:ext uri="{9D8B030D-6E8A-4147-A177-3AD203B41FA5}">
                      <a16:colId xmlns:a16="http://schemas.microsoft.com/office/drawing/2014/main" val="1650195390"/>
                    </a:ext>
                  </a:extLst>
                </a:gridCol>
                <a:gridCol w="706629">
                  <a:extLst>
                    <a:ext uri="{9D8B030D-6E8A-4147-A177-3AD203B41FA5}">
                      <a16:colId xmlns:a16="http://schemas.microsoft.com/office/drawing/2014/main" val="3926666944"/>
                    </a:ext>
                  </a:extLst>
                </a:gridCol>
                <a:gridCol w="706629">
                  <a:extLst>
                    <a:ext uri="{9D8B030D-6E8A-4147-A177-3AD203B41FA5}">
                      <a16:colId xmlns:a16="http://schemas.microsoft.com/office/drawing/2014/main" val="2299287300"/>
                    </a:ext>
                  </a:extLst>
                </a:gridCol>
                <a:gridCol w="706629">
                  <a:extLst>
                    <a:ext uri="{9D8B030D-6E8A-4147-A177-3AD203B41FA5}">
                      <a16:colId xmlns:a16="http://schemas.microsoft.com/office/drawing/2014/main" val="4205599394"/>
                    </a:ext>
                  </a:extLst>
                </a:gridCol>
                <a:gridCol w="706629">
                  <a:extLst>
                    <a:ext uri="{9D8B030D-6E8A-4147-A177-3AD203B41FA5}">
                      <a16:colId xmlns:a16="http://schemas.microsoft.com/office/drawing/2014/main" val="493173083"/>
                    </a:ext>
                  </a:extLst>
                </a:gridCol>
                <a:gridCol w="706629">
                  <a:extLst>
                    <a:ext uri="{9D8B030D-6E8A-4147-A177-3AD203B41FA5}">
                      <a16:colId xmlns:a16="http://schemas.microsoft.com/office/drawing/2014/main" val="341547202"/>
                    </a:ext>
                  </a:extLst>
                </a:gridCol>
                <a:gridCol w="706629">
                  <a:extLst>
                    <a:ext uri="{9D8B030D-6E8A-4147-A177-3AD203B41FA5}">
                      <a16:colId xmlns:a16="http://schemas.microsoft.com/office/drawing/2014/main" val="693208272"/>
                    </a:ext>
                  </a:extLst>
                </a:gridCol>
                <a:gridCol w="706629">
                  <a:extLst>
                    <a:ext uri="{9D8B030D-6E8A-4147-A177-3AD203B41FA5}">
                      <a16:colId xmlns:a16="http://schemas.microsoft.com/office/drawing/2014/main" val="566488700"/>
                    </a:ext>
                  </a:extLst>
                </a:gridCol>
                <a:gridCol w="706629">
                  <a:extLst>
                    <a:ext uri="{9D8B030D-6E8A-4147-A177-3AD203B41FA5}">
                      <a16:colId xmlns:a16="http://schemas.microsoft.com/office/drawing/2014/main" val="1933821977"/>
                    </a:ext>
                  </a:extLst>
                </a:gridCol>
                <a:gridCol w="706629">
                  <a:extLst>
                    <a:ext uri="{9D8B030D-6E8A-4147-A177-3AD203B41FA5}">
                      <a16:colId xmlns:a16="http://schemas.microsoft.com/office/drawing/2014/main" val="3117749420"/>
                    </a:ext>
                  </a:extLst>
                </a:gridCol>
                <a:gridCol w="706629">
                  <a:extLst>
                    <a:ext uri="{9D8B030D-6E8A-4147-A177-3AD203B41FA5}">
                      <a16:colId xmlns:a16="http://schemas.microsoft.com/office/drawing/2014/main" val="656077374"/>
                    </a:ext>
                  </a:extLst>
                </a:gridCol>
                <a:gridCol w="706629">
                  <a:extLst>
                    <a:ext uri="{9D8B030D-6E8A-4147-A177-3AD203B41FA5}">
                      <a16:colId xmlns:a16="http://schemas.microsoft.com/office/drawing/2014/main" val="1199825904"/>
                    </a:ext>
                  </a:extLst>
                </a:gridCol>
              </a:tblGrid>
              <a:tr h="288000">
                <a:tc>
                  <a:txBody>
                    <a:bodyPr/>
                    <a:lstStyle/>
                    <a:p>
                      <a:pPr algn="ctr" fontAlgn="ctr">
                        <a:buNone/>
                      </a:pPr>
                      <a:r>
                        <a:rPr lang="es-AR" sz="1300" b="1" u="none" strike="noStrike" dirty="0">
                          <a:effectLst/>
                          <a:latin typeface="Cambria" panose="02040503050406030204" pitchFamily="18" charset="0"/>
                        </a:rPr>
                        <a:t> </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Mean</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Min</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Max</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Variance</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p1</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p5</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p10</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p50</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p90</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p95</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p99</a:t>
                      </a:r>
                      <a:endParaRPr lang="es-AR" sz="1300" b="1" i="0" u="none" strike="noStrike" dirty="0">
                        <a:solidFill>
                          <a:srgbClr val="FFFFFF"/>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669674192"/>
                  </a:ext>
                </a:extLst>
              </a:tr>
              <a:tr h="288000">
                <a:tc>
                  <a:txBody>
                    <a:bodyPr/>
                    <a:lstStyle/>
                    <a:p>
                      <a:pPr algn="ctr" fontAlgn="ctr">
                        <a:buNone/>
                      </a:pPr>
                      <a:r>
                        <a:rPr lang="es-AR" sz="1300" u="none" strike="noStrike" dirty="0">
                          <a:effectLst/>
                          <a:latin typeface="Cambria" panose="02040503050406030204" pitchFamily="18" charset="0"/>
                        </a:rPr>
                        <a:t>w2.1</a:t>
                      </a:r>
                      <a:endParaRPr lang="es-AR" sz="1300" b="1"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0,015</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0,002</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2,629</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0,015</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0,002</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0,002</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0,002</a:t>
                      </a:r>
                      <a:endParaRPr lang="es-AR" sz="1300" b="0"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0,002</a:t>
                      </a:r>
                      <a:endParaRPr lang="es-AR" sz="1300" b="0"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0,003</a:t>
                      </a:r>
                      <a:endParaRPr lang="es-AR" sz="1300" b="0"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0,005</a:t>
                      </a:r>
                      <a:endParaRPr lang="es-AR" sz="1300" b="0"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1,000</a:t>
                      </a:r>
                      <a:endParaRPr lang="es-AR" sz="1300" b="0" i="0" u="none" strike="noStrike" dirty="0">
                        <a:solidFill>
                          <a:srgbClr val="000000"/>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1784503866"/>
                  </a:ext>
                </a:extLst>
              </a:tr>
            </a:tbl>
          </a:graphicData>
        </a:graphic>
      </p:graphicFrame>
      <p:pic>
        <p:nvPicPr>
          <p:cNvPr id="13" name="Imagen 12">
            <a:extLst>
              <a:ext uri="{FF2B5EF4-FFF2-40B4-BE49-F238E27FC236}">
                <a16:creationId xmlns:a16="http://schemas.microsoft.com/office/drawing/2014/main" id="{E5DC73A7-A4CD-DA25-2B99-A83E36AD92C2}"/>
              </a:ext>
            </a:extLst>
          </p:cNvPr>
          <p:cNvPicPr>
            <a:picLocks noChangeAspect="1"/>
          </p:cNvPicPr>
          <p:nvPr/>
        </p:nvPicPr>
        <p:blipFill>
          <a:blip r:embed="rId2"/>
          <a:stretch>
            <a:fillRect/>
          </a:stretch>
        </p:blipFill>
        <p:spPr>
          <a:xfrm>
            <a:off x="594360" y="1403468"/>
            <a:ext cx="5640000" cy="3384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A4A83-6A5B-5164-CF1E-F86D6E5EB38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F171765-F893-9B04-9061-386D78707AAB}"/>
              </a:ext>
            </a:extLst>
          </p:cNvPr>
          <p:cNvSpPr txBox="1"/>
          <p:nvPr/>
        </p:nvSpPr>
        <p:spPr>
          <a:xfrm>
            <a:off x="548640" y="256032"/>
            <a:ext cx="11155680" cy="553998"/>
          </a:xfrm>
          <a:prstGeom prst="rect">
            <a:avLst/>
          </a:prstGeom>
          <a:noFill/>
        </p:spPr>
        <p:txBody>
          <a:bodyPr wrap="square" lIns="0" tIns="0" rIns="0" bIns="0" anchor="t">
            <a:spAutoFit/>
          </a:bodyPr>
          <a:lstStyle/>
          <a:p>
            <a:r>
              <a:rPr sz="3600" b="1" i="0" dirty="0">
                <a:solidFill>
                  <a:srgbClr val="000000"/>
                </a:solidFill>
                <a:latin typeface="Cambria"/>
              </a:rPr>
              <a:t>EB Results — </a:t>
            </a:r>
            <a:r>
              <a:rPr lang="en-US" sz="3600" b="1" noProof="1">
                <a:solidFill>
                  <a:srgbClr val="000000"/>
                </a:solidFill>
                <a:latin typeface="Cambria"/>
              </a:rPr>
              <a:t>Strategy</a:t>
            </a:r>
            <a:r>
              <a:rPr lang="es-AR" sz="3600" b="1" dirty="0">
                <a:solidFill>
                  <a:srgbClr val="000000"/>
                </a:solidFill>
                <a:latin typeface="Cambria"/>
              </a:rPr>
              <a:t> 2 </a:t>
            </a:r>
            <a:r>
              <a:rPr sz="3600" b="1" i="0" dirty="0">
                <a:solidFill>
                  <a:srgbClr val="000000"/>
                </a:solidFill>
                <a:latin typeface="Cambria"/>
              </a:rPr>
              <a:t>(4 groups)</a:t>
            </a:r>
          </a:p>
        </p:txBody>
      </p:sp>
      <p:sp>
        <p:nvSpPr>
          <p:cNvPr id="3" name="Rectangle 2">
            <a:extLst>
              <a:ext uri="{FF2B5EF4-FFF2-40B4-BE49-F238E27FC236}">
                <a16:creationId xmlns:a16="http://schemas.microsoft.com/office/drawing/2014/main" id="{1D9269A5-BD8B-DCF6-F633-AF86ED03B057}"/>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CDF1171D-8C7C-BFB9-83F0-85D4EED3A9EE}"/>
              </a:ext>
            </a:extLst>
          </p:cNvPr>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17 / 31</a:t>
            </a:r>
          </a:p>
        </p:txBody>
      </p:sp>
      <p:graphicFrame>
        <p:nvGraphicFramePr>
          <p:cNvPr id="5" name="Tabla 4">
            <a:extLst>
              <a:ext uri="{FF2B5EF4-FFF2-40B4-BE49-F238E27FC236}">
                <a16:creationId xmlns:a16="http://schemas.microsoft.com/office/drawing/2014/main" id="{61E1241D-3412-E8EA-9269-185AB402B8C1}"/>
              </a:ext>
            </a:extLst>
          </p:cNvPr>
          <p:cNvGraphicFramePr>
            <a:graphicFrameLocks noGrp="1"/>
          </p:cNvGraphicFramePr>
          <p:nvPr>
            <p:extLst>
              <p:ext uri="{D42A27DB-BD31-4B8C-83A1-F6EECF244321}">
                <p14:modId xmlns:p14="http://schemas.microsoft.com/office/powerpoint/2010/main" val="167238450"/>
              </p:ext>
            </p:extLst>
          </p:nvPr>
        </p:nvGraphicFramePr>
        <p:xfrm>
          <a:off x="498000" y="2207291"/>
          <a:ext cx="11196000" cy="3852040"/>
        </p:xfrm>
        <a:graphic>
          <a:graphicData uri="http://schemas.openxmlformats.org/drawingml/2006/table">
            <a:tbl>
              <a:tblPr>
                <a:tableStyleId>{9D7B26C5-4107-4FEC-AEDC-1716B250A1EF}</a:tableStyleId>
              </a:tblPr>
              <a:tblGrid>
                <a:gridCol w="2293373">
                  <a:extLst>
                    <a:ext uri="{9D8B030D-6E8A-4147-A177-3AD203B41FA5}">
                      <a16:colId xmlns:a16="http://schemas.microsoft.com/office/drawing/2014/main" val="160952290"/>
                    </a:ext>
                  </a:extLst>
                </a:gridCol>
                <a:gridCol w="785526">
                  <a:extLst>
                    <a:ext uri="{9D8B030D-6E8A-4147-A177-3AD203B41FA5}">
                      <a16:colId xmlns:a16="http://schemas.microsoft.com/office/drawing/2014/main" val="4177791632"/>
                    </a:ext>
                  </a:extLst>
                </a:gridCol>
                <a:gridCol w="785526">
                  <a:extLst>
                    <a:ext uri="{9D8B030D-6E8A-4147-A177-3AD203B41FA5}">
                      <a16:colId xmlns:a16="http://schemas.microsoft.com/office/drawing/2014/main" val="4238034464"/>
                    </a:ext>
                  </a:extLst>
                </a:gridCol>
                <a:gridCol w="677177">
                  <a:extLst>
                    <a:ext uri="{9D8B030D-6E8A-4147-A177-3AD203B41FA5}">
                      <a16:colId xmlns:a16="http://schemas.microsoft.com/office/drawing/2014/main" val="4087699786"/>
                    </a:ext>
                  </a:extLst>
                </a:gridCol>
                <a:gridCol w="767468">
                  <a:extLst>
                    <a:ext uri="{9D8B030D-6E8A-4147-A177-3AD203B41FA5}">
                      <a16:colId xmlns:a16="http://schemas.microsoft.com/office/drawing/2014/main" val="626260782"/>
                    </a:ext>
                  </a:extLst>
                </a:gridCol>
                <a:gridCol w="903793">
                  <a:extLst>
                    <a:ext uri="{9D8B030D-6E8A-4147-A177-3AD203B41FA5}">
                      <a16:colId xmlns:a16="http://schemas.microsoft.com/office/drawing/2014/main" val="2905554158"/>
                    </a:ext>
                  </a:extLst>
                </a:gridCol>
                <a:gridCol w="624040">
                  <a:extLst>
                    <a:ext uri="{9D8B030D-6E8A-4147-A177-3AD203B41FA5}">
                      <a16:colId xmlns:a16="http://schemas.microsoft.com/office/drawing/2014/main" val="3157300909"/>
                    </a:ext>
                  </a:extLst>
                </a:gridCol>
                <a:gridCol w="816757">
                  <a:extLst>
                    <a:ext uri="{9D8B030D-6E8A-4147-A177-3AD203B41FA5}">
                      <a16:colId xmlns:a16="http://schemas.microsoft.com/office/drawing/2014/main" val="3744036652"/>
                    </a:ext>
                  </a:extLst>
                </a:gridCol>
                <a:gridCol w="890173">
                  <a:extLst>
                    <a:ext uri="{9D8B030D-6E8A-4147-A177-3AD203B41FA5}">
                      <a16:colId xmlns:a16="http://schemas.microsoft.com/office/drawing/2014/main" val="467639458"/>
                    </a:ext>
                  </a:extLst>
                </a:gridCol>
                <a:gridCol w="504738">
                  <a:extLst>
                    <a:ext uri="{9D8B030D-6E8A-4147-A177-3AD203B41FA5}">
                      <a16:colId xmlns:a16="http://schemas.microsoft.com/office/drawing/2014/main" val="415512946"/>
                    </a:ext>
                  </a:extLst>
                </a:gridCol>
                <a:gridCol w="697456">
                  <a:extLst>
                    <a:ext uri="{9D8B030D-6E8A-4147-A177-3AD203B41FA5}">
                      <a16:colId xmlns:a16="http://schemas.microsoft.com/office/drawing/2014/main" val="4238277628"/>
                    </a:ext>
                  </a:extLst>
                </a:gridCol>
                <a:gridCol w="936055">
                  <a:extLst>
                    <a:ext uri="{9D8B030D-6E8A-4147-A177-3AD203B41FA5}">
                      <a16:colId xmlns:a16="http://schemas.microsoft.com/office/drawing/2014/main" val="2021826620"/>
                    </a:ext>
                  </a:extLst>
                </a:gridCol>
                <a:gridCol w="513918">
                  <a:extLst>
                    <a:ext uri="{9D8B030D-6E8A-4147-A177-3AD203B41FA5}">
                      <a16:colId xmlns:a16="http://schemas.microsoft.com/office/drawing/2014/main" val="768218098"/>
                    </a:ext>
                  </a:extLst>
                </a:gridCol>
              </a:tblGrid>
              <a:tr h="416981">
                <a:tc>
                  <a:txBody>
                    <a:bodyPr/>
                    <a:lstStyle/>
                    <a:p>
                      <a:pPr>
                        <a:buNone/>
                      </a:pPr>
                      <a:br>
                        <a:rPr lang="en-US" sz="1300" dirty="0">
                          <a:effectLst/>
                          <a:latin typeface="Cambria" panose="02040503050406030204" pitchFamily="18" charset="0"/>
                        </a:rPr>
                      </a:br>
                      <a:endParaRPr lang="en-US" sz="1300" dirty="0">
                        <a:effectLst/>
                        <a:latin typeface="Cambria" panose="02040503050406030204" pitchFamily="18" charset="0"/>
                      </a:endParaRPr>
                    </a:p>
                  </a:txBody>
                  <a:tcPr marL="9663" marR="9663" marT="9663" marB="9663" anchor="ctr"/>
                </a:tc>
                <a:tc gridSpan="3">
                  <a:txBody>
                    <a:bodyPr/>
                    <a:lstStyle/>
                    <a:p>
                      <a:pPr algn="ctr">
                        <a:buNone/>
                      </a:pPr>
                      <a:r>
                        <a:rPr lang="en-US" sz="1300" b="1" dirty="0">
                          <a:solidFill>
                            <a:srgbClr val="000000"/>
                          </a:solidFill>
                          <a:effectLst/>
                          <a:latin typeface="Cambria" panose="02040503050406030204" pitchFamily="18" charset="0"/>
                        </a:rPr>
                        <a:t>Control</a:t>
                      </a:r>
                    </a:p>
                  </a:txBody>
                  <a:tcPr marL="9663" marR="9663" marT="9663" marB="9663" anchor="ctr"/>
                </a:tc>
                <a:tc hMerge="1">
                  <a:txBody>
                    <a:bodyPr/>
                    <a:lstStyle/>
                    <a:p>
                      <a:endParaRPr/>
                    </a:p>
                  </a:txBody>
                  <a:tcPr marL="9663" marR="9663" marT="9663" marB="9663" anchor="ctr"/>
                </a:tc>
                <a:tc hMerge="1">
                  <a:txBody>
                    <a:bodyPr/>
                    <a:lstStyle/>
                    <a:p>
                      <a:endParaRPr dirty="0"/>
                    </a:p>
                  </a:txBody>
                  <a:tcPr marL="9663" marR="9663" marT="9663" marB="9663" anchor="ctr"/>
                </a:tc>
                <a:tc gridSpan="3">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300" b="1" dirty="0">
                          <a:effectLst/>
                          <a:latin typeface="Cambria" panose="02040503050406030204" pitchFamily="18" charset="0"/>
                        </a:rPr>
                        <a:t>Treatment 1 (Early-only)</a:t>
                      </a:r>
                    </a:p>
                  </a:txBody>
                  <a:tcPr marL="9663" marR="9663" marT="9663" marB="9663" anchor="ctr"/>
                </a:tc>
                <a:tc hMerge="1">
                  <a:txBody>
                    <a:bodyPr/>
                    <a:lstStyle/>
                    <a:p>
                      <a:endParaRPr/>
                    </a:p>
                  </a:txBody>
                  <a:tcPr marL="9663" marR="9663" marT="9663" marB="9663" anchor="ctr"/>
                </a:tc>
                <a:tc hMerge="1">
                  <a:txBody>
                    <a:bodyPr/>
                    <a:lstStyle/>
                    <a:p>
                      <a:endParaRPr dirty="0"/>
                    </a:p>
                  </a:txBody>
                  <a:tcPr marL="9663" marR="9663" marT="9663" marB="9663" anchor="ctr"/>
                </a:tc>
                <a:tc gridSpan="3">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1" dirty="0">
                          <a:effectLst/>
                          <a:latin typeface="Cambria" panose="02040503050406030204" pitchFamily="18" charset="0"/>
                        </a:rPr>
                        <a:t>Treatment 2 (Late-only)</a:t>
                      </a:r>
                    </a:p>
                  </a:txBody>
                  <a:tcPr marL="9663" marR="9663" marT="9663" marB="9663" anchor="ctr"/>
                </a:tc>
                <a:tc hMerge="1">
                  <a:txBody>
                    <a:bodyPr/>
                    <a:lstStyle/>
                    <a:p>
                      <a:endParaRPr/>
                    </a:p>
                  </a:txBody>
                  <a:tcPr marL="9663" marR="9663" marT="9663" marB="9663" anchor="ctr"/>
                </a:tc>
                <a:tc hMerge="1">
                  <a:txBody>
                    <a:bodyPr/>
                    <a:lstStyle/>
                    <a:p>
                      <a:endParaRPr dirty="0"/>
                    </a:p>
                  </a:txBody>
                  <a:tcPr marL="9663" marR="9663" marT="9663" marB="9663" anchor="ctr"/>
                </a:tc>
                <a:tc gridSpan="3">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1" dirty="0">
                          <a:effectLst/>
                          <a:latin typeface="Cambria" panose="02040503050406030204" pitchFamily="18" charset="0"/>
                        </a:rPr>
                        <a:t>Treatment 3 (Both)</a:t>
                      </a:r>
                    </a:p>
                  </a:txBody>
                  <a:tcPr marL="9663" marR="9663" marT="9663" marB="9663" anchor="ctr"/>
                </a:tc>
                <a:tc hMerge="1">
                  <a:txBody>
                    <a:bodyPr/>
                    <a:lstStyle/>
                    <a:p>
                      <a:endParaRPr/>
                    </a:p>
                  </a:txBody>
                  <a:tcPr marL="9663" marR="9663" marT="9663" marB="9663" anchor="ctr"/>
                </a:tc>
                <a:tc hMerge="1">
                  <a:txBody>
                    <a:bodyPr/>
                    <a:lstStyle/>
                    <a:p>
                      <a:endParaRPr dirty="0"/>
                    </a:p>
                  </a:txBody>
                  <a:tcPr marL="9663" marR="9663" marT="9663" marB="9663" anchor="ctr"/>
                </a:tc>
                <a:extLst>
                  <a:ext uri="{0D108BD9-81ED-4DB2-BD59-A6C34878D82A}">
                    <a16:rowId xmlns:a16="http://schemas.microsoft.com/office/drawing/2014/main" val="752366488"/>
                  </a:ext>
                </a:extLst>
              </a:tr>
              <a:tr h="415526">
                <a:tc>
                  <a:txBody>
                    <a:bodyPr/>
                    <a:lstStyle/>
                    <a:p>
                      <a:pPr>
                        <a:buNone/>
                      </a:pPr>
                      <a:br>
                        <a:rPr lang="en-US" sz="1300" dirty="0">
                          <a:effectLst/>
                          <a:latin typeface="Cambria" panose="02040503050406030204" pitchFamily="18" charset="0"/>
                        </a:rPr>
                      </a:b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b="1" noProof="1">
                          <a:solidFill>
                            <a:srgbClr val="000000"/>
                          </a:solidFill>
                          <a:effectLst/>
                          <a:latin typeface="Cambria" panose="02040503050406030204" pitchFamily="18" charset="0"/>
                        </a:rPr>
                        <a:t>Mean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Variance</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Mean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Variance</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Mean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Variance</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dirty="0">
                          <a:solidFill>
                            <a:srgbClr val="000000"/>
                          </a:solidFill>
                          <a:effectLst/>
                          <a:latin typeface="Cambria" panose="02040503050406030204" pitchFamily="18" charset="0"/>
                        </a:rPr>
                        <a:t>N</a:t>
                      </a:r>
                      <a:endParaRPr lang="en-US" sz="1300" b="1" dirty="0">
                        <a:effectLst/>
                        <a:latin typeface="Cambria" panose="02040503050406030204" pitchFamily="18" charset="0"/>
                      </a:endParaRPr>
                    </a:p>
                  </a:txBody>
                  <a:tcPr marL="9663" marR="9663" marT="9663" marB="9663" anchor="ctr"/>
                </a:tc>
                <a:tc>
                  <a:txBody>
                    <a:bodyPr/>
                    <a:lstStyle/>
                    <a:p>
                      <a:pPr algn="ctr">
                        <a:buNone/>
                      </a:pPr>
                      <a:r>
                        <a:rPr lang="en-US" sz="1300" b="1" noProof="1">
                          <a:solidFill>
                            <a:srgbClr val="000000"/>
                          </a:solidFill>
                          <a:effectLst/>
                          <a:latin typeface="Cambria" panose="02040503050406030204" pitchFamily="18" charset="0"/>
                        </a:rPr>
                        <a:t>Mean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Variance</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dirty="0">
                          <a:solidFill>
                            <a:srgbClr val="000000"/>
                          </a:solidFill>
                          <a:effectLst/>
                          <a:latin typeface="Cambria" panose="02040503050406030204" pitchFamily="18" charset="0"/>
                        </a:rPr>
                        <a:t>N</a:t>
                      </a:r>
                      <a:endParaRPr lang="en-US" sz="1300" b="1"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3983674024"/>
                  </a:ext>
                </a:extLst>
              </a:tr>
              <a:tr h="297205">
                <a:tc>
                  <a:txBody>
                    <a:bodyPr/>
                    <a:lstStyle/>
                    <a:p>
                      <a:pPr algn="l" fontAlgn="ctr">
                        <a:buNone/>
                      </a:pPr>
                      <a:r>
                        <a:rPr lang="en-US" sz="1100" b="1" i="0" u="none" strike="noStrike" noProof="1">
                          <a:solidFill>
                            <a:srgbClr val="000000"/>
                          </a:solidFill>
                          <a:effectLst/>
                          <a:latin typeface="Cambria" panose="02040503050406030204" pitchFamily="18" charset="0"/>
                        </a:rPr>
                        <a:t>Remittances (pre-average)</a:t>
                      </a:r>
                    </a:p>
                  </a:txBody>
                  <a:tcPr marL="9525" marR="9525" marT="9525" marB="0" anchor="ctr"/>
                </a:tc>
                <a:tc>
                  <a:txBody>
                    <a:bodyPr/>
                    <a:lstStyle/>
                    <a:p>
                      <a:pPr algn="ctr">
                        <a:buNone/>
                      </a:pPr>
                      <a:r>
                        <a:rPr lang="en-US" sz="1300" dirty="0">
                          <a:solidFill>
                            <a:srgbClr val="000000"/>
                          </a:solidFill>
                          <a:effectLst/>
                          <a:latin typeface="Cambria" panose="02040503050406030204" pitchFamily="18" charset="0"/>
                        </a:rPr>
                        <a:t>12.030</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898.155</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2,296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140.646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20,895.362</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144.065</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22,438.363</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397.653</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19,6334.312</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6</a:t>
                      </a:r>
                      <a:endParaRPr lang="en-US" sz="1300"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4029109897"/>
                  </a:ext>
                </a:extLst>
              </a:tr>
              <a:tr h="305127">
                <a:tc>
                  <a:txBody>
                    <a:bodyPr/>
                    <a:lstStyle/>
                    <a:p>
                      <a:pPr algn="l" fontAlgn="ctr">
                        <a:buNone/>
                      </a:pPr>
                      <a:r>
                        <a:rPr lang="en-US" sz="1100" b="1" i="0" u="none" strike="noStrike" noProof="1">
                          <a:solidFill>
                            <a:srgbClr val="000000"/>
                          </a:solidFill>
                          <a:effectLst/>
                          <a:latin typeface="Cambria" panose="02040503050406030204" pitchFamily="18" charset="0"/>
                        </a:rPr>
                        <a:t>Log remittances (pre-average)</a:t>
                      </a:r>
                    </a:p>
                  </a:txBody>
                  <a:tcPr marL="9525" marR="9525" marT="9525" marB="0" anchor="ctr"/>
                </a:tc>
                <a:tc>
                  <a:txBody>
                    <a:bodyPr/>
                    <a:lstStyle/>
                    <a:p>
                      <a:pPr algn="ctr">
                        <a:buNone/>
                      </a:pPr>
                      <a:r>
                        <a:rPr lang="en-US" sz="1300" dirty="0">
                          <a:solidFill>
                            <a:srgbClr val="000000"/>
                          </a:solidFill>
                          <a:effectLst/>
                          <a:latin typeface="Cambria" panose="02040503050406030204" pitchFamily="18" charset="0"/>
                        </a:rPr>
                        <a:t>1.260</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2.076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2,296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4.441</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1.170</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4.226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2.271</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5.550</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913</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6</a:t>
                      </a:r>
                      <a:endParaRPr lang="en-US" sz="1300"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1476366329"/>
                  </a:ext>
                </a:extLst>
              </a:tr>
              <a:tr h="305127">
                <a:tc>
                  <a:txBody>
                    <a:bodyPr/>
                    <a:lstStyle/>
                    <a:p>
                      <a:pPr algn="l" fontAlgn="ctr">
                        <a:buNone/>
                      </a:pPr>
                      <a:r>
                        <a:rPr lang="en-US" sz="1100" b="1" i="0" u="none" strike="noStrike" noProof="1">
                          <a:solidFill>
                            <a:srgbClr val="000000"/>
                          </a:solidFill>
                          <a:effectLst/>
                          <a:latin typeface="Cambria" panose="02040503050406030204" pitchFamily="18" charset="0"/>
                        </a:rPr>
                        <a:t>U.S. migrants (2000, %)</a:t>
                      </a:r>
                    </a:p>
                  </a:txBody>
                  <a:tcPr marL="9525" marR="9525" marT="9525" marB="0" anchor="ctr"/>
                </a:tc>
                <a:tc>
                  <a:txBody>
                    <a:bodyPr/>
                    <a:lstStyle/>
                    <a:p>
                      <a:pPr algn="ctr">
                        <a:buNone/>
                      </a:pPr>
                      <a:r>
                        <a:rPr lang="en-US" sz="1300" dirty="0">
                          <a:solidFill>
                            <a:srgbClr val="000000"/>
                          </a:solidFill>
                          <a:effectLst/>
                          <a:latin typeface="Cambria" panose="02040503050406030204" pitchFamily="18" charset="0"/>
                        </a:rPr>
                        <a:t>6.475</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47.929</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2,296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3.943</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9.615</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3.269</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4.274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2.185</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763</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6</a:t>
                      </a:r>
                      <a:endParaRPr lang="en-US" sz="1300"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3793518527"/>
                  </a:ext>
                </a:extLst>
              </a:tr>
              <a:tr h="247313">
                <a:tc>
                  <a:txBody>
                    <a:bodyPr/>
                    <a:lstStyle/>
                    <a:p>
                      <a:pPr algn="l" fontAlgn="ctr">
                        <a:buNone/>
                      </a:pPr>
                      <a:r>
                        <a:rPr lang="en-US" sz="1100" b="1" i="0" u="none" strike="noStrike" noProof="1">
                          <a:solidFill>
                            <a:srgbClr val="000000"/>
                          </a:solidFill>
                          <a:effectLst/>
                          <a:latin typeface="Cambria" panose="02040503050406030204" pitchFamily="18" charset="0"/>
                        </a:rPr>
                        <a:t>U.S. migrants (2010, %)</a:t>
                      </a:r>
                    </a:p>
                  </a:txBody>
                  <a:tcPr marL="9525" marR="9525" marT="9525" marB="0" anchor="ctr"/>
                </a:tc>
                <a:tc>
                  <a:txBody>
                    <a:bodyPr/>
                    <a:lstStyle/>
                    <a:p>
                      <a:pPr algn="ctr">
                        <a:buNone/>
                      </a:pPr>
                      <a:r>
                        <a:rPr lang="en-US" sz="1300" dirty="0">
                          <a:solidFill>
                            <a:srgbClr val="000000"/>
                          </a:solidFill>
                          <a:effectLst/>
                          <a:latin typeface="Cambria" panose="02040503050406030204" pitchFamily="18" charset="0"/>
                        </a:rPr>
                        <a:t>3.914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17.352</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2,296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1.550</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1.429</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893</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248</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938</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150</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6</a:t>
                      </a:r>
                      <a:endParaRPr lang="en-US" sz="1300"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3061695566"/>
                  </a:ext>
                </a:extLst>
              </a:tr>
              <a:tr h="362942">
                <a:tc>
                  <a:txBody>
                    <a:bodyPr/>
                    <a:lstStyle/>
                    <a:p>
                      <a:pPr algn="l" fontAlgn="ctr">
                        <a:buNone/>
                      </a:pPr>
                      <a:r>
                        <a:rPr lang="en-US" sz="1100" b="1" i="0" u="none" strike="noStrike" noProof="1">
                          <a:solidFill>
                            <a:srgbClr val="000000"/>
                          </a:solidFill>
                          <a:effectLst/>
                          <a:latin typeface="Cambria" panose="02040503050406030204" pitchFamily="18" charset="0"/>
                        </a:rPr>
                        <a:t>MI (2000)</a:t>
                      </a:r>
                    </a:p>
                  </a:txBody>
                  <a:tcPr marL="9525" marR="9525" marT="9525" marB="0" anchor="ctr"/>
                </a:tc>
                <a:tc>
                  <a:txBody>
                    <a:bodyPr/>
                    <a:lstStyle/>
                    <a:p>
                      <a:pPr algn="ctr">
                        <a:buNone/>
                      </a:pPr>
                      <a:r>
                        <a:rPr lang="en-US" sz="1300" dirty="0">
                          <a:solidFill>
                            <a:srgbClr val="000000"/>
                          </a:solidFill>
                          <a:effectLst/>
                          <a:latin typeface="Cambria" panose="02040503050406030204" pitchFamily="18" charset="0"/>
                        </a:rPr>
                        <a:t>0.037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951</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2,295</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-1.286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330</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-1.340</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741</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-1.762</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101</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6</a:t>
                      </a:r>
                      <a:endParaRPr lang="en-US" sz="1300"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3728344148"/>
                  </a:ext>
                </a:extLst>
              </a:tr>
              <a:tr h="362942">
                <a:tc>
                  <a:txBody>
                    <a:bodyPr/>
                    <a:lstStyle/>
                    <a:p>
                      <a:pPr algn="l" fontAlgn="ctr">
                        <a:buNone/>
                      </a:pPr>
                      <a:r>
                        <a:rPr lang="en-US" sz="1100" b="1" i="0" u="none" strike="noStrike" noProof="1">
                          <a:solidFill>
                            <a:srgbClr val="000000"/>
                          </a:solidFill>
                          <a:effectLst/>
                          <a:latin typeface="Cambria" panose="02040503050406030204" pitchFamily="18" charset="0"/>
                        </a:rPr>
                        <a:t>MI (2010)</a:t>
                      </a:r>
                    </a:p>
                  </a:txBody>
                  <a:tcPr marL="9525" marR="9525" marT="9525" marB="0" anchor="ctr"/>
                </a:tc>
                <a:tc>
                  <a:txBody>
                    <a:bodyPr/>
                    <a:lstStyle/>
                    <a:p>
                      <a:pPr algn="ctr">
                        <a:buNone/>
                      </a:pPr>
                      <a:r>
                        <a:rPr lang="en-US" sz="1300" dirty="0">
                          <a:solidFill>
                            <a:srgbClr val="000000"/>
                          </a:solidFill>
                          <a:effectLst/>
                          <a:latin typeface="Cambria" panose="02040503050406030204" pitchFamily="18" charset="0"/>
                        </a:rPr>
                        <a:t>0.036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950</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2,296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-1.261</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284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-1.359</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508</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-1.712</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65</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6</a:t>
                      </a:r>
                      <a:endParaRPr lang="en-US" sz="1300"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3057673198"/>
                  </a:ext>
                </a:extLst>
              </a:tr>
              <a:tr h="416855">
                <a:tc>
                  <a:txBody>
                    <a:bodyPr/>
                    <a:lstStyle/>
                    <a:p>
                      <a:pPr algn="l" fontAlgn="ctr">
                        <a:buNone/>
                      </a:pPr>
                      <a:r>
                        <a:rPr lang="en-US" sz="1100" b="1" i="0" u="none" strike="noStrike" noProof="1">
                          <a:solidFill>
                            <a:srgbClr val="000000"/>
                          </a:solidFill>
                          <a:effectLst/>
                          <a:latin typeface="Cambria" panose="02040503050406030204" pitchFamily="18" charset="0"/>
                        </a:rPr>
                        <a:t>Log population (2010)</a:t>
                      </a:r>
                    </a:p>
                  </a:txBody>
                  <a:tcPr marL="9525" marR="9525" marT="9525" marB="0" anchor="ctr"/>
                </a:tc>
                <a:tc>
                  <a:txBody>
                    <a:bodyPr/>
                    <a:lstStyle/>
                    <a:p>
                      <a:pPr algn="ctr">
                        <a:buNone/>
                      </a:pPr>
                      <a:r>
                        <a:rPr lang="en-US" sz="1300" dirty="0">
                          <a:solidFill>
                            <a:srgbClr val="000000"/>
                          </a:solidFill>
                          <a:effectLst/>
                          <a:latin typeface="Cambria" panose="02040503050406030204" pitchFamily="18" charset="0"/>
                        </a:rPr>
                        <a:t>9.347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2.305</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2,296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12.710</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1.178</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12.617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1.919</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13.909</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1.287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6</a:t>
                      </a:r>
                      <a:endParaRPr lang="en-US" sz="1300"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1544503963"/>
                  </a:ext>
                </a:extLst>
              </a:tr>
              <a:tr h="305127">
                <a:tc>
                  <a:txBody>
                    <a:bodyPr/>
                    <a:lstStyle/>
                    <a:p>
                      <a:pPr algn="l" fontAlgn="ctr">
                        <a:buNone/>
                      </a:pPr>
                      <a:r>
                        <a:rPr lang="en-US" sz="1100" b="1" i="0" u="none" strike="noStrike" noProof="1">
                          <a:solidFill>
                            <a:srgbClr val="000000"/>
                          </a:solidFill>
                          <a:effectLst/>
                          <a:latin typeface="Cambria" panose="02040503050406030204" pitchFamily="18" charset="0"/>
                        </a:rPr>
                        <a:t>Log density</a:t>
                      </a:r>
                    </a:p>
                  </a:txBody>
                  <a:tcPr marL="9525" marR="9525" marT="9525" marB="0" anchor="ctr"/>
                </a:tc>
                <a:tc>
                  <a:txBody>
                    <a:bodyPr/>
                    <a:lstStyle/>
                    <a:p>
                      <a:pPr algn="ctr">
                        <a:buNone/>
                      </a:pPr>
                      <a:r>
                        <a:rPr lang="en-US" sz="1300" dirty="0">
                          <a:solidFill>
                            <a:srgbClr val="000000"/>
                          </a:solidFill>
                          <a:effectLst/>
                          <a:latin typeface="Cambria" panose="02040503050406030204" pitchFamily="18" charset="0"/>
                        </a:rPr>
                        <a:t>3.928</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2.753</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2,296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5.734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1.146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5.994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9.159</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7.744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1.744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6</a:t>
                      </a:r>
                      <a:endParaRPr lang="en-US" sz="1300"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3334404844"/>
                  </a:ext>
                </a:extLst>
              </a:tr>
              <a:tr h="416855">
                <a:tc>
                  <a:txBody>
                    <a:bodyPr/>
                    <a:lstStyle/>
                    <a:p>
                      <a:pPr algn="l" fontAlgn="ctr">
                        <a:buNone/>
                      </a:pPr>
                      <a:r>
                        <a:rPr lang="en-US" sz="1100" b="1" i="0" u="none" strike="noStrike" noProof="1">
                          <a:solidFill>
                            <a:srgbClr val="000000"/>
                          </a:solidFill>
                          <a:effectLst/>
                          <a:latin typeface="Cambria" panose="02040503050406030204" pitchFamily="18" charset="0"/>
                        </a:rPr>
                        <a:t>PEA (%)</a:t>
                      </a:r>
                    </a:p>
                  </a:txBody>
                  <a:tcPr marL="9525" marR="9525" marT="9525" marB="0" anchor="ctr"/>
                </a:tc>
                <a:tc>
                  <a:txBody>
                    <a:bodyPr/>
                    <a:lstStyle/>
                    <a:p>
                      <a:pPr algn="ctr">
                        <a:buNone/>
                      </a:pPr>
                      <a:r>
                        <a:rPr lang="en-US" sz="1300" dirty="0">
                          <a:solidFill>
                            <a:srgbClr val="000000"/>
                          </a:solidFill>
                          <a:effectLst/>
                          <a:latin typeface="Cambria" panose="02040503050406030204" pitchFamily="18" charset="0"/>
                        </a:rPr>
                        <a:t>47.736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73.086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2,296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56.225</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5.383</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56.822</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5.959</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57.904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2.688</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6</a:t>
                      </a:r>
                      <a:endParaRPr lang="en-US" sz="1300"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1307184386"/>
                  </a:ext>
                </a:extLst>
              </a:tr>
            </a:tbl>
          </a:graphicData>
        </a:graphic>
      </p:graphicFrame>
      <p:sp>
        <p:nvSpPr>
          <p:cNvPr id="8" name="CuadroTexto 7">
            <a:extLst>
              <a:ext uri="{FF2B5EF4-FFF2-40B4-BE49-F238E27FC236}">
                <a16:creationId xmlns:a16="http://schemas.microsoft.com/office/drawing/2014/main" id="{F4313B21-26A6-D080-8AD9-E9C798477A01}"/>
              </a:ext>
            </a:extLst>
          </p:cNvPr>
          <p:cNvSpPr txBox="1"/>
          <p:nvPr/>
        </p:nvSpPr>
        <p:spPr>
          <a:xfrm>
            <a:off x="548640" y="1605105"/>
            <a:ext cx="11039094" cy="338554"/>
          </a:xfrm>
          <a:prstGeom prst="rect">
            <a:avLst/>
          </a:prstGeom>
          <a:noFill/>
        </p:spPr>
        <p:txBody>
          <a:bodyPr wrap="square">
            <a:spAutoFit/>
          </a:bodyPr>
          <a:lstStyle/>
          <a:p>
            <a:pPr marL="285750" indent="-285750">
              <a:buFont typeface="Arial" panose="020B0604020202020204" pitchFamily="34" charset="0"/>
              <a:buChar char="•"/>
            </a:pPr>
            <a:r>
              <a:rPr lang="en-US" sz="1600" noProof="1">
                <a:latin typeface="Cambria" panose="02040503050406030204" pitchFamily="18" charset="0"/>
              </a:rPr>
              <a:t>Pre-balance imbalances are large, as expected, but imbalances between treated groups are relatively small.</a:t>
            </a:r>
          </a:p>
        </p:txBody>
      </p:sp>
    </p:spTree>
    <p:extLst>
      <p:ext uri="{BB962C8B-B14F-4D97-AF65-F5344CB8AC3E}">
        <p14:creationId xmlns:p14="http://schemas.microsoft.com/office/powerpoint/2010/main" val="22416286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i="0" dirty="0">
                <a:solidFill>
                  <a:srgbClr val="000000"/>
                </a:solidFill>
                <a:latin typeface="Cambria"/>
              </a:rPr>
              <a:t>EB Results — </a:t>
            </a:r>
            <a:r>
              <a:rPr lang="en-US" sz="3600" b="1" noProof="1">
                <a:solidFill>
                  <a:srgbClr val="000000"/>
                </a:solidFill>
                <a:latin typeface="Cambria"/>
              </a:rPr>
              <a:t>Strategy</a:t>
            </a:r>
            <a:r>
              <a:rPr lang="es-AR" sz="3600" b="1" dirty="0">
                <a:solidFill>
                  <a:srgbClr val="000000"/>
                </a:solidFill>
                <a:latin typeface="Cambria"/>
              </a:rPr>
              <a:t> 3 </a:t>
            </a:r>
            <a:r>
              <a:rPr sz="3600" b="1" i="0" dirty="0">
                <a:solidFill>
                  <a:srgbClr val="000000"/>
                </a:solidFill>
                <a:latin typeface="Cambria"/>
              </a:rPr>
              <a:t>(3 groups)</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82693" y="1567791"/>
            <a:ext cx="4760667" cy="1596784"/>
          </a:xfrm>
          <a:prstGeom prst="rect">
            <a:avLst/>
          </a:prstGeom>
          <a:noFill/>
        </p:spPr>
        <p:txBody>
          <a:bodyPr wrap="square" lIns="0" tIns="0" rIns="0" bIns="0">
            <a:spAutoFit/>
          </a:bodyPr>
          <a:lstStyle/>
          <a:p>
            <a:pPr marL="320040" indent="-228600" algn="l">
              <a:lnSpc>
                <a:spcPct val="115000"/>
              </a:lnSpc>
              <a:spcBef>
                <a:spcPts val="800"/>
              </a:spcBef>
              <a:buFont typeface="Arial"/>
              <a:buChar char="•"/>
            </a:pPr>
            <a:r>
              <a:rPr lang="en-US" sz="1600" b="0" i="0" noProof="1">
                <a:solidFill>
                  <a:srgbClr val="000000"/>
                </a:solidFill>
                <a:latin typeface="Cambria"/>
              </a:rPr>
              <a:t>All four balances converge when matching means only — not when mathcing also variances.</a:t>
            </a:r>
          </a:p>
          <a:p>
            <a:pPr marL="320040" indent="-228600" algn="l">
              <a:lnSpc>
                <a:spcPct val="115000"/>
              </a:lnSpc>
              <a:spcBef>
                <a:spcPts val="800"/>
              </a:spcBef>
              <a:buFont typeface="Arial"/>
              <a:buChar char="•"/>
            </a:pPr>
            <a:r>
              <a:rPr lang="en-US" sz="1600" noProof="1">
                <a:solidFill>
                  <a:srgbClr val="000000"/>
                </a:solidFill>
                <a:latin typeface="Cambria"/>
              </a:rPr>
              <a:t>Weights have less extreme values with this strategy.</a:t>
            </a:r>
          </a:p>
          <a:p>
            <a:pPr marL="320040" indent="-228600">
              <a:lnSpc>
                <a:spcPct val="115000"/>
              </a:lnSpc>
              <a:spcBef>
                <a:spcPts val="800"/>
              </a:spcBef>
              <a:buFont typeface="Arial"/>
              <a:buChar char="•"/>
            </a:pPr>
            <a:r>
              <a:rPr lang="en-US" sz="1600" noProof="1">
                <a:solidFill>
                  <a:srgbClr val="000000"/>
                </a:solidFill>
                <a:latin typeface="Cambria"/>
              </a:rPr>
              <a:t>Some weights are relatively large.</a:t>
            </a:r>
          </a:p>
        </p:txBody>
      </p:sp>
      <p:sp>
        <p:nvSpPr>
          <p:cNvPr id="6" name="TextBox 5"/>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18 / 31</a:t>
            </a:r>
          </a:p>
        </p:txBody>
      </p:sp>
      <p:pic>
        <p:nvPicPr>
          <p:cNvPr id="13" name="Imagen 12">
            <a:extLst>
              <a:ext uri="{FF2B5EF4-FFF2-40B4-BE49-F238E27FC236}">
                <a16:creationId xmlns:a16="http://schemas.microsoft.com/office/drawing/2014/main" id="{56D55EB0-266A-3336-CC5B-A029A790E4C7}"/>
              </a:ext>
            </a:extLst>
          </p:cNvPr>
          <p:cNvPicPr>
            <a:picLocks noChangeAspect="1"/>
          </p:cNvPicPr>
          <p:nvPr/>
        </p:nvPicPr>
        <p:blipFill>
          <a:blip r:embed="rId2"/>
          <a:stretch>
            <a:fillRect/>
          </a:stretch>
        </p:blipFill>
        <p:spPr>
          <a:xfrm>
            <a:off x="548640" y="1283946"/>
            <a:ext cx="6180000" cy="3708000"/>
          </a:xfrm>
          <a:prstGeom prst="rect">
            <a:avLst/>
          </a:prstGeom>
        </p:spPr>
      </p:pic>
      <p:graphicFrame>
        <p:nvGraphicFramePr>
          <p:cNvPr id="14" name="Tabla 13">
            <a:extLst>
              <a:ext uri="{FF2B5EF4-FFF2-40B4-BE49-F238E27FC236}">
                <a16:creationId xmlns:a16="http://schemas.microsoft.com/office/drawing/2014/main" id="{CF857361-A89D-E7AD-1662-F531D9572F8E}"/>
              </a:ext>
            </a:extLst>
          </p:cNvPr>
          <p:cNvGraphicFramePr>
            <a:graphicFrameLocks noGrp="1"/>
          </p:cNvGraphicFramePr>
          <p:nvPr>
            <p:extLst>
              <p:ext uri="{D42A27DB-BD31-4B8C-83A1-F6EECF244321}">
                <p14:modId xmlns:p14="http://schemas.microsoft.com/office/powerpoint/2010/main" val="2815633492"/>
              </p:ext>
            </p:extLst>
          </p:nvPr>
        </p:nvGraphicFramePr>
        <p:xfrm>
          <a:off x="1973997" y="5232240"/>
          <a:ext cx="8244005" cy="1260000"/>
        </p:xfrm>
        <a:graphic>
          <a:graphicData uri="http://schemas.openxmlformats.org/drawingml/2006/table">
            <a:tbl>
              <a:tblPr>
                <a:tableStyleId>{9D7B26C5-4107-4FEC-AEDC-1716B250A1EF}</a:tableStyleId>
              </a:tblPr>
              <a:tblGrid>
                <a:gridCol w="471086">
                  <a:extLst>
                    <a:ext uri="{9D8B030D-6E8A-4147-A177-3AD203B41FA5}">
                      <a16:colId xmlns:a16="http://schemas.microsoft.com/office/drawing/2014/main" val="3560264790"/>
                    </a:ext>
                  </a:extLst>
                </a:gridCol>
                <a:gridCol w="706629">
                  <a:extLst>
                    <a:ext uri="{9D8B030D-6E8A-4147-A177-3AD203B41FA5}">
                      <a16:colId xmlns:a16="http://schemas.microsoft.com/office/drawing/2014/main" val="3828279939"/>
                    </a:ext>
                  </a:extLst>
                </a:gridCol>
                <a:gridCol w="706629">
                  <a:extLst>
                    <a:ext uri="{9D8B030D-6E8A-4147-A177-3AD203B41FA5}">
                      <a16:colId xmlns:a16="http://schemas.microsoft.com/office/drawing/2014/main" val="2834286572"/>
                    </a:ext>
                  </a:extLst>
                </a:gridCol>
                <a:gridCol w="706629">
                  <a:extLst>
                    <a:ext uri="{9D8B030D-6E8A-4147-A177-3AD203B41FA5}">
                      <a16:colId xmlns:a16="http://schemas.microsoft.com/office/drawing/2014/main" val="550089573"/>
                    </a:ext>
                  </a:extLst>
                </a:gridCol>
                <a:gridCol w="706629">
                  <a:extLst>
                    <a:ext uri="{9D8B030D-6E8A-4147-A177-3AD203B41FA5}">
                      <a16:colId xmlns:a16="http://schemas.microsoft.com/office/drawing/2014/main" val="3787189434"/>
                    </a:ext>
                  </a:extLst>
                </a:gridCol>
                <a:gridCol w="706629">
                  <a:extLst>
                    <a:ext uri="{9D8B030D-6E8A-4147-A177-3AD203B41FA5}">
                      <a16:colId xmlns:a16="http://schemas.microsoft.com/office/drawing/2014/main" val="3582154798"/>
                    </a:ext>
                  </a:extLst>
                </a:gridCol>
                <a:gridCol w="706629">
                  <a:extLst>
                    <a:ext uri="{9D8B030D-6E8A-4147-A177-3AD203B41FA5}">
                      <a16:colId xmlns:a16="http://schemas.microsoft.com/office/drawing/2014/main" val="904338302"/>
                    </a:ext>
                  </a:extLst>
                </a:gridCol>
                <a:gridCol w="706629">
                  <a:extLst>
                    <a:ext uri="{9D8B030D-6E8A-4147-A177-3AD203B41FA5}">
                      <a16:colId xmlns:a16="http://schemas.microsoft.com/office/drawing/2014/main" val="3472360867"/>
                    </a:ext>
                  </a:extLst>
                </a:gridCol>
                <a:gridCol w="706629">
                  <a:extLst>
                    <a:ext uri="{9D8B030D-6E8A-4147-A177-3AD203B41FA5}">
                      <a16:colId xmlns:a16="http://schemas.microsoft.com/office/drawing/2014/main" val="1262165109"/>
                    </a:ext>
                  </a:extLst>
                </a:gridCol>
                <a:gridCol w="706629">
                  <a:extLst>
                    <a:ext uri="{9D8B030D-6E8A-4147-A177-3AD203B41FA5}">
                      <a16:colId xmlns:a16="http://schemas.microsoft.com/office/drawing/2014/main" val="599111537"/>
                    </a:ext>
                  </a:extLst>
                </a:gridCol>
                <a:gridCol w="706629">
                  <a:extLst>
                    <a:ext uri="{9D8B030D-6E8A-4147-A177-3AD203B41FA5}">
                      <a16:colId xmlns:a16="http://schemas.microsoft.com/office/drawing/2014/main" val="1712891802"/>
                    </a:ext>
                  </a:extLst>
                </a:gridCol>
                <a:gridCol w="706629">
                  <a:extLst>
                    <a:ext uri="{9D8B030D-6E8A-4147-A177-3AD203B41FA5}">
                      <a16:colId xmlns:a16="http://schemas.microsoft.com/office/drawing/2014/main" val="2657935773"/>
                    </a:ext>
                  </a:extLst>
                </a:gridCol>
              </a:tblGrid>
              <a:tr h="252000">
                <a:tc>
                  <a:txBody>
                    <a:bodyPr/>
                    <a:lstStyle/>
                    <a:p>
                      <a:pPr algn="ctr" fontAlgn="ctr">
                        <a:buNone/>
                      </a:pPr>
                      <a:r>
                        <a:rPr lang="es-AR" sz="1300" u="none" strike="noStrike">
                          <a:effectLst/>
                          <a:latin typeface="Cambria" panose="02040503050406030204" pitchFamily="18" charset="0"/>
                        </a:rPr>
                        <a:t> </a:t>
                      </a:r>
                      <a:endParaRPr lang="es-AR" sz="1300" b="1" i="0" u="none" strike="noStrike">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Mean</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Min</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Max</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Variance</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p1</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a:effectLst/>
                          <a:latin typeface="Cambria" panose="02040503050406030204" pitchFamily="18" charset="0"/>
                        </a:rPr>
                        <a:t>p5</a:t>
                      </a:r>
                      <a:endParaRPr lang="es-AR" sz="1300" b="1" i="0" u="none" strike="noStrike">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a:effectLst/>
                          <a:latin typeface="Cambria" panose="02040503050406030204" pitchFamily="18" charset="0"/>
                        </a:rPr>
                        <a:t>p10</a:t>
                      </a:r>
                      <a:endParaRPr lang="es-AR" sz="1300" b="1" i="0" u="none" strike="noStrike">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a:effectLst/>
                          <a:latin typeface="Cambria" panose="02040503050406030204" pitchFamily="18" charset="0"/>
                        </a:rPr>
                        <a:t>p50</a:t>
                      </a:r>
                      <a:endParaRPr lang="es-AR" sz="1300" b="1" i="0" u="none" strike="noStrike">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a:effectLst/>
                          <a:latin typeface="Cambria" panose="02040503050406030204" pitchFamily="18" charset="0"/>
                        </a:rPr>
                        <a:t>p90</a:t>
                      </a:r>
                      <a:endParaRPr lang="es-AR" sz="1300" b="1" i="0" u="none" strike="noStrike">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p95</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p99</a:t>
                      </a:r>
                      <a:endParaRPr lang="es-AR" sz="1300" b="1" i="0" u="none" strike="noStrike" dirty="0">
                        <a:solidFill>
                          <a:srgbClr val="FFFFFF"/>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3607085352"/>
                  </a:ext>
                </a:extLst>
              </a:tr>
              <a:tr h="252000">
                <a:tc>
                  <a:txBody>
                    <a:bodyPr/>
                    <a:lstStyle/>
                    <a:p>
                      <a:pPr algn="ctr" fontAlgn="ctr">
                        <a:buNone/>
                      </a:pPr>
                      <a:r>
                        <a:rPr lang="es-AR" sz="1300" u="none" strike="noStrike" dirty="0">
                          <a:effectLst/>
                          <a:latin typeface="Cambria" panose="02040503050406030204" pitchFamily="18" charset="0"/>
                        </a:rPr>
                        <a:t>w3.1</a:t>
                      </a:r>
                      <a:endParaRPr lang="es-AR" sz="1300" b="1"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0,017</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0,003</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3,770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0,018</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0,003</a:t>
                      </a:r>
                      <a:endParaRPr lang="es-AR" sz="1300" b="0"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0,003</a:t>
                      </a:r>
                      <a:endParaRPr lang="es-AR" sz="1300" b="0"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0,003</a:t>
                      </a:r>
                      <a:endParaRPr lang="es-AR" sz="1300" b="0"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0,003</a:t>
                      </a:r>
                      <a:endParaRPr lang="es-AR" sz="1300" b="0"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0,005</a:t>
                      </a:r>
                      <a:endParaRPr lang="es-AR" sz="1300" b="0"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0,008</a:t>
                      </a:r>
                      <a:endParaRPr lang="es-AR" sz="1300" b="0"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1,000</a:t>
                      </a:r>
                      <a:endParaRPr lang="es-AR" sz="1300" b="0" i="0" u="none" strike="noStrike">
                        <a:solidFill>
                          <a:srgbClr val="000000"/>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1561194328"/>
                  </a:ext>
                </a:extLst>
              </a:tr>
              <a:tr h="252000">
                <a:tc>
                  <a:txBody>
                    <a:bodyPr/>
                    <a:lstStyle/>
                    <a:p>
                      <a:pPr algn="ctr" fontAlgn="ctr">
                        <a:buNone/>
                      </a:pPr>
                      <a:r>
                        <a:rPr lang="es-AR" sz="1300" u="none" strike="noStrike" dirty="0">
                          <a:effectLst/>
                          <a:latin typeface="Cambria" panose="02040503050406030204" pitchFamily="18" charset="0"/>
                        </a:rPr>
                        <a:t>w3.2</a:t>
                      </a:r>
                      <a:endParaRPr lang="es-AR" sz="1300" b="1"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0,017</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1,179</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0,013</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0,004</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0,019</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1,000</a:t>
                      </a:r>
                      <a:endParaRPr lang="es-AR" sz="1300" b="0" i="0" u="none" strike="noStrike">
                        <a:solidFill>
                          <a:srgbClr val="000000"/>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1248531324"/>
                  </a:ext>
                </a:extLst>
              </a:tr>
              <a:tr h="252000">
                <a:tc>
                  <a:txBody>
                    <a:bodyPr/>
                    <a:lstStyle/>
                    <a:p>
                      <a:pPr algn="ctr" fontAlgn="ctr">
                        <a:buNone/>
                      </a:pPr>
                      <a:r>
                        <a:rPr lang="es-AR" sz="1300" u="none" strike="noStrike" dirty="0">
                          <a:effectLst/>
                          <a:latin typeface="Cambria" panose="02040503050406030204" pitchFamily="18" charset="0"/>
                        </a:rPr>
                        <a:t>w3.3</a:t>
                      </a:r>
                      <a:endParaRPr lang="es-AR" sz="1300" b="1"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0,017</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1,583</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0,013</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0,006</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0,025</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1,000</a:t>
                      </a:r>
                      <a:endParaRPr lang="es-AR" sz="1300" b="0" i="0" u="none" strike="noStrike">
                        <a:solidFill>
                          <a:srgbClr val="000000"/>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818190522"/>
                  </a:ext>
                </a:extLst>
              </a:tr>
              <a:tr h="252000">
                <a:tc>
                  <a:txBody>
                    <a:bodyPr/>
                    <a:lstStyle/>
                    <a:p>
                      <a:pPr algn="ctr" fontAlgn="ctr">
                        <a:buNone/>
                      </a:pPr>
                      <a:r>
                        <a:rPr lang="es-AR" sz="1300" u="none" strike="noStrike" dirty="0">
                          <a:effectLst/>
                          <a:latin typeface="Cambria" panose="02040503050406030204" pitchFamily="18" charset="0"/>
                        </a:rPr>
                        <a:t>w3.4</a:t>
                      </a:r>
                      <a:endParaRPr lang="es-AR" sz="1300" b="1"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0,017</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1,260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0,013</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0,005</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0,021</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1,000</a:t>
                      </a:r>
                      <a:endParaRPr lang="es-AR" sz="1300" b="0" i="0" u="none" strike="noStrike" dirty="0">
                        <a:solidFill>
                          <a:srgbClr val="000000"/>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2479259801"/>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47C47-1DE9-3BC9-C50F-1F301F661F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AE39482-6700-0DDF-F5FA-E33A6607B52B}"/>
              </a:ext>
            </a:extLst>
          </p:cNvPr>
          <p:cNvSpPr txBox="1"/>
          <p:nvPr/>
        </p:nvSpPr>
        <p:spPr>
          <a:xfrm>
            <a:off x="548640" y="256032"/>
            <a:ext cx="11155680" cy="553998"/>
          </a:xfrm>
          <a:prstGeom prst="rect">
            <a:avLst/>
          </a:prstGeom>
          <a:noFill/>
        </p:spPr>
        <p:txBody>
          <a:bodyPr wrap="square" lIns="0" tIns="0" rIns="0" bIns="0" anchor="t">
            <a:spAutoFit/>
          </a:bodyPr>
          <a:lstStyle/>
          <a:p>
            <a:r>
              <a:rPr sz="3600" b="1" i="0" dirty="0">
                <a:solidFill>
                  <a:srgbClr val="000000"/>
                </a:solidFill>
                <a:latin typeface="Cambria"/>
              </a:rPr>
              <a:t>EB Results — </a:t>
            </a:r>
            <a:r>
              <a:rPr lang="en-US" sz="3600" b="1" noProof="1">
                <a:solidFill>
                  <a:srgbClr val="000000"/>
                </a:solidFill>
                <a:latin typeface="Cambria"/>
              </a:rPr>
              <a:t>Strategy</a:t>
            </a:r>
            <a:r>
              <a:rPr lang="es-AR" sz="3600" b="1" dirty="0">
                <a:solidFill>
                  <a:srgbClr val="000000"/>
                </a:solidFill>
                <a:latin typeface="Cambria"/>
              </a:rPr>
              <a:t> 3 </a:t>
            </a:r>
            <a:r>
              <a:rPr sz="3600" b="1" i="0" dirty="0">
                <a:solidFill>
                  <a:srgbClr val="000000"/>
                </a:solidFill>
                <a:latin typeface="Cambria"/>
              </a:rPr>
              <a:t>(3 groups)</a:t>
            </a:r>
          </a:p>
        </p:txBody>
      </p:sp>
      <p:sp>
        <p:nvSpPr>
          <p:cNvPr id="3" name="Rectangle 2">
            <a:extLst>
              <a:ext uri="{FF2B5EF4-FFF2-40B4-BE49-F238E27FC236}">
                <a16:creationId xmlns:a16="http://schemas.microsoft.com/office/drawing/2014/main" id="{C676F058-1029-32C4-36BB-434CEC1B76E2}"/>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22F7F430-BCD0-358B-BA62-3129E4ED4DB2}"/>
              </a:ext>
            </a:extLst>
          </p:cNvPr>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18 / 31</a:t>
            </a:r>
          </a:p>
        </p:txBody>
      </p:sp>
      <p:graphicFrame>
        <p:nvGraphicFramePr>
          <p:cNvPr id="4" name="Tabla 3">
            <a:extLst>
              <a:ext uri="{FF2B5EF4-FFF2-40B4-BE49-F238E27FC236}">
                <a16:creationId xmlns:a16="http://schemas.microsoft.com/office/drawing/2014/main" id="{5B0114B2-C526-48FD-A892-71D0FAEA8DD5}"/>
              </a:ext>
            </a:extLst>
          </p:cNvPr>
          <p:cNvGraphicFramePr>
            <a:graphicFrameLocks noGrp="1"/>
          </p:cNvGraphicFramePr>
          <p:nvPr>
            <p:extLst>
              <p:ext uri="{D42A27DB-BD31-4B8C-83A1-F6EECF244321}">
                <p14:modId xmlns:p14="http://schemas.microsoft.com/office/powerpoint/2010/main" val="3556820028"/>
              </p:ext>
            </p:extLst>
          </p:nvPr>
        </p:nvGraphicFramePr>
        <p:xfrm>
          <a:off x="1938000" y="2157985"/>
          <a:ext cx="8316000" cy="3949198"/>
        </p:xfrm>
        <a:graphic>
          <a:graphicData uri="http://schemas.openxmlformats.org/drawingml/2006/table">
            <a:tbl>
              <a:tblPr>
                <a:tableStyleId>{9D7B26C5-4107-4FEC-AEDC-1716B250A1EF}</a:tableStyleId>
              </a:tblPr>
              <a:tblGrid>
                <a:gridCol w="2045236">
                  <a:extLst>
                    <a:ext uri="{9D8B030D-6E8A-4147-A177-3AD203B41FA5}">
                      <a16:colId xmlns:a16="http://schemas.microsoft.com/office/drawing/2014/main" val="548484442"/>
                    </a:ext>
                  </a:extLst>
                </a:gridCol>
                <a:gridCol w="617429">
                  <a:extLst>
                    <a:ext uri="{9D8B030D-6E8A-4147-A177-3AD203B41FA5}">
                      <a16:colId xmlns:a16="http://schemas.microsoft.com/office/drawing/2014/main" val="50199534"/>
                    </a:ext>
                  </a:extLst>
                </a:gridCol>
                <a:gridCol w="733198">
                  <a:extLst>
                    <a:ext uri="{9D8B030D-6E8A-4147-A177-3AD203B41FA5}">
                      <a16:colId xmlns:a16="http://schemas.microsoft.com/office/drawing/2014/main" val="4113776793"/>
                    </a:ext>
                  </a:extLst>
                </a:gridCol>
                <a:gridCol w="482363">
                  <a:extLst>
                    <a:ext uri="{9D8B030D-6E8A-4147-A177-3AD203B41FA5}">
                      <a16:colId xmlns:a16="http://schemas.microsoft.com/office/drawing/2014/main" val="2769040569"/>
                    </a:ext>
                  </a:extLst>
                </a:gridCol>
                <a:gridCol w="733198">
                  <a:extLst>
                    <a:ext uri="{9D8B030D-6E8A-4147-A177-3AD203B41FA5}">
                      <a16:colId xmlns:a16="http://schemas.microsoft.com/office/drawing/2014/main" val="3462176735"/>
                    </a:ext>
                  </a:extLst>
                </a:gridCol>
                <a:gridCol w="984027">
                  <a:extLst>
                    <a:ext uri="{9D8B030D-6E8A-4147-A177-3AD203B41FA5}">
                      <a16:colId xmlns:a16="http://schemas.microsoft.com/office/drawing/2014/main" val="3804174065"/>
                    </a:ext>
                  </a:extLst>
                </a:gridCol>
                <a:gridCol w="501665">
                  <a:extLst>
                    <a:ext uri="{9D8B030D-6E8A-4147-A177-3AD203B41FA5}">
                      <a16:colId xmlns:a16="http://schemas.microsoft.com/office/drawing/2014/main" val="3340644355"/>
                    </a:ext>
                  </a:extLst>
                </a:gridCol>
                <a:gridCol w="713896">
                  <a:extLst>
                    <a:ext uri="{9D8B030D-6E8A-4147-A177-3AD203B41FA5}">
                      <a16:colId xmlns:a16="http://schemas.microsoft.com/office/drawing/2014/main" val="2715220487"/>
                    </a:ext>
                  </a:extLst>
                </a:gridCol>
                <a:gridCol w="1003323">
                  <a:extLst>
                    <a:ext uri="{9D8B030D-6E8A-4147-A177-3AD203B41FA5}">
                      <a16:colId xmlns:a16="http://schemas.microsoft.com/office/drawing/2014/main" val="2505011515"/>
                    </a:ext>
                  </a:extLst>
                </a:gridCol>
                <a:gridCol w="501665">
                  <a:extLst>
                    <a:ext uri="{9D8B030D-6E8A-4147-A177-3AD203B41FA5}">
                      <a16:colId xmlns:a16="http://schemas.microsoft.com/office/drawing/2014/main" val="3761027697"/>
                    </a:ext>
                  </a:extLst>
                </a:gridCol>
              </a:tblGrid>
              <a:tr h="419093">
                <a:tc>
                  <a:txBody>
                    <a:bodyPr/>
                    <a:lstStyle/>
                    <a:p>
                      <a:pPr algn="ctr">
                        <a:buNone/>
                      </a:pPr>
                      <a:br>
                        <a:rPr lang="es-AR" sz="1300" dirty="0">
                          <a:effectLst/>
                          <a:latin typeface="Cambria" panose="02040503050406030204" pitchFamily="18" charset="0"/>
                        </a:rPr>
                      </a:br>
                      <a:endParaRPr lang="es-AR" sz="1300" dirty="0">
                        <a:effectLst/>
                        <a:latin typeface="Cambria" panose="02040503050406030204" pitchFamily="18" charset="0"/>
                      </a:endParaRPr>
                    </a:p>
                  </a:txBody>
                  <a:tcPr marL="11418" marR="11418" marT="11418" marB="11418" anchor="ctr"/>
                </a:tc>
                <a:tc gridSpan="3">
                  <a:txBody>
                    <a:bodyPr/>
                    <a:lstStyle/>
                    <a:p>
                      <a:pPr algn="ctr">
                        <a:buNone/>
                      </a:pPr>
                      <a:r>
                        <a:rPr lang="en-US" sz="1300" b="1" noProof="1">
                          <a:effectLst/>
                          <a:latin typeface="Cambria" panose="02040503050406030204" pitchFamily="18" charset="0"/>
                        </a:rPr>
                        <a:t>Control</a:t>
                      </a:r>
                    </a:p>
                  </a:txBody>
                  <a:tcPr marL="11418" marR="11418" marT="11418" marB="11418" anchor="ctr"/>
                </a:tc>
                <a:tc hMerge="1">
                  <a:txBody>
                    <a:bodyPr/>
                    <a:lstStyle/>
                    <a:p>
                      <a:endParaRPr/>
                    </a:p>
                  </a:txBody>
                  <a:tcPr marL="11418" marR="11418" marT="11418" marB="11418" anchor="ctr"/>
                </a:tc>
                <a:tc hMerge="1">
                  <a:txBody>
                    <a:bodyPr/>
                    <a:lstStyle/>
                    <a:p>
                      <a:endParaRPr dirty="0"/>
                    </a:p>
                  </a:txBody>
                  <a:tcPr marL="11418" marR="11418" marT="11418" marB="11418" anchor="ctr"/>
                </a:tc>
                <a:tc gridSpan="3">
                  <a:txBody>
                    <a:bodyPr/>
                    <a:lstStyle/>
                    <a:p>
                      <a:pPr algn="ctr">
                        <a:buNone/>
                      </a:pPr>
                      <a:r>
                        <a:rPr lang="en-US" sz="1300" b="1" noProof="1">
                          <a:effectLst/>
                          <a:latin typeface="Cambria" panose="02040503050406030204" pitchFamily="18" charset="0"/>
                        </a:rPr>
                        <a:t>Treatment 1 (Early-any)</a:t>
                      </a:r>
                    </a:p>
                  </a:txBody>
                  <a:tcPr marL="11418" marR="11418" marT="11418" marB="11418" anchor="ctr"/>
                </a:tc>
                <a:tc hMerge="1">
                  <a:txBody>
                    <a:bodyPr/>
                    <a:lstStyle/>
                    <a:p>
                      <a:endParaRPr/>
                    </a:p>
                  </a:txBody>
                  <a:tcPr marL="11418" marR="11418" marT="11418" marB="11418" anchor="ctr"/>
                </a:tc>
                <a:tc hMerge="1">
                  <a:txBody>
                    <a:bodyPr/>
                    <a:lstStyle/>
                    <a:p>
                      <a:endParaRPr dirty="0"/>
                    </a:p>
                  </a:txBody>
                  <a:tcPr marL="11418" marR="11418" marT="11418" marB="11418" anchor="ctr"/>
                </a:tc>
                <a:tc gridSpan="3">
                  <a:txBody>
                    <a:bodyPr/>
                    <a:lstStyle/>
                    <a:p>
                      <a:pPr algn="ctr">
                        <a:buNone/>
                      </a:pPr>
                      <a:r>
                        <a:rPr lang="en-US" sz="1300" b="1" noProof="1">
                          <a:effectLst/>
                          <a:latin typeface="Cambria" panose="02040503050406030204" pitchFamily="18" charset="0"/>
                        </a:rPr>
                        <a:t>Treatment 2 (</a:t>
                      </a:r>
                      <a:r>
                        <a:rPr lang="en-US" sz="1400" b="1" i="0" noProof="1">
                          <a:solidFill>
                            <a:srgbClr val="000000"/>
                          </a:solidFill>
                          <a:latin typeface="Cambria"/>
                        </a:rPr>
                        <a:t>Late-only</a:t>
                      </a:r>
                      <a:r>
                        <a:rPr lang="en-US" sz="1300" b="1" noProof="1">
                          <a:effectLst/>
                          <a:latin typeface="Cambria" panose="02040503050406030204" pitchFamily="18" charset="0"/>
                        </a:rPr>
                        <a:t>)</a:t>
                      </a:r>
                    </a:p>
                  </a:txBody>
                  <a:tcPr marL="11418" marR="11418" marT="11418" marB="11418" anchor="ctr"/>
                </a:tc>
                <a:tc hMerge="1">
                  <a:txBody>
                    <a:bodyPr/>
                    <a:lstStyle/>
                    <a:p>
                      <a:endParaRPr/>
                    </a:p>
                  </a:txBody>
                  <a:tcPr marL="11418" marR="11418" marT="11418" marB="11418" anchor="ctr"/>
                </a:tc>
                <a:tc hMerge="1">
                  <a:txBody>
                    <a:bodyPr/>
                    <a:lstStyle/>
                    <a:p>
                      <a:endParaRPr dirty="0"/>
                    </a:p>
                  </a:txBody>
                  <a:tcPr marL="11418" marR="11418" marT="11418" marB="11418" anchor="ctr"/>
                </a:tc>
                <a:extLst>
                  <a:ext uri="{0D108BD9-81ED-4DB2-BD59-A6C34878D82A}">
                    <a16:rowId xmlns:a16="http://schemas.microsoft.com/office/drawing/2014/main" val="29108549"/>
                  </a:ext>
                </a:extLst>
              </a:tr>
              <a:tr h="419093">
                <a:tc>
                  <a:txBody>
                    <a:bodyPr/>
                    <a:lstStyle/>
                    <a:p>
                      <a:pPr algn="ctr">
                        <a:buNone/>
                      </a:pPr>
                      <a:br>
                        <a:rPr lang="es-AR" sz="1300" dirty="0">
                          <a:effectLst/>
                          <a:latin typeface="Cambria" panose="02040503050406030204" pitchFamily="18" charset="0"/>
                        </a:rPr>
                      </a:br>
                      <a:endParaRPr lang="es-AR" sz="1300" dirty="0">
                        <a:effectLst/>
                        <a:latin typeface="Cambria" panose="02040503050406030204" pitchFamily="18" charset="0"/>
                      </a:endParaRPr>
                    </a:p>
                  </a:txBody>
                  <a:tcPr marL="11418" marR="11418" marT="11418" marB="11418" anchor="ctr"/>
                </a:tc>
                <a:tc>
                  <a:txBody>
                    <a:bodyPr/>
                    <a:lstStyle/>
                    <a:p>
                      <a:pPr algn="ctr">
                        <a:buNone/>
                      </a:pPr>
                      <a:r>
                        <a:rPr lang="en-US" sz="1300" b="1" noProof="1">
                          <a:solidFill>
                            <a:srgbClr val="000000"/>
                          </a:solidFill>
                          <a:effectLst/>
                          <a:latin typeface="Cambria" panose="02040503050406030204" pitchFamily="18" charset="0"/>
                        </a:rPr>
                        <a:t>Mean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Variance</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Mean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Variance</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Mean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Variance</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dirty="0">
                          <a:solidFill>
                            <a:srgbClr val="000000"/>
                          </a:solidFill>
                          <a:effectLst/>
                          <a:latin typeface="Cambria" panose="02040503050406030204" pitchFamily="18" charset="0"/>
                        </a:rPr>
                        <a:t>N</a:t>
                      </a:r>
                      <a:endParaRPr lang="en-US" sz="1300" b="1"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1648879488"/>
                  </a:ext>
                </a:extLst>
              </a:tr>
              <a:tr h="345668">
                <a:tc>
                  <a:txBody>
                    <a:bodyPr/>
                    <a:lstStyle/>
                    <a:p>
                      <a:pPr algn="l" fontAlgn="ctr">
                        <a:buNone/>
                      </a:pPr>
                      <a:r>
                        <a:rPr lang="en-US" sz="1100" b="1" i="0" u="none" strike="noStrike" noProof="1">
                          <a:solidFill>
                            <a:srgbClr val="000000"/>
                          </a:solidFill>
                          <a:effectLst/>
                          <a:latin typeface="Cambria" panose="02040503050406030204" pitchFamily="18" charset="0"/>
                        </a:rPr>
                        <a:t>Remittances (pre-average)</a:t>
                      </a:r>
                    </a:p>
                  </a:txBody>
                  <a:tcPr marL="9525" marR="9525" marT="9525" marB="0" anchor="ctr"/>
                </a:tc>
                <a:tc>
                  <a:txBody>
                    <a:bodyPr/>
                    <a:lstStyle/>
                    <a:p>
                      <a:pPr algn="ctr">
                        <a:buNone/>
                      </a:pPr>
                      <a:r>
                        <a:rPr lang="es-AR" sz="1300" dirty="0">
                          <a:solidFill>
                            <a:srgbClr val="000000"/>
                          </a:solidFill>
                          <a:effectLst/>
                          <a:latin typeface="Cambria" panose="02040503050406030204" pitchFamily="18" charset="0"/>
                        </a:rPr>
                        <a:t>12.030</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898.155</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2,296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217.748</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80,564.776</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20</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144.065</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22,438.363</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7</a:t>
                      </a:r>
                      <a:endParaRPr lang="es-AR" sz="1300">
                        <a:effectLst/>
                        <a:latin typeface="Cambria" panose="02040503050406030204" pitchFamily="18" charset="0"/>
                      </a:endParaRPr>
                    </a:p>
                  </a:txBody>
                  <a:tcPr marL="11418" marR="11418" marT="11418" marB="11418" anchor="ctr"/>
                </a:tc>
                <a:extLst>
                  <a:ext uri="{0D108BD9-81ED-4DB2-BD59-A6C34878D82A}">
                    <a16:rowId xmlns:a16="http://schemas.microsoft.com/office/drawing/2014/main" val="853697559"/>
                  </a:ext>
                </a:extLst>
              </a:tr>
              <a:tr h="345668">
                <a:tc>
                  <a:txBody>
                    <a:bodyPr/>
                    <a:lstStyle/>
                    <a:p>
                      <a:pPr algn="l" fontAlgn="ctr">
                        <a:buNone/>
                      </a:pPr>
                      <a:r>
                        <a:rPr lang="en-US" sz="1100" b="1" i="0" u="none" strike="noStrike" noProof="1">
                          <a:solidFill>
                            <a:srgbClr val="000000"/>
                          </a:solidFill>
                          <a:effectLst/>
                          <a:latin typeface="Cambria" panose="02040503050406030204" pitchFamily="18" charset="0"/>
                        </a:rPr>
                        <a:t>Log remittances (pre-average)</a:t>
                      </a:r>
                    </a:p>
                  </a:txBody>
                  <a:tcPr marL="9525" marR="9525" marT="9525" marB="0" anchor="ctr"/>
                </a:tc>
                <a:tc>
                  <a:txBody>
                    <a:bodyPr/>
                    <a:lstStyle/>
                    <a:p>
                      <a:pPr algn="ctr">
                        <a:buNone/>
                      </a:pPr>
                      <a:r>
                        <a:rPr lang="es-AR" sz="1300">
                          <a:solidFill>
                            <a:srgbClr val="000000"/>
                          </a:solidFill>
                          <a:effectLst/>
                          <a:latin typeface="Cambria" panose="02040503050406030204" pitchFamily="18" charset="0"/>
                        </a:rPr>
                        <a:t>1.260</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2.076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2,296</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4.774</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1.313</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20</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4.226</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2.271</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7</a:t>
                      </a:r>
                      <a:endParaRPr lang="es-AR" sz="1300">
                        <a:effectLst/>
                        <a:latin typeface="Cambria" panose="02040503050406030204" pitchFamily="18" charset="0"/>
                      </a:endParaRPr>
                    </a:p>
                  </a:txBody>
                  <a:tcPr marL="11418" marR="11418" marT="11418" marB="11418" anchor="ctr"/>
                </a:tc>
                <a:extLst>
                  <a:ext uri="{0D108BD9-81ED-4DB2-BD59-A6C34878D82A}">
                    <a16:rowId xmlns:a16="http://schemas.microsoft.com/office/drawing/2014/main" val="606375743"/>
                  </a:ext>
                </a:extLst>
              </a:tr>
              <a:tr h="345668">
                <a:tc>
                  <a:txBody>
                    <a:bodyPr/>
                    <a:lstStyle/>
                    <a:p>
                      <a:pPr algn="l" fontAlgn="ctr">
                        <a:buNone/>
                      </a:pPr>
                      <a:r>
                        <a:rPr lang="en-US" sz="1100" b="1" i="0" u="none" strike="noStrike" noProof="1">
                          <a:solidFill>
                            <a:srgbClr val="000000"/>
                          </a:solidFill>
                          <a:effectLst/>
                          <a:latin typeface="Cambria" panose="02040503050406030204" pitchFamily="18" charset="0"/>
                        </a:rPr>
                        <a:t>U.S. migrants (2000, %)</a:t>
                      </a:r>
                    </a:p>
                  </a:txBody>
                  <a:tcPr marL="9525" marR="9525" marT="9525" marB="0" anchor="ctr"/>
                </a:tc>
                <a:tc>
                  <a:txBody>
                    <a:bodyPr/>
                    <a:lstStyle/>
                    <a:p>
                      <a:pPr algn="ctr">
                        <a:buNone/>
                      </a:pPr>
                      <a:r>
                        <a:rPr lang="es-AR" sz="1300">
                          <a:solidFill>
                            <a:srgbClr val="000000"/>
                          </a:solidFill>
                          <a:effectLst/>
                          <a:latin typeface="Cambria" panose="02040503050406030204" pitchFamily="18" charset="0"/>
                        </a:rPr>
                        <a:t>6.475</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47.929</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2,296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3.415</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7.462</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20</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3.269</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4.274</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7</a:t>
                      </a:r>
                      <a:endParaRPr lang="es-AR" sz="1300">
                        <a:effectLst/>
                        <a:latin typeface="Cambria" panose="02040503050406030204" pitchFamily="18" charset="0"/>
                      </a:endParaRPr>
                    </a:p>
                  </a:txBody>
                  <a:tcPr marL="11418" marR="11418" marT="11418" marB="11418" anchor="ctr"/>
                </a:tc>
                <a:extLst>
                  <a:ext uri="{0D108BD9-81ED-4DB2-BD59-A6C34878D82A}">
                    <a16:rowId xmlns:a16="http://schemas.microsoft.com/office/drawing/2014/main" val="724411363"/>
                  </a:ext>
                </a:extLst>
              </a:tr>
              <a:tr h="345668">
                <a:tc>
                  <a:txBody>
                    <a:bodyPr/>
                    <a:lstStyle/>
                    <a:p>
                      <a:pPr algn="l" fontAlgn="ctr">
                        <a:buNone/>
                      </a:pPr>
                      <a:r>
                        <a:rPr lang="en-US" sz="1100" b="1" i="0" u="none" strike="noStrike" noProof="1">
                          <a:solidFill>
                            <a:srgbClr val="000000"/>
                          </a:solidFill>
                          <a:effectLst/>
                          <a:latin typeface="Cambria" panose="02040503050406030204" pitchFamily="18" charset="0"/>
                        </a:rPr>
                        <a:t>U.S. migrants (2010, %)</a:t>
                      </a:r>
                    </a:p>
                  </a:txBody>
                  <a:tcPr marL="9525" marR="9525" marT="9525" marB="0" anchor="ctr"/>
                </a:tc>
                <a:tc>
                  <a:txBody>
                    <a:bodyPr/>
                    <a:lstStyle/>
                    <a:p>
                      <a:pPr algn="ctr">
                        <a:buNone/>
                      </a:pPr>
                      <a:r>
                        <a:rPr lang="es-AR" sz="1300">
                          <a:solidFill>
                            <a:srgbClr val="000000"/>
                          </a:solidFill>
                          <a:effectLst/>
                          <a:latin typeface="Cambria" panose="02040503050406030204" pitchFamily="18" charset="0"/>
                        </a:rPr>
                        <a:t>3.914</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17.352</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2,296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1.367</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1.100</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20</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893</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248</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7</a:t>
                      </a:r>
                      <a:endParaRPr lang="es-AR" sz="1300">
                        <a:effectLst/>
                        <a:latin typeface="Cambria" panose="02040503050406030204" pitchFamily="18" charset="0"/>
                      </a:endParaRPr>
                    </a:p>
                  </a:txBody>
                  <a:tcPr marL="11418" marR="11418" marT="11418" marB="11418" anchor="ctr"/>
                </a:tc>
                <a:extLst>
                  <a:ext uri="{0D108BD9-81ED-4DB2-BD59-A6C34878D82A}">
                    <a16:rowId xmlns:a16="http://schemas.microsoft.com/office/drawing/2014/main" val="563020403"/>
                  </a:ext>
                </a:extLst>
              </a:tr>
              <a:tr h="345668">
                <a:tc>
                  <a:txBody>
                    <a:bodyPr/>
                    <a:lstStyle/>
                    <a:p>
                      <a:pPr algn="l" fontAlgn="ctr">
                        <a:buNone/>
                      </a:pPr>
                      <a:r>
                        <a:rPr lang="en-US" sz="1100" b="1" i="0" u="none" strike="noStrike" noProof="1">
                          <a:solidFill>
                            <a:srgbClr val="000000"/>
                          </a:solidFill>
                          <a:effectLst/>
                          <a:latin typeface="Cambria" panose="02040503050406030204" pitchFamily="18" charset="0"/>
                        </a:rPr>
                        <a:t>MI (2000)</a:t>
                      </a:r>
                    </a:p>
                  </a:txBody>
                  <a:tcPr marL="9525" marR="9525" marT="9525" marB="0" anchor="ctr"/>
                </a:tc>
                <a:tc>
                  <a:txBody>
                    <a:bodyPr/>
                    <a:lstStyle/>
                    <a:p>
                      <a:pPr algn="ctr">
                        <a:buNone/>
                      </a:pPr>
                      <a:r>
                        <a:rPr lang="es-AR" sz="1300" dirty="0">
                          <a:solidFill>
                            <a:srgbClr val="000000"/>
                          </a:solidFill>
                          <a:effectLst/>
                          <a:latin typeface="Cambria" panose="02040503050406030204" pitchFamily="18" charset="0"/>
                        </a:rPr>
                        <a:t>0.037</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951</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2,295</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-1.429</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303</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20</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-1.340</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741</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7</a:t>
                      </a:r>
                      <a:endParaRPr lang="es-AR" sz="1300">
                        <a:effectLst/>
                        <a:latin typeface="Cambria" panose="02040503050406030204" pitchFamily="18" charset="0"/>
                      </a:endParaRPr>
                    </a:p>
                  </a:txBody>
                  <a:tcPr marL="11418" marR="11418" marT="11418" marB="11418" anchor="ctr"/>
                </a:tc>
                <a:extLst>
                  <a:ext uri="{0D108BD9-81ED-4DB2-BD59-A6C34878D82A}">
                    <a16:rowId xmlns:a16="http://schemas.microsoft.com/office/drawing/2014/main" val="3244176081"/>
                  </a:ext>
                </a:extLst>
              </a:tr>
              <a:tr h="345668">
                <a:tc>
                  <a:txBody>
                    <a:bodyPr/>
                    <a:lstStyle/>
                    <a:p>
                      <a:pPr algn="l" fontAlgn="ctr">
                        <a:buNone/>
                      </a:pPr>
                      <a:r>
                        <a:rPr lang="en-US" sz="1100" b="1" i="0" u="none" strike="noStrike" noProof="1">
                          <a:solidFill>
                            <a:srgbClr val="000000"/>
                          </a:solidFill>
                          <a:effectLst/>
                          <a:latin typeface="Cambria" panose="02040503050406030204" pitchFamily="18" charset="0"/>
                        </a:rPr>
                        <a:t>MI (2010)</a:t>
                      </a:r>
                    </a:p>
                  </a:txBody>
                  <a:tcPr marL="9525" marR="9525" marT="9525" marB="0" anchor="ctr"/>
                </a:tc>
                <a:tc>
                  <a:txBody>
                    <a:bodyPr/>
                    <a:lstStyle/>
                    <a:p>
                      <a:pPr algn="ctr">
                        <a:buNone/>
                      </a:pPr>
                      <a:r>
                        <a:rPr lang="es-AR" sz="1300" dirty="0">
                          <a:solidFill>
                            <a:srgbClr val="000000"/>
                          </a:solidFill>
                          <a:effectLst/>
                          <a:latin typeface="Cambria" panose="02040503050406030204" pitchFamily="18" charset="0"/>
                        </a:rPr>
                        <a:t>0.036</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950</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2,296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-1.396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256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20</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-1.359</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508</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7</a:t>
                      </a:r>
                      <a:endParaRPr lang="es-AR" sz="1300" dirty="0">
                        <a:effectLst/>
                        <a:latin typeface="Cambria" panose="02040503050406030204" pitchFamily="18" charset="0"/>
                      </a:endParaRPr>
                    </a:p>
                  </a:txBody>
                  <a:tcPr marL="11418" marR="11418" marT="11418" marB="11418" anchor="ctr"/>
                </a:tc>
                <a:extLst>
                  <a:ext uri="{0D108BD9-81ED-4DB2-BD59-A6C34878D82A}">
                    <a16:rowId xmlns:a16="http://schemas.microsoft.com/office/drawing/2014/main" val="2218779104"/>
                  </a:ext>
                </a:extLst>
              </a:tr>
              <a:tr h="345668">
                <a:tc>
                  <a:txBody>
                    <a:bodyPr/>
                    <a:lstStyle/>
                    <a:p>
                      <a:pPr algn="l" fontAlgn="ctr">
                        <a:buNone/>
                      </a:pPr>
                      <a:r>
                        <a:rPr lang="en-US" sz="1100" b="1" i="0" u="none" strike="noStrike" noProof="1">
                          <a:solidFill>
                            <a:srgbClr val="000000"/>
                          </a:solidFill>
                          <a:effectLst/>
                          <a:latin typeface="Cambria" panose="02040503050406030204" pitchFamily="18" charset="0"/>
                        </a:rPr>
                        <a:t>Log population (2010)</a:t>
                      </a:r>
                    </a:p>
                  </a:txBody>
                  <a:tcPr marL="9525" marR="9525" marT="9525" marB="0" anchor="ctr"/>
                </a:tc>
                <a:tc>
                  <a:txBody>
                    <a:bodyPr/>
                    <a:lstStyle/>
                    <a:p>
                      <a:pPr algn="ctr">
                        <a:buNone/>
                      </a:pPr>
                      <a:r>
                        <a:rPr lang="es-AR" sz="1300">
                          <a:solidFill>
                            <a:srgbClr val="000000"/>
                          </a:solidFill>
                          <a:effectLst/>
                          <a:latin typeface="Cambria" panose="02040503050406030204" pitchFamily="18" charset="0"/>
                        </a:rPr>
                        <a:t>9.347</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2.305</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2,296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13.069</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1.462</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20</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12.617</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1.919</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7</a:t>
                      </a:r>
                      <a:endParaRPr lang="es-AR" sz="1300" dirty="0">
                        <a:effectLst/>
                        <a:latin typeface="Cambria" panose="02040503050406030204" pitchFamily="18" charset="0"/>
                      </a:endParaRPr>
                    </a:p>
                  </a:txBody>
                  <a:tcPr marL="11418" marR="11418" marT="11418" marB="11418" anchor="ctr"/>
                </a:tc>
                <a:extLst>
                  <a:ext uri="{0D108BD9-81ED-4DB2-BD59-A6C34878D82A}">
                    <a16:rowId xmlns:a16="http://schemas.microsoft.com/office/drawing/2014/main" val="4118152958"/>
                  </a:ext>
                </a:extLst>
              </a:tr>
              <a:tr h="345668">
                <a:tc>
                  <a:txBody>
                    <a:bodyPr/>
                    <a:lstStyle/>
                    <a:p>
                      <a:pPr algn="l" fontAlgn="ctr">
                        <a:buNone/>
                      </a:pPr>
                      <a:r>
                        <a:rPr lang="en-US" sz="1100" b="1" i="0" u="none" strike="noStrike" noProof="1">
                          <a:solidFill>
                            <a:srgbClr val="000000"/>
                          </a:solidFill>
                          <a:effectLst/>
                          <a:latin typeface="Cambria" panose="02040503050406030204" pitchFamily="18" charset="0"/>
                        </a:rPr>
                        <a:t>Log density</a:t>
                      </a:r>
                    </a:p>
                  </a:txBody>
                  <a:tcPr marL="9525" marR="9525" marT="9525" marB="0" anchor="ctr"/>
                </a:tc>
                <a:tc>
                  <a:txBody>
                    <a:bodyPr/>
                    <a:lstStyle/>
                    <a:p>
                      <a:pPr algn="ctr">
                        <a:buNone/>
                      </a:pPr>
                      <a:r>
                        <a:rPr lang="es-AR" sz="1300">
                          <a:solidFill>
                            <a:srgbClr val="000000"/>
                          </a:solidFill>
                          <a:effectLst/>
                          <a:latin typeface="Cambria" panose="02040503050406030204" pitchFamily="18" charset="0"/>
                        </a:rPr>
                        <a:t>3.928</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2.753</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2,296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6.337</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2.136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20</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5.994</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9.159</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7</a:t>
                      </a:r>
                      <a:endParaRPr lang="es-AR" sz="1300" dirty="0">
                        <a:effectLst/>
                        <a:latin typeface="Cambria" panose="02040503050406030204" pitchFamily="18" charset="0"/>
                      </a:endParaRPr>
                    </a:p>
                  </a:txBody>
                  <a:tcPr marL="11418" marR="11418" marT="11418" marB="11418" anchor="ctr"/>
                </a:tc>
                <a:extLst>
                  <a:ext uri="{0D108BD9-81ED-4DB2-BD59-A6C34878D82A}">
                    <a16:rowId xmlns:a16="http://schemas.microsoft.com/office/drawing/2014/main" val="3151363765"/>
                  </a:ext>
                </a:extLst>
              </a:tr>
              <a:tr h="345668">
                <a:tc>
                  <a:txBody>
                    <a:bodyPr/>
                    <a:lstStyle/>
                    <a:p>
                      <a:pPr algn="l" fontAlgn="ctr">
                        <a:buNone/>
                      </a:pPr>
                      <a:r>
                        <a:rPr lang="en-US" sz="1100" b="1" i="0" u="none" strike="noStrike" noProof="1">
                          <a:solidFill>
                            <a:srgbClr val="000000"/>
                          </a:solidFill>
                          <a:effectLst/>
                          <a:latin typeface="Cambria" panose="02040503050406030204" pitchFamily="18" charset="0"/>
                        </a:rPr>
                        <a:t>PEA (%)</a:t>
                      </a:r>
                    </a:p>
                  </a:txBody>
                  <a:tcPr marL="9525" marR="9525" marT="9525" marB="0" anchor="ctr"/>
                </a:tc>
                <a:tc>
                  <a:txBody>
                    <a:bodyPr/>
                    <a:lstStyle/>
                    <a:p>
                      <a:pPr algn="ctr">
                        <a:buNone/>
                      </a:pPr>
                      <a:r>
                        <a:rPr lang="es-AR" sz="1300">
                          <a:solidFill>
                            <a:srgbClr val="000000"/>
                          </a:solidFill>
                          <a:effectLst/>
                          <a:latin typeface="Cambria" panose="02040503050406030204" pitchFamily="18" charset="0"/>
                        </a:rPr>
                        <a:t>47.736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73.086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2,296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56.728</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5.014</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20</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56.822</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5.959</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7</a:t>
                      </a:r>
                      <a:endParaRPr lang="es-AR" sz="1300" dirty="0">
                        <a:effectLst/>
                        <a:latin typeface="Cambria" panose="02040503050406030204" pitchFamily="18" charset="0"/>
                      </a:endParaRPr>
                    </a:p>
                  </a:txBody>
                  <a:tcPr marL="11418" marR="11418" marT="11418" marB="11418" anchor="ctr"/>
                </a:tc>
                <a:extLst>
                  <a:ext uri="{0D108BD9-81ED-4DB2-BD59-A6C34878D82A}">
                    <a16:rowId xmlns:a16="http://schemas.microsoft.com/office/drawing/2014/main" val="666489489"/>
                  </a:ext>
                </a:extLst>
              </a:tr>
            </a:tbl>
          </a:graphicData>
        </a:graphic>
      </p:graphicFrame>
      <p:sp>
        <p:nvSpPr>
          <p:cNvPr id="5" name="CuadroTexto 4">
            <a:extLst>
              <a:ext uri="{FF2B5EF4-FFF2-40B4-BE49-F238E27FC236}">
                <a16:creationId xmlns:a16="http://schemas.microsoft.com/office/drawing/2014/main" id="{004F66C3-2AD2-1266-8FB6-A3F407AB0493}"/>
              </a:ext>
            </a:extLst>
          </p:cNvPr>
          <p:cNvSpPr txBox="1"/>
          <p:nvPr/>
        </p:nvSpPr>
        <p:spPr>
          <a:xfrm>
            <a:off x="548640" y="1605105"/>
            <a:ext cx="11039094" cy="338554"/>
          </a:xfrm>
          <a:prstGeom prst="rect">
            <a:avLst/>
          </a:prstGeom>
          <a:noFill/>
        </p:spPr>
        <p:txBody>
          <a:bodyPr wrap="square">
            <a:spAutoFit/>
          </a:bodyPr>
          <a:lstStyle/>
          <a:p>
            <a:pPr marL="285750" indent="-285750">
              <a:buFont typeface="Arial" panose="020B0604020202020204" pitchFamily="34" charset="0"/>
              <a:buChar char="•"/>
            </a:pPr>
            <a:r>
              <a:rPr lang="en-US" sz="1600" noProof="1">
                <a:latin typeface="Cambria" panose="02040503050406030204" pitchFamily="18" charset="0"/>
              </a:rPr>
              <a:t>Pre-balance imbalances are large, as expected, but imbalances between treated groups are relatively small.</a:t>
            </a:r>
          </a:p>
        </p:txBody>
      </p:sp>
    </p:spTree>
    <p:extLst>
      <p:ext uri="{BB962C8B-B14F-4D97-AF65-F5344CB8AC3E}">
        <p14:creationId xmlns:p14="http://schemas.microsoft.com/office/powerpoint/2010/main" val="41020898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EB — Stock-Based Specification</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91640"/>
            <a:ext cx="10972800" cy="2548839"/>
          </a:xfrm>
          <a:prstGeom prst="rect">
            <a:avLst/>
          </a:prstGeom>
          <a:noFill/>
        </p:spPr>
        <p:txBody>
          <a:bodyPr wrap="square" lIns="0" tIns="0" rIns="0" bIns="0">
            <a:spAutoFit/>
          </a:bodyPr>
          <a:lstStyle/>
          <a:p>
            <a:pPr marL="320040" indent="-228600" algn="l">
              <a:lnSpc>
                <a:spcPct val="115000"/>
              </a:lnSpc>
              <a:buFont typeface="Arial"/>
              <a:buChar char="•"/>
            </a:pPr>
            <a:r>
              <a:rPr sz="1600" dirty="0">
                <a:solidFill>
                  <a:srgbClr val="000000"/>
                </a:solidFill>
                <a:latin typeface="Cambria"/>
              </a:rPr>
              <a:t>In the stock-based model the "treatment" is continuous (log Spanish-born stock), so the natural EB is continuous-treatment entropy balancing.</a:t>
            </a:r>
          </a:p>
          <a:p>
            <a:pPr marL="320040" indent="-228600" algn="l">
              <a:lnSpc>
                <a:spcPct val="115000"/>
              </a:lnSpc>
              <a:spcBef>
                <a:spcPts val="800"/>
              </a:spcBef>
              <a:buFont typeface="Arial"/>
              <a:buChar char="•"/>
            </a:pPr>
            <a:r>
              <a:rPr sz="1600" b="0" i="0" dirty="0">
                <a:solidFill>
                  <a:srgbClr val="000000"/>
                </a:solidFill>
                <a:latin typeface="Cambria"/>
              </a:rPr>
              <a:t>Continuous-treatment EB is feasible (</a:t>
            </a:r>
            <a:r>
              <a:rPr sz="1600" b="0" i="0" dirty="0" err="1">
                <a:solidFill>
                  <a:srgbClr val="000000"/>
                </a:solidFill>
                <a:latin typeface="Cambria"/>
              </a:rPr>
              <a:t>Tübbicke</a:t>
            </a:r>
            <a:r>
              <a:rPr sz="1600" b="0" i="0" dirty="0">
                <a:solidFill>
                  <a:srgbClr val="000000"/>
                </a:solidFill>
                <a:latin typeface="Cambria"/>
              </a:rPr>
              <a:t> 2022) but more involved than the binary case: it targets moments of the treatment–covariate joint distribution rather than group means.</a:t>
            </a:r>
          </a:p>
          <a:p>
            <a:pPr marL="320040" indent="-228600" algn="l">
              <a:lnSpc>
                <a:spcPct val="115000"/>
              </a:lnSpc>
              <a:spcBef>
                <a:spcPts val="800"/>
              </a:spcBef>
              <a:buFont typeface="Arial"/>
              <a:buChar char="•"/>
            </a:pPr>
            <a:r>
              <a:rPr sz="1600" b="0" i="0" dirty="0">
                <a:solidFill>
                  <a:srgbClr val="000000"/>
                </a:solidFill>
                <a:latin typeface="Cambria"/>
              </a:rPr>
              <a:t>Alternative: redefine the stock-based treatment as a binary dummy of Spanish presence and apply standard binary EB (</a:t>
            </a:r>
            <a:r>
              <a:rPr lang="es-ES" sz="1600" b="0" i="0" dirty="0" err="1">
                <a:solidFill>
                  <a:srgbClr val="000000"/>
                </a:solidFill>
                <a:latin typeface="Cambria"/>
              </a:rPr>
              <a:t>see</a:t>
            </a:r>
            <a:r>
              <a:rPr sz="1600" b="0" i="0" dirty="0">
                <a:solidFill>
                  <a:srgbClr val="000000"/>
                </a:solidFill>
                <a:latin typeface="Cambria"/>
              </a:rPr>
              <a:t> the </a:t>
            </a:r>
            <a:r>
              <a:rPr sz="1600" b="0" i="0" dirty="0">
                <a:solidFill>
                  <a:srgbClr val="000000"/>
                </a:solidFill>
                <a:latin typeface="Cambria"/>
                <a:hlinkClick r:id="rId2" action="ppaction://hlinksldjump"/>
              </a:rPr>
              <a:t>appendix dummy specification</a:t>
            </a:r>
            <a:r>
              <a:rPr sz="1600" b="0" i="0" dirty="0">
                <a:solidFill>
                  <a:srgbClr val="000000"/>
                </a:solidFill>
                <a:latin typeface="Cambria"/>
              </a:rPr>
              <a:t>).</a:t>
            </a:r>
          </a:p>
          <a:p>
            <a:pPr marL="320040" indent="-228600" algn="l">
              <a:lnSpc>
                <a:spcPct val="115000"/>
              </a:lnSpc>
              <a:spcBef>
                <a:spcPts val="800"/>
              </a:spcBef>
              <a:buFont typeface="Arial"/>
              <a:buChar char="•"/>
            </a:pPr>
            <a:r>
              <a:rPr sz="1600" b="0" i="0" dirty="0">
                <a:solidFill>
                  <a:srgbClr val="000000"/>
                </a:solidFill>
                <a:latin typeface="Cambria"/>
              </a:rPr>
              <a:t>Question: do we want to (a) implement continuous-treatment EB, (b) switch the stock model to a presence dummy for EB purposes, or (c) keep the stock-based model unweighted and use EB only for the cohort specification?</a:t>
            </a: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20 / 31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lang="en-US" sz="3600" b="1" dirty="0">
                <a:solidFill>
                  <a:srgbClr val="000000"/>
                </a:solidFill>
                <a:latin typeface="Cambria"/>
                <a:cs typeface="Cambria"/>
              </a:rPr>
              <a:t>Synthetic DiD — What We Did</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lang="en-US" sz="1000" b="0" dirty="0">
                <a:solidFill>
                  <a:srgbClr val="444444"/>
                </a:solidFill>
                <a:latin typeface="Cambria"/>
                <a:cs typeface="Cambria"/>
              </a:rPr>
              <a:t>21 / 31</a:t>
            </a:r>
          </a:p>
        </p:txBody>
      </p:sp>
      <p:sp>
        <p:nvSpPr>
          <p:cNvPr id="6" name="TextBox 5"/>
          <p:cNvSpPr txBox="1"/>
          <p:nvPr/>
        </p:nvSpPr>
        <p:spPr>
          <a:xfrm>
            <a:off x="685800" y="1417320"/>
            <a:ext cx="10972800" cy="4754880"/>
          </a:xfrm>
          <a:prstGeom prst="rect">
            <a:avLst/>
          </a:prstGeom>
          <a:noFill/>
        </p:spPr>
        <p:txBody>
          <a:bodyPr wrap="square">
            <a:spAutoFit/>
          </a:bodyPr>
          <a:lstStyle/>
          <a:p>
            <a:pPr lvl="0" indent="-228600" marL="228600">
              <a:buChar char="•"/>
            </a:pPr>
            <a:r>
              <a:rPr lang="en-US" sz="1600" dirty="0">
                <a:solidFill>
                  <a:srgbClr val="000000"/>
                </a:solidFill>
                <a:latin typeface="Cambria"/>
                <a:cs typeface="Cambria"/>
              </a:rPr>
              <a:t>Implemented SDID (Arkhangelsky et al. 2021) on the panel of municipal remittances 2013–2024 — 9 pre-treatment years, 3 post (treatment in 2022).</a:t>
            </a:r>
          </a:p>
          <a:p>
            <a:pPr lvl="0" indent="-228600" marL="228600">
              <a:buChar char="•"/>
            </a:pPr>
            <a:r>
              <a:rPr lang="en-US" sz="1600" dirty="0">
                <a:solidFill>
                  <a:srgbClr val="000000"/>
                </a:solidFill>
                <a:latin typeface="Cambria"/>
                <a:cs typeface="Cambria"/>
              </a:rPr>
              <a:t>Treatment is binary (Spanish-presence dummy). ATT is the extensive-margin effect of having Spanish ancestry, not the intensity effect estimated in the DiD.</a:t>
            </a:r>
          </a:p>
          <a:p>
            <a:pPr lvl="0" indent="-228600" marL="228600">
              <a:buChar char="•"/>
            </a:pPr>
            <a:r>
              <a:rPr lang="en-US" sz="1600" dirty="0">
                <a:solidFill>
                  <a:srgbClr val="000000"/>
                </a:solidFill>
                <a:latin typeface="Cambria"/>
                <a:cs typeface="Cambria"/>
              </a:rPr>
              <a:t>Donor pool: 2,296 never-treated municipalities. For each window the control group is restricted to pure never-treated only; municipalities with presence in the other window only are excluded.</a:t>
            </a:r>
          </a:p>
          <a:p>
            <a:pPr lvl="0" indent="-228600" marL="228600">
              <a:buChar char="•"/>
            </a:pPr>
            <a:r>
              <a:rPr lang="en-US" sz="1600" dirty="0">
                <a:solidFill>
                  <a:srgbClr val="000000"/>
                </a:solidFill>
                <a:latin typeface="Cambria"/>
                <a:cs typeface="Cambria"/>
              </a:rPr>
              <a:t>Inference for the ATT: block bootstrap clustered at municipality. Event-study coefficients re-centered against the λ-weighted pre-treatment baseline (Clarke et al. 2024 recipe).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38E2B-BD08-E9A1-65E9-1E726E7E6AC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ED2F60F-DAE9-0717-0BD3-D1A6FA3AB23B}"/>
              </a:ext>
            </a:extLst>
          </p:cNvPr>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lang="en-US" sz="3600" b="1" dirty="0">
                <a:solidFill>
                  <a:srgbClr val="000000"/>
                </a:solidFill>
                <a:latin typeface="Cambria"/>
                <a:cs typeface="Cambria"/>
              </a:rPr>
              <a:t>SDID — Three Specifications</a:t>
            </a:r>
          </a:p>
        </p:txBody>
      </p:sp>
      <p:sp>
        <p:nvSpPr>
          <p:cNvPr id="3" name="Rectangle 2">
            <a:extLst>
              <a:ext uri="{FF2B5EF4-FFF2-40B4-BE49-F238E27FC236}">
                <a16:creationId xmlns:a16="http://schemas.microsoft.com/office/drawing/2014/main" id="{6F0E7AD6-1801-35C7-A8FD-F4B24B7D149E}"/>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13552731-7098-2F34-D573-64630C705744}"/>
              </a:ext>
            </a:extLst>
          </p:cNvPr>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lang="en-US" sz="1000" b="0" dirty="0">
                <a:solidFill>
                  <a:srgbClr val="444444"/>
                </a:solidFill>
                <a:latin typeface="Cambria"/>
                <a:cs typeface="Cambria"/>
              </a:rPr>
              <a:t>22 / 31</a:t>
            </a:r>
          </a:p>
        </p:txBody>
      </p:sp>
      <p:sp>
        <p:nvSpPr>
          <p:cNvPr id="6" name="TextBox 5"/>
          <p:cNvSpPr txBox="1"/>
          <p:nvPr/>
        </p:nvSpPr>
        <p:spPr>
          <a:xfrm>
            <a:off x="685800" y="1417320"/>
            <a:ext cx="10972800" cy="4754880"/>
          </a:xfrm>
          <a:prstGeom prst="rect">
            <a:avLst/>
          </a:prstGeom>
          <a:noFill/>
        </p:spPr>
        <p:txBody>
          <a:bodyPr wrap="square">
            <a:spAutoFit/>
          </a:bodyPr>
          <a:lstStyle/>
          <a:p>
            <a:pPr lvl="0" indent="-228600" marL="228600">
              <a:buChar char="•"/>
            </a:pPr>
            <a:r>
              <a:rPr lang="en-US" sz="1600" dirty="0">
                <a:solidFill>
                  <a:srgbClr val="000000"/>
                </a:solidFill>
                <a:latin typeface="Cambria"/>
                <a:cs typeface="Cambria"/>
              </a:rPr>
              <a:t>Pooled: treated = municipalities with Spanish presence in any window (N = 27); controls = the 2,296 never-treated.</a:t>
            </a:r>
          </a:p>
          <a:p>
            <a:pPr lvl="0" indent="-228600" marL="228600">
              <a:buChar char="•"/>
            </a:pPr>
            <a:r>
              <a:rPr lang="en-US" sz="1600" dirty="0">
                <a:solidFill>
                  <a:srgbClr val="000000"/>
                </a:solidFill>
                <a:latin typeface="Cambria"/>
                <a:cs typeface="Cambria"/>
              </a:rPr>
              <a:t>Window 1936–1955 (c1): treated = presence in 1936–1955 (N = 20); controls = never-treated only, excluding the 7 municipalities with presence only in 1956–1978.</a:t>
            </a:r>
          </a:p>
          <a:p>
            <a:pPr lvl="0" indent="-228600" marL="228600">
              <a:buChar char="•"/>
            </a:pPr>
            <a:r>
              <a:rPr lang="en-US" sz="1600" dirty="0">
                <a:solidFill>
                  <a:srgbClr val="000000"/>
                </a:solidFill>
                <a:latin typeface="Cambria"/>
                <a:cs typeface="Cambria"/>
              </a:rPr>
              <a:t>Window 1956–1978 (c2): treated = presence in 1956–1978 (N = 13); controls = never-treated only, excluding the 14 municipalities with presence only in 1936–1955.</a:t>
            </a:r>
          </a:p>
          <a:p>
            <a:pPr lvl="0" indent="-228600" marL="228600">
              <a:buChar char="•"/>
            </a:pPr>
            <a:r>
              <a:rPr lang="en-US" sz="1600" dirty="0">
                <a:solidFill>
                  <a:srgbClr val="000000"/>
                </a:solidFill>
                <a:latin typeface="Cambria"/>
                <a:cs typeface="Cambria"/>
              </a:rPr>
              <a:t>Excluding "other-window only" municipalities removes the hybrid-counterfactual concern from slide 10: in c1 and c2 the comparison is treated vs. pure never-treated.</a:t>
            </a:r>
          </a:p>
        </p:txBody>
      </p:sp>
    </p:spTree>
    <p:extLst>
      <p:ext uri="{BB962C8B-B14F-4D97-AF65-F5344CB8AC3E}">
        <p14:creationId xmlns:p14="http://schemas.microsoft.com/office/powerpoint/2010/main" val="16283014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dirty="0">
                <a:solidFill>
                  <a:srgbClr val="000000"/>
                </a:solidFill>
                <a:latin typeface="Cambria"/>
              </a:rPr>
              <a:t>Next Steps</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91640"/>
            <a:ext cx="10972800" cy="1801968"/>
          </a:xfrm>
          <a:prstGeom prst="rect">
            <a:avLst/>
          </a:prstGeom>
          <a:noFill/>
        </p:spPr>
        <p:txBody>
          <a:bodyPr wrap="square" lIns="0" tIns="0" rIns="0" bIns="0">
            <a:spAutoFit/>
          </a:bodyPr>
          <a:lstStyle/>
          <a:p>
            <a:pPr marL="320040" indent="-228600" algn="l">
              <a:lnSpc>
                <a:spcPct val="115000"/>
              </a:lnSpc>
              <a:buFont typeface="Arial"/>
              <a:buChar char="•"/>
            </a:pPr>
            <a:r>
              <a:rPr sz="1600" dirty="0">
                <a:solidFill>
                  <a:srgbClr val="000000"/>
                </a:solidFill>
                <a:latin typeface="Cambria"/>
              </a:rPr>
              <a:t>Close the parametrization choice for the cohort &amp; window specification (</a:t>
            </a:r>
            <a:r>
              <a:rPr lang="es-ES" sz="1600" dirty="0">
                <a:solidFill>
                  <a:srgbClr val="000000"/>
                </a:solidFill>
                <a:latin typeface="Cambria"/>
              </a:rPr>
              <a:t>2</a:t>
            </a:r>
            <a:r>
              <a:rPr sz="1600" dirty="0">
                <a:solidFill>
                  <a:srgbClr val="000000"/>
                </a:solidFill>
                <a:latin typeface="Cambria"/>
              </a:rPr>
              <a:t> vs. 3 groups).</a:t>
            </a:r>
          </a:p>
          <a:p>
            <a:pPr marL="320040" indent="-228600" algn="l">
              <a:lnSpc>
                <a:spcPct val="115000"/>
              </a:lnSpc>
              <a:spcBef>
                <a:spcPts val="800"/>
              </a:spcBef>
              <a:buFont typeface="Arial"/>
              <a:buChar char="•"/>
            </a:pPr>
            <a:r>
              <a:rPr sz="1600" b="0" i="0" dirty="0">
                <a:solidFill>
                  <a:srgbClr val="000000"/>
                </a:solidFill>
                <a:latin typeface="Cambria"/>
              </a:rPr>
              <a:t>Decide EB strategy for the stock-based model (continuous treatment vs. presence dummy).</a:t>
            </a:r>
          </a:p>
          <a:p>
            <a:pPr marL="320040" indent="-228600" algn="l">
              <a:lnSpc>
                <a:spcPct val="115000"/>
              </a:lnSpc>
              <a:spcBef>
                <a:spcPts val="800"/>
              </a:spcBef>
              <a:buFont typeface="Arial"/>
              <a:buChar char="•"/>
            </a:pPr>
            <a:r>
              <a:rPr sz="1600" b="0" i="0" dirty="0">
                <a:solidFill>
                  <a:srgbClr val="000000"/>
                </a:solidFill>
                <a:latin typeface="Cambria"/>
              </a:rPr>
              <a:t>Implement Poisson pseudo-likelihood specification</a:t>
            </a:r>
            <a:r>
              <a:rPr lang="es-ES" sz="1600" b="0" i="0" dirty="0">
                <a:solidFill>
                  <a:srgbClr val="000000"/>
                </a:solidFill>
                <a:latin typeface="Cambria"/>
              </a:rPr>
              <a:t>; </a:t>
            </a:r>
            <a:r>
              <a:rPr sz="1600" b="0" i="0" dirty="0">
                <a:solidFill>
                  <a:srgbClr val="000000"/>
                </a:solidFill>
                <a:latin typeface="Cambria"/>
              </a:rPr>
              <a:t>rerun main and EB-weighted specifications.</a:t>
            </a:r>
          </a:p>
          <a:p>
            <a:pPr marL="320040" indent="-228600" algn="l">
              <a:lnSpc>
                <a:spcPct val="115000"/>
              </a:lnSpc>
              <a:spcBef>
                <a:spcPts val="800"/>
              </a:spcBef>
              <a:buFont typeface="Arial"/>
              <a:buChar char="•"/>
            </a:pPr>
            <a:r>
              <a:rPr sz="1600" b="0" i="0" dirty="0">
                <a:solidFill>
                  <a:srgbClr val="000000"/>
                </a:solidFill>
                <a:latin typeface="Cambria"/>
              </a:rPr>
              <a:t>Evaluate whether to build the 1921 census crosswalk for pre-arrival balancing covariates.</a:t>
            </a: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lang="en-US" sz="1000" b="0" dirty="0">
                <a:solidFill>
                  <a:srgbClr val="444444"/>
                </a:solidFill>
                <a:latin typeface="Cambria"/>
                <a:cs typeface="Cambria"/>
              </a:rPr>
              <a:t>26 / 31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17320" y="2651760"/>
            <a:ext cx="914400"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17320" y="2926080"/>
            <a:ext cx="9144000" cy="1097280"/>
          </a:xfrm>
          <a:prstGeom prst="rect">
            <a:avLst/>
          </a:prstGeom>
          <a:noFill/>
        </p:spPr>
        <p:txBody>
          <a:bodyPr wrap="square" lIns="0" tIns="0" rIns="0" bIns="0" anchor="t">
            <a:spAutoFit/>
          </a:bodyPr>
          <a:lstStyle/>
          <a:p>
            <a:pPr algn="l">
              <a:lnSpc>
                <a:spcPct val="100000"/>
              </a:lnSpc>
            </a:pPr>
            <a:r>
              <a:rPr sz="5400" b="1" i="0">
                <a:solidFill>
                  <a:srgbClr val="000000"/>
                </a:solidFill>
                <a:latin typeface="Cambria"/>
              </a:rPr>
              <a:t>APPENDIX</a:t>
            </a:r>
          </a:p>
        </p:txBody>
      </p:sp>
      <p:sp>
        <p:nvSpPr>
          <p:cNvPr id="4" name="TextBox 3"/>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23 / 31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9EEC8-6FB3-BD77-D2B1-EAAD3D74B2BE}"/>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BBF9E08B-47ED-CAD5-0121-3268F1CCE75B}"/>
              </a:ext>
            </a:extLst>
          </p:cNvPr>
          <p:cNvSpPr txBox="1"/>
          <p:nvPr/>
        </p:nvSpPr>
        <p:spPr>
          <a:xfrm>
            <a:off x="548640" y="1390037"/>
            <a:ext cx="1038313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Cambria" panose="02040503050406030204" pitchFamily="18" charset="0"/>
                <a:ea typeface="Calibri"/>
                <a:cs typeface="Times New Roman"/>
              </a:rPr>
              <a:t>Share of Spanish-born residents (pooled 1960–1970; excluding outlier):</a:t>
            </a:r>
          </a:p>
        </p:txBody>
      </p:sp>
      <p:pic>
        <p:nvPicPr>
          <p:cNvPr id="4" name="Imagen 3" descr="Mapa&#10;&#10;El contenido generado por IA puede ser incorrecto.">
            <a:extLst>
              <a:ext uri="{FF2B5EF4-FFF2-40B4-BE49-F238E27FC236}">
                <a16:creationId xmlns:a16="http://schemas.microsoft.com/office/drawing/2014/main" id="{91152344-D69C-DA02-BFC3-5AF60C0957E4}"/>
              </a:ext>
            </a:extLst>
          </p:cNvPr>
          <p:cNvPicPr>
            <a:picLocks noChangeAspect="1"/>
          </p:cNvPicPr>
          <p:nvPr/>
        </p:nvPicPr>
        <p:blipFill>
          <a:blip r:embed="rId3"/>
          <a:srcRect t="7704" r="-194" b="-157"/>
          <a:stretch>
            <a:fillRect/>
          </a:stretch>
        </p:blipFill>
        <p:spPr>
          <a:xfrm>
            <a:off x="2047403" y="2099083"/>
            <a:ext cx="8105992" cy="4588008"/>
          </a:xfrm>
          <a:prstGeom prst="rect">
            <a:avLst/>
          </a:prstGeom>
        </p:spPr>
      </p:pic>
      <p:pic>
        <p:nvPicPr>
          <p:cNvPr id="2" name="Imagen 1" descr="Texto&#10;&#10;El contenido generado por IA puede ser incorrecto.">
            <a:extLst>
              <a:ext uri="{FF2B5EF4-FFF2-40B4-BE49-F238E27FC236}">
                <a16:creationId xmlns:a16="http://schemas.microsoft.com/office/drawing/2014/main" id="{E157FB8A-9D67-0B4D-7A0B-DBE5D5958581}"/>
              </a:ext>
            </a:extLst>
          </p:cNvPr>
          <p:cNvPicPr>
            <a:picLocks noChangeAspect="1"/>
          </p:cNvPicPr>
          <p:nvPr/>
        </p:nvPicPr>
        <p:blipFill>
          <a:blip r:embed="rId4"/>
          <a:stretch>
            <a:fillRect/>
          </a:stretch>
        </p:blipFill>
        <p:spPr>
          <a:xfrm>
            <a:off x="9213979" y="1215312"/>
            <a:ext cx="2799184" cy="749560"/>
          </a:xfrm>
          <a:prstGeom prst="rect">
            <a:avLst/>
          </a:prstGeom>
        </p:spPr>
      </p:pic>
      <p:sp>
        <p:nvSpPr>
          <p:cNvPr id="3" name="Rectangle 2">
            <a:extLst>
              <a:ext uri="{FF2B5EF4-FFF2-40B4-BE49-F238E27FC236}">
                <a16:creationId xmlns:a16="http://schemas.microsoft.com/office/drawing/2014/main" id="{5CFF4894-7613-B209-73BE-63027AA2F18A}"/>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1">
            <a:extLst>
              <a:ext uri="{FF2B5EF4-FFF2-40B4-BE49-F238E27FC236}">
                <a16:creationId xmlns:a16="http://schemas.microsoft.com/office/drawing/2014/main" id="{0104CAF7-460B-CA62-5A39-BE23FBA88DEA}"/>
              </a:ext>
            </a:extLst>
          </p:cNvPr>
          <p:cNvSpPr txBox="1"/>
          <p:nvPr/>
        </p:nvSpPr>
        <p:spPr>
          <a:xfrm>
            <a:off x="594360" y="386980"/>
            <a:ext cx="11155680" cy="477054"/>
          </a:xfrm>
          <a:prstGeom prst="rect">
            <a:avLst/>
          </a:prstGeom>
          <a:noFill/>
        </p:spPr>
        <p:txBody>
          <a:bodyPr wrap="square" lIns="0" tIns="0" rIns="0" bIns="0" anchor="t">
            <a:spAutoFit/>
          </a:bodyPr>
          <a:lstStyle/>
          <a:p>
            <a:r>
              <a:rPr lang="en-US" sz="3100" b="1" dirty="0">
                <a:latin typeface="Cambria" panose="02040503050406030204" pitchFamily="18" charset="0"/>
                <a:ea typeface="Calibri"/>
                <a:cs typeface="Times New Roman"/>
              </a:rPr>
              <a:t>Alternative Exposure Measure Using Population Shares</a:t>
            </a:r>
            <a:endParaRPr lang="es-ES" sz="3100" dirty="0">
              <a:latin typeface="Cambria" panose="02040503050406030204" pitchFamily="18" charset="0"/>
            </a:endParaRPr>
          </a:p>
        </p:txBody>
      </p:sp>
    </p:spTree>
    <p:extLst>
      <p:ext uri="{BB962C8B-B14F-4D97-AF65-F5344CB8AC3E}">
        <p14:creationId xmlns:p14="http://schemas.microsoft.com/office/powerpoint/2010/main" val="35465699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032F9-8055-601E-39D8-7070E6F76D57}"/>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FA115C44-4A61-1B2C-4B88-6E24C05AFD85}"/>
              </a:ext>
            </a:extLst>
          </p:cNvPr>
          <p:cNvSpPr txBox="1">
            <a:spLocks/>
          </p:cNvSpPr>
          <p:nvPr/>
        </p:nvSpPr>
        <p:spPr>
          <a:xfrm>
            <a:off x="594360" y="235229"/>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dirty="0">
                <a:latin typeface="Cambria" panose="02040503050406030204" pitchFamily="18" charset="0"/>
                <a:ea typeface="Calibri"/>
                <a:cs typeface="Times New Roman"/>
              </a:rPr>
              <a:t>Distribution of Spanish-Born Population</a:t>
            </a:r>
            <a:endParaRPr lang="es-ES" sz="3600" dirty="0">
              <a:latin typeface="Cambria" panose="02040503050406030204" pitchFamily="18" charset="0"/>
            </a:endParaRPr>
          </a:p>
        </p:txBody>
      </p:sp>
      <p:sp>
        <p:nvSpPr>
          <p:cNvPr id="10" name="CuadroTexto 9">
            <a:extLst>
              <a:ext uri="{FF2B5EF4-FFF2-40B4-BE49-F238E27FC236}">
                <a16:creationId xmlns:a16="http://schemas.microsoft.com/office/drawing/2014/main" id="{68636AA2-89C8-C3E7-C2E9-C932DD086924}"/>
              </a:ext>
            </a:extLst>
          </p:cNvPr>
          <p:cNvSpPr txBox="1"/>
          <p:nvPr/>
        </p:nvSpPr>
        <p:spPr>
          <a:xfrm>
            <a:off x="594360" y="1402561"/>
            <a:ext cx="1038313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Cambria" panose="02040503050406030204" pitchFamily="18" charset="0"/>
                <a:ea typeface="Calibri"/>
                <a:cs typeface="Times New Roman"/>
              </a:rPr>
              <a:t>Share of Spanish-born population in 1960</a:t>
            </a:r>
          </a:p>
        </p:txBody>
      </p:sp>
      <p:pic>
        <p:nvPicPr>
          <p:cNvPr id="6" name="Imagen 5" descr="Mapa&#10;&#10;El contenido generado por IA puede ser incorrecto.">
            <a:extLst>
              <a:ext uri="{FF2B5EF4-FFF2-40B4-BE49-F238E27FC236}">
                <a16:creationId xmlns:a16="http://schemas.microsoft.com/office/drawing/2014/main" id="{811792DC-355B-EE7A-1244-50396E30ADF1}"/>
              </a:ext>
            </a:extLst>
          </p:cNvPr>
          <p:cNvPicPr>
            <a:picLocks noChangeAspect="1"/>
          </p:cNvPicPr>
          <p:nvPr/>
        </p:nvPicPr>
        <p:blipFill>
          <a:blip r:embed="rId3"/>
          <a:srcRect t="8194" r="-564" b="125"/>
          <a:stretch>
            <a:fillRect/>
          </a:stretch>
        </p:blipFill>
        <p:spPr>
          <a:xfrm>
            <a:off x="1811354" y="1802671"/>
            <a:ext cx="8573739" cy="4621207"/>
          </a:xfrm>
          <a:prstGeom prst="rect">
            <a:avLst/>
          </a:prstGeom>
        </p:spPr>
      </p:pic>
      <p:sp>
        <p:nvSpPr>
          <p:cNvPr id="3" name="CuadroTexto 2">
            <a:extLst>
              <a:ext uri="{FF2B5EF4-FFF2-40B4-BE49-F238E27FC236}">
                <a16:creationId xmlns:a16="http://schemas.microsoft.com/office/drawing/2014/main" id="{79B94363-8685-5271-FB9B-E916A5104FB6}"/>
              </a:ext>
            </a:extLst>
          </p:cNvPr>
          <p:cNvSpPr txBox="1"/>
          <p:nvPr/>
        </p:nvSpPr>
        <p:spPr>
          <a:xfrm>
            <a:off x="2419578" y="6380318"/>
            <a:ext cx="7363361"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dirty="0">
                <a:solidFill>
                  <a:srgbClr val="000000"/>
                </a:solidFill>
                <a:latin typeface="Cambria" panose="02040503050406030204" pitchFamily="18" charset="0"/>
                <a:ea typeface="+mn-lt"/>
                <a:cs typeface="Times New Roman"/>
              </a:rPr>
              <a:t>Notes: Grey areas correspond to municipalities not included in the 1960 census sample</a:t>
            </a:r>
            <a:endParaRPr lang="es-ES" sz="1500" dirty="0">
              <a:latin typeface="Cambria" panose="02040503050406030204" pitchFamily="18" charset="0"/>
              <a:ea typeface="Calibri"/>
              <a:cs typeface="Times New Roman"/>
            </a:endParaRPr>
          </a:p>
        </p:txBody>
      </p:sp>
      <p:sp>
        <p:nvSpPr>
          <p:cNvPr id="2" name="Rectangle 2">
            <a:extLst>
              <a:ext uri="{FF2B5EF4-FFF2-40B4-BE49-F238E27FC236}">
                <a16:creationId xmlns:a16="http://schemas.microsoft.com/office/drawing/2014/main" id="{FC1010C2-876E-40A3-2519-E8AA1795466D}"/>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074153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1F0E4-0D8E-94A4-BA5B-9C295FEDC8AB}"/>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8694C8C2-5456-D5FD-3258-694F09AB5C62}"/>
              </a:ext>
            </a:extLst>
          </p:cNvPr>
          <p:cNvSpPr txBox="1">
            <a:spLocks/>
          </p:cNvSpPr>
          <p:nvPr/>
        </p:nvSpPr>
        <p:spPr>
          <a:xfrm>
            <a:off x="594360" y="309659"/>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dirty="0">
                <a:latin typeface="Cambria" panose="02040503050406030204" pitchFamily="18" charset="0"/>
                <a:ea typeface="Calibri"/>
                <a:cs typeface="Times New Roman"/>
              </a:rPr>
              <a:t>Distribution of Spanish-Born Population</a:t>
            </a:r>
            <a:endParaRPr lang="es-ES" sz="3600" dirty="0">
              <a:latin typeface="Cambria" panose="02040503050406030204" pitchFamily="18" charset="0"/>
            </a:endParaRPr>
          </a:p>
        </p:txBody>
      </p:sp>
      <p:sp>
        <p:nvSpPr>
          <p:cNvPr id="10" name="CuadroTexto 9">
            <a:extLst>
              <a:ext uri="{FF2B5EF4-FFF2-40B4-BE49-F238E27FC236}">
                <a16:creationId xmlns:a16="http://schemas.microsoft.com/office/drawing/2014/main" id="{FD30F511-9A90-CBE1-CBE8-29D57FC81FF6}"/>
              </a:ext>
            </a:extLst>
          </p:cNvPr>
          <p:cNvSpPr txBox="1"/>
          <p:nvPr/>
        </p:nvSpPr>
        <p:spPr>
          <a:xfrm>
            <a:off x="594360" y="1411190"/>
            <a:ext cx="1038313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Cambria" panose="02040503050406030204" pitchFamily="18" charset="0"/>
                <a:ea typeface="Calibri"/>
                <a:cs typeface="Times New Roman"/>
              </a:rPr>
              <a:t>Share of Spanish-born population in 1970 (excluding outlier)</a:t>
            </a:r>
          </a:p>
        </p:txBody>
      </p:sp>
      <p:pic>
        <p:nvPicPr>
          <p:cNvPr id="2" name="Imagen 1" descr="Mapa&#10;&#10;El contenido generado por IA puede ser incorrecto.">
            <a:extLst>
              <a:ext uri="{FF2B5EF4-FFF2-40B4-BE49-F238E27FC236}">
                <a16:creationId xmlns:a16="http://schemas.microsoft.com/office/drawing/2014/main" id="{F600E8ED-4ABB-7061-CFB7-C31C0265CE75}"/>
              </a:ext>
            </a:extLst>
          </p:cNvPr>
          <p:cNvPicPr>
            <a:picLocks noChangeAspect="1"/>
          </p:cNvPicPr>
          <p:nvPr/>
        </p:nvPicPr>
        <p:blipFill>
          <a:blip r:embed="rId3"/>
          <a:srcRect t="8973" r="-564" b="123"/>
          <a:stretch>
            <a:fillRect/>
          </a:stretch>
        </p:blipFill>
        <p:spPr>
          <a:xfrm>
            <a:off x="1773630" y="1912280"/>
            <a:ext cx="8634095" cy="4692328"/>
          </a:xfrm>
          <a:prstGeom prst="rect">
            <a:avLst/>
          </a:prstGeom>
        </p:spPr>
      </p:pic>
      <p:sp>
        <p:nvSpPr>
          <p:cNvPr id="3" name="Rectangle 2">
            <a:extLst>
              <a:ext uri="{FF2B5EF4-FFF2-40B4-BE49-F238E27FC236}">
                <a16:creationId xmlns:a16="http://schemas.microsoft.com/office/drawing/2014/main" id="{89F7B8A6-BA93-81CC-2DC7-17B30E72C988}"/>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3036093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EA6CC-921C-1EFE-DB25-8A3FA7E1DC26}"/>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76CD6A56-FE4A-D344-DF30-D6465400A06A}"/>
              </a:ext>
            </a:extLst>
          </p:cNvPr>
          <p:cNvSpPr txBox="1">
            <a:spLocks/>
          </p:cNvSpPr>
          <p:nvPr/>
        </p:nvSpPr>
        <p:spPr>
          <a:xfrm>
            <a:off x="594360" y="298346"/>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dirty="0">
                <a:latin typeface="Cambria" panose="02040503050406030204" pitchFamily="18" charset="0"/>
                <a:ea typeface="Calibri"/>
                <a:cs typeface="Times New Roman"/>
              </a:rPr>
              <a:t>Distribution of Spanish-Born Population</a:t>
            </a:r>
            <a:endParaRPr lang="es-ES" sz="3600" dirty="0">
              <a:latin typeface="Cambria" panose="02040503050406030204" pitchFamily="18" charset="0"/>
            </a:endParaRPr>
          </a:p>
        </p:txBody>
      </p:sp>
      <p:sp>
        <p:nvSpPr>
          <p:cNvPr id="10" name="CuadroTexto 9">
            <a:extLst>
              <a:ext uri="{FF2B5EF4-FFF2-40B4-BE49-F238E27FC236}">
                <a16:creationId xmlns:a16="http://schemas.microsoft.com/office/drawing/2014/main" id="{E58B7283-A6FB-A456-599F-CC923FB1BC2E}"/>
              </a:ext>
            </a:extLst>
          </p:cNvPr>
          <p:cNvSpPr txBox="1"/>
          <p:nvPr/>
        </p:nvSpPr>
        <p:spPr>
          <a:xfrm>
            <a:off x="594360" y="1370874"/>
            <a:ext cx="1069846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Cambria" panose="02040503050406030204" pitchFamily="18" charset="0"/>
                <a:ea typeface="Calibri"/>
                <a:cs typeface="Times New Roman"/>
              </a:rPr>
              <a:t>Distribution of the Shares of Spanish-born population in 1960 and 1970 (excluding zero values and outliers)</a:t>
            </a:r>
          </a:p>
        </p:txBody>
      </p:sp>
      <p:pic>
        <p:nvPicPr>
          <p:cNvPr id="3" name="Imagen 2" descr="Gráfico, Histograma&#10;&#10;El contenido generado por IA puede ser incorrecto.">
            <a:extLst>
              <a:ext uri="{FF2B5EF4-FFF2-40B4-BE49-F238E27FC236}">
                <a16:creationId xmlns:a16="http://schemas.microsoft.com/office/drawing/2014/main" id="{205A554D-88D3-5583-C05D-C9F92EB2BEAE}"/>
              </a:ext>
            </a:extLst>
          </p:cNvPr>
          <p:cNvPicPr>
            <a:picLocks noChangeAspect="1"/>
          </p:cNvPicPr>
          <p:nvPr/>
        </p:nvPicPr>
        <p:blipFill>
          <a:blip r:embed="rId3"/>
          <a:stretch>
            <a:fillRect/>
          </a:stretch>
        </p:blipFill>
        <p:spPr>
          <a:xfrm>
            <a:off x="6118161" y="2210083"/>
            <a:ext cx="5943600" cy="4362450"/>
          </a:xfrm>
          <a:prstGeom prst="rect">
            <a:avLst/>
          </a:prstGeom>
        </p:spPr>
      </p:pic>
      <p:pic>
        <p:nvPicPr>
          <p:cNvPr id="4" name="Imagen 3" descr="Gráfico, Histograma&#10;&#10;El contenido generado por IA puede ser incorrecto.">
            <a:extLst>
              <a:ext uri="{FF2B5EF4-FFF2-40B4-BE49-F238E27FC236}">
                <a16:creationId xmlns:a16="http://schemas.microsoft.com/office/drawing/2014/main" id="{B1B2F16B-9016-E6E9-4596-84C96A46F4DA}"/>
              </a:ext>
            </a:extLst>
          </p:cNvPr>
          <p:cNvPicPr>
            <a:picLocks noChangeAspect="1"/>
          </p:cNvPicPr>
          <p:nvPr/>
        </p:nvPicPr>
        <p:blipFill>
          <a:blip r:embed="rId4"/>
          <a:stretch>
            <a:fillRect/>
          </a:stretch>
        </p:blipFill>
        <p:spPr>
          <a:xfrm>
            <a:off x="134858" y="2262423"/>
            <a:ext cx="5953125" cy="4305300"/>
          </a:xfrm>
          <a:prstGeom prst="rect">
            <a:avLst/>
          </a:prstGeom>
        </p:spPr>
      </p:pic>
      <p:sp>
        <p:nvSpPr>
          <p:cNvPr id="2" name="Rectangle 2">
            <a:extLst>
              <a:ext uri="{FF2B5EF4-FFF2-40B4-BE49-F238E27FC236}">
                <a16:creationId xmlns:a16="http://schemas.microsoft.com/office/drawing/2014/main" id="{CC77A63F-7308-4998-F823-018B9D12736B}"/>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4521161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F06EC-E6DA-12A1-350A-75D00DC0BB58}"/>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669C2E5C-5FE7-5A32-1AE9-583F72521761}"/>
              </a:ext>
            </a:extLst>
          </p:cNvPr>
          <p:cNvSpPr txBox="1">
            <a:spLocks/>
          </p:cNvSpPr>
          <p:nvPr/>
        </p:nvSpPr>
        <p:spPr>
          <a:xfrm>
            <a:off x="594360" y="288985"/>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dirty="0">
                <a:latin typeface="Cambria" panose="02040503050406030204" pitchFamily="18" charset="0"/>
                <a:ea typeface="Calibri"/>
                <a:cs typeface="Times New Roman"/>
              </a:rPr>
              <a:t>Distribution of Spanish-Born Population</a:t>
            </a:r>
            <a:endParaRPr lang="es-ES" sz="3600" dirty="0">
              <a:latin typeface="Cambria" panose="02040503050406030204" pitchFamily="18" charset="0"/>
            </a:endParaRPr>
          </a:p>
        </p:txBody>
      </p:sp>
      <p:sp>
        <p:nvSpPr>
          <p:cNvPr id="10" name="CuadroTexto 9">
            <a:extLst>
              <a:ext uri="{FF2B5EF4-FFF2-40B4-BE49-F238E27FC236}">
                <a16:creationId xmlns:a16="http://schemas.microsoft.com/office/drawing/2014/main" id="{CA8A6611-CE9D-4A79-164F-63723E1F4A83}"/>
              </a:ext>
            </a:extLst>
          </p:cNvPr>
          <p:cNvSpPr txBox="1"/>
          <p:nvPr/>
        </p:nvSpPr>
        <p:spPr>
          <a:xfrm>
            <a:off x="594360" y="1402802"/>
            <a:ext cx="1038313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Cambria" panose="02040503050406030204" pitchFamily="18" charset="0"/>
                <a:ea typeface="Calibri"/>
                <a:cs typeface="Times New Roman"/>
              </a:rPr>
              <a:t>Log of Spanish-born population in 1960</a:t>
            </a:r>
          </a:p>
        </p:txBody>
      </p:sp>
      <p:pic>
        <p:nvPicPr>
          <p:cNvPr id="3" name="Imagen 2" descr="Mapa&#10;&#10;El contenido generado por IA puede ser incorrecto.">
            <a:extLst>
              <a:ext uri="{FF2B5EF4-FFF2-40B4-BE49-F238E27FC236}">
                <a16:creationId xmlns:a16="http://schemas.microsoft.com/office/drawing/2014/main" id="{FFE86DEB-190D-1F91-C2FC-604328F0AA10}"/>
              </a:ext>
            </a:extLst>
          </p:cNvPr>
          <p:cNvPicPr>
            <a:picLocks noChangeAspect="1"/>
          </p:cNvPicPr>
          <p:nvPr/>
        </p:nvPicPr>
        <p:blipFill>
          <a:blip r:embed="rId3"/>
          <a:srcRect t="7887" r="-82" b="141"/>
          <a:stretch>
            <a:fillRect/>
          </a:stretch>
        </p:blipFill>
        <p:spPr>
          <a:xfrm>
            <a:off x="1693045" y="1802912"/>
            <a:ext cx="8783283" cy="4693758"/>
          </a:xfrm>
          <a:prstGeom prst="rect">
            <a:avLst/>
          </a:prstGeom>
        </p:spPr>
      </p:pic>
      <p:sp>
        <p:nvSpPr>
          <p:cNvPr id="2" name="CuadroTexto 1">
            <a:extLst>
              <a:ext uri="{FF2B5EF4-FFF2-40B4-BE49-F238E27FC236}">
                <a16:creationId xmlns:a16="http://schemas.microsoft.com/office/drawing/2014/main" id="{01D6F5BC-40A6-0012-FB72-758C734B0B12}"/>
              </a:ext>
            </a:extLst>
          </p:cNvPr>
          <p:cNvSpPr txBox="1"/>
          <p:nvPr/>
        </p:nvSpPr>
        <p:spPr>
          <a:xfrm>
            <a:off x="2419578" y="6380318"/>
            <a:ext cx="7363361"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dirty="0">
                <a:solidFill>
                  <a:srgbClr val="000000"/>
                </a:solidFill>
                <a:latin typeface="Cambria" panose="02040503050406030204" pitchFamily="18" charset="0"/>
                <a:ea typeface="+mn-lt"/>
                <a:cs typeface="Times New Roman"/>
              </a:rPr>
              <a:t>Notes: Grey areas correspond to municipalities not included in the 1960 census sample</a:t>
            </a:r>
            <a:endParaRPr lang="es-ES" sz="1500" dirty="0">
              <a:latin typeface="Cambria" panose="02040503050406030204" pitchFamily="18" charset="0"/>
              <a:ea typeface="Calibri"/>
              <a:cs typeface="Times New Roman"/>
            </a:endParaRPr>
          </a:p>
        </p:txBody>
      </p:sp>
      <p:sp>
        <p:nvSpPr>
          <p:cNvPr id="4" name="Rectangle 2">
            <a:extLst>
              <a:ext uri="{FF2B5EF4-FFF2-40B4-BE49-F238E27FC236}">
                <a16:creationId xmlns:a16="http://schemas.microsoft.com/office/drawing/2014/main" id="{C31AED0E-15A9-366B-A00F-533AA11B5390}"/>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338592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8DBBD-634D-18E6-6384-D790C697DA77}"/>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630E1E4C-59D4-1E74-E171-1B6DEC1D9478}"/>
              </a:ext>
            </a:extLst>
          </p:cNvPr>
          <p:cNvSpPr txBox="1">
            <a:spLocks/>
          </p:cNvSpPr>
          <p:nvPr/>
        </p:nvSpPr>
        <p:spPr>
          <a:xfrm>
            <a:off x="594360" y="278801"/>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dirty="0">
                <a:latin typeface="Cambria" panose="02040503050406030204" pitchFamily="18" charset="0"/>
                <a:ea typeface="Calibri"/>
                <a:cs typeface="Times New Roman"/>
              </a:rPr>
              <a:t>Distribution of Spanish-Born Population</a:t>
            </a:r>
            <a:endParaRPr lang="es-ES" sz="3600" dirty="0">
              <a:latin typeface="Cambria" panose="02040503050406030204" pitchFamily="18" charset="0"/>
            </a:endParaRPr>
          </a:p>
        </p:txBody>
      </p:sp>
      <p:sp>
        <p:nvSpPr>
          <p:cNvPr id="10" name="CuadroTexto 9">
            <a:extLst>
              <a:ext uri="{FF2B5EF4-FFF2-40B4-BE49-F238E27FC236}">
                <a16:creationId xmlns:a16="http://schemas.microsoft.com/office/drawing/2014/main" id="{62A64C73-CFCF-9B86-FCAB-25379C4CE59F}"/>
              </a:ext>
            </a:extLst>
          </p:cNvPr>
          <p:cNvSpPr txBox="1"/>
          <p:nvPr/>
        </p:nvSpPr>
        <p:spPr>
          <a:xfrm>
            <a:off x="594360" y="1368804"/>
            <a:ext cx="1038313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Cambria" panose="02040503050406030204" pitchFamily="18" charset="0"/>
                <a:ea typeface="Calibri"/>
                <a:cs typeface="Times New Roman"/>
              </a:rPr>
              <a:t>Log of Spanish-born population in 1970</a:t>
            </a:r>
          </a:p>
        </p:txBody>
      </p:sp>
      <p:pic>
        <p:nvPicPr>
          <p:cNvPr id="2" name="Imagen 1" descr="Mapa&#10;&#10;El contenido generado por IA puede ser incorrecto.">
            <a:extLst>
              <a:ext uri="{FF2B5EF4-FFF2-40B4-BE49-F238E27FC236}">
                <a16:creationId xmlns:a16="http://schemas.microsoft.com/office/drawing/2014/main" id="{31728B4C-DD29-35FD-7A60-6D7CE7C578B5}"/>
              </a:ext>
            </a:extLst>
          </p:cNvPr>
          <p:cNvPicPr>
            <a:picLocks noChangeAspect="1"/>
          </p:cNvPicPr>
          <p:nvPr/>
        </p:nvPicPr>
        <p:blipFill>
          <a:blip r:embed="rId2"/>
          <a:srcRect t="7465" r="-564" b="131"/>
          <a:stretch>
            <a:fillRect/>
          </a:stretch>
        </p:blipFill>
        <p:spPr>
          <a:xfrm>
            <a:off x="1539749" y="1908490"/>
            <a:ext cx="9094312" cy="4722631"/>
          </a:xfrm>
          <a:prstGeom prst="rect">
            <a:avLst/>
          </a:prstGeom>
        </p:spPr>
      </p:pic>
      <p:sp>
        <p:nvSpPr>
          <p:cNvPr id="3" name="Rectangle 2">
            <a:extLst>
              <a:ext uri="{FF2B5EF4-FFF2-40B4-BE49-F238E27FC236}">
                <a16:creationId xmlns:a16="http://schemas.microsoft.com/office/drawing/2014/main" id="{960F51BD-6C2B-2D63-123F-457C39347018}"/>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972344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pPr algn="l">
              <a:lnSpc>
                <a:spcPct val="100000"/>
              </a:lnSpc>
            </a:pPr>
            <a:r>
              <a:rPr sz="3600" b="1" i="0" dirty="0">
                <a:solidFill>
                  <a:srgbClr val="000000"/>
                </a:solidFill>
                <a:latin typeface="Cambria"/>
              </a:rPr>
              <a:t>Appendix — </a:t>
            </a:r>
            <a:r>
              <a:rPr lang="en-US" sz="3600" b="1" i="0" noProof="1">
                <a:solidFill>
                  <a:srgbClr val="000000"/>
                </a:solidFill>
                <a:latin typeface="Cambria"/>
              </a:rPr>
              <a:t>Additional Specifications Explored</a:t>
            </a:r>
            <a:endParaRPr sz="3600" b="1" i="0" dirty="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325880"/>
            <a:ext cx="10972800" cy="307777"/>
          </a:xfrm>
          <a:prstGeom prst="rect">
            <a:avLst/>
          </a:prstGeom>
          <a:noFill/>
        </p:spPr>
        <p:txBody>
          <a:bodyPr wrap="square" lIns="0" tIns="0" rIns="0" bIns="0" anchor="t">
            <a:spAutoFit/>
          </a:bodyPr>
          <a:lstStyle/>
          <a:p>
            <a:pPr algn="l">
              <a:lnSpc>
                <a:spcPct val="100000"/>
              </a:lnSpc>
            </a:pPr>
            <a:r>
              <a:rPr lang="en-US" sz="2000" b="1" i="0" noProof="1">
                <a:solidFill>
                  <a:srgbClr val="000000"/>
                </a:solidFill>
                <a:latin typeface="Cambria"/>
              </a:rPr>
              <a:t>Differential Time Trends by U.S Migration (2000)</a:t>
            </a:r>
          </a:p>
        </p:txBody>
      </p:sp>
      <p:sp>
        <p:nvSpPr>
          <p:cNvPr id="5" name="TextBox 4"/>
          <p:cNvSpPr txBox="1"/>
          <p:nvPr/>
        </p:nvSpPr>
        <p:spPr>
          <a:xfrm>
            <a:off x="548640" y="1828800"/>
            <a:ext cx="11064240" cy="275140"/>
          </a:xfrm>
          <a:prstGeom prst="rect">
            <a:avLst/>
          </a:prstGeom>
          <a:noFill/>
        </p:spPr>
        <p:txBody>
          <a:bodyPr wrap="square" lIns="0" tIns="0" rIns="0" bIns="0" anchor="t">
            <a:spAutoFit/>
          </a:bodyPr>
          <a:lstStyle/>
          <a:p>
            <a:pPr algn="ctr">
              <a:lnSpc>
                <a:spcPct val="115000"/>
              </a:lnSpc>
            </a:pPr>
            <a:r>
              <a:rPr sz="1700" b="0" i="1" dirty="0">
                <a:solidFill>
                  <a:srgbClr val="000000"/>
                </a:solidFill>
                <a:latin typeface="Cambria"/>
              </a:rPr>
              <a:t>log(remittances)ₘₜ = β₀ + β₁ · postₜ × log(Eₘ) + </a:t>
            </a:r>
            <a:r>
              <a:rPr sz="1700" b="0" i="1" dirty="0" err="1">
                <a:solidFill>
                  <a:srgbClr val="000000"/>
                </a:solidFill>
                <a:latin typeface="Cambria"/>
              </a:rPr>
              <a:t>γ</a:t>
            </a:r>
            <a:r>
              <a:rPr sz="1700" b="0" i="1" dirty="0">
                <a:solidFill>
                  <a:srgbClr val="000000"/>
                </a:solidFill>
                <a:latin typeface="Cambria"/>
              </a:rPr>
              <a:t>ₜ + </a:t>
            </a:r>
            <a:r>
              <a:rPr sz="1700" b="0" i="1" dirty="0" err="1">
                <a:solidFill>
                  <a:srgbClr val="000000"/>
                </a:solidFill>
                <a:latin typeface="Cambria"/>
              </a:rPr>
              <a:t>δ</a:t>
            </a:r>
            <a:r>
              <a:rPr sz="1700" b="0" i="1" dirty="0">
                <a:solidFill>
                  <a:srgbClr val="000000"/>
                </a:solidFill>
                <a:latin typeface="Cambria"/>
              </a:rPr>
              <a:t>ₘ + </a:t>
            </a:r>
            <a:r>
              <a:rPr sz="1700" b="0" i="1" dirty="0" err="1">
                <a:solidFill>
                  <a:srgbClr val="000000"/>
                </a:solidFill>
                <a:latin typeface="Cambria"/>
              </a:rPr>
              <a:t>θ</a:t>
            </a:r>
            <a:r>
              <a:rPr sz="1700" b="0" i="1" dirty="0">
                <a:solidFill>
                  <a:srgbClr val="000000"/>
                </a:solidFill>
                <a:latin typeface="Cambria"/>
              </a:rPr>
              <a:t>ₜ · </a:t>
            </a:r>
            <a:r>
              <a:rPr sz="1700" b="0" i="1" dirty="0" err="1">
                <a:solidFill>
                  <a:srgbClr val="000000"/>
                </a:solidFill>
                <a:latin typeface="Cambria"/>
              </a:rPr>
              <a:t>USmig</a:t>
            </a:r>
            <a:r>
              <a:rPr sz="1700" b="0" i="1" dirty="0">
                <a:solidFill>
                  <a:srgbClr val="000000"/>
                </a:solidFill>
                <a:latin typeface="Cambria"/>
              </a:rPr>
              <a:t>₂₀</a:t>
            </a:r>
            <a:r>
              <a:rPr lang="es-AR" sz="1700" i="1" dirty="0">
                <a:solidFill>
                  <a:srgbClr val="000000"/>
                </a:solidFill>
                <a:latin typeface="Cambria"/>
              </a:rPr>
              <a:t>₀</a:t>
            </a:r>
            <a:r>
              <a:rPr sz="1700" b="0" i="1" dirty="0">
                <a:solidFill>
                  <a:srgbClr val="000000"/>
                </a:solidFill>
                <a:latin typeface="Cambria"/>
              </a:rPr>
              <a:t>₀,ₘ + uₘₜ</a:t>
            </a:r>
          </a:p>
        </p:txBody>
      </p:sp>
      <p:sp>
        <p:nvSpPr>
          <p:cNvPr id="7" name="TextBox 6"/>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24 / 31</a:t>
            </a:r>
          </a:p>
        </p:txBody>
      </p:sp>
      <p:pic>
        <p:nvPicPr>
          <p:cNvPr id="9" name="Imagen 8">
            <a:extLst>
              <a:ext uri="{FF2B5EF4-FFF2-40B4-BE49-F238E27FC236}">
                <a16:creationId xmlns:a16="http://schemas.microsoft.com/office/drawing/2014/main" id="{F8AD3040-8F78-0EAF-5303-56AC121B20DF}"/>
              </a:ext>
            </a:extLst>
          </p:cNvPr>
          <p:cNvPicPr>
            <a:picLocks noChangeAspect="1"/>
          </p:cNvPicPr>
          <p:nvPr/>
        </p:nvPicPr>
        <p:blipFill>
          <a:blip r:embed="rId4"/>
          <a:stretch>
            <a:fillRect/>
          </a:stretch>
        </p:blipFill>
        <p:spPr>
          <a:xfrm>
            <a:off x="3287999" y="2331720"/>
            <a:ext cx="5616001" cy="388800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A7B37-98FE-DB83-F183-DE4F862B23D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69C43FB-D1D3-38CF-7901-81E017F0A6A1}"/>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C149E4FB-F91F-51E0-FC57-4F2C609D7D0D}"/>
              </a:ext>
            </a:extLst>
          </p:cNvPr>
          <p:cNvSpPr txBox="1"/>
          <p:nvPr/>
        </p:nvSpPr>
        <p:spPr>
          <a:xfrm>
            <a:off x="594360" y="1325880"/>
            <a:ext cx="10972800" cy="307777"/>
          </a:xfrm>
          <a:prstGeom prst="rect">
            <a:avLst/>
          </a:prstGeom>
          <a:noFill/>
        </p:spPr>
        <p:txBody>
          <a:bodyPr wrap="square" lIns="0" tIns="0" rIns="0" bIns="0" anchor="t">
            <a:spAutoFit/>
          </a:bodyPr>
          <a:lstStyle/>
          <a:p>
            <a:r>
              <a:rPr lang="en-US" sz="2000" b="1" noProof="1">
                <a:latin typeface="Cambria" panose="02040503050406030204" pitchFamily="18" charset="0"/>
              </a:rPr>
              <a:t>Exposure Based on a Spanish Presence Dummy</a:t>
            </a:r>
            <a:endParaRPr lang="en-US" sz="2000" noProof="1">
              <a:latin typeface="Cambria" panose="02040503050406030204" pitchFamily="18" charset="0"/>
            </a:endParaRPr>
          </a:p>
        </p:txBody>
      </p:sp>
      <p:sp>
        <p:nvSpPr>
          <p:cNvPr id="5" name="TextBox 4">
            <a:extLst>
              <a:ext uri="{FF2B5EF4-FFF2-40B4-BE49-F238E27FC236}">
                <a16:creationId xmlns:a16="http://schemas.microsoft.com/office/drawing/2014/main" id="{B083FE94-C976-9887-442C-CC6FFF0D17AE}"/>
              </a:ext>
            </a:extLst>
          </p:cNvPr>
          <p:cNvSpPr txBox="1"/>
          <p:nvPr/>
        </p:nvSpPr>
        <p:spPr>
          <a:xfrm>
            <a:off x="548640" y="1828800"/>
            <a:ext cx="11064240" cy="275140"/>
          </a:xfrm>
          <a:prstGeom prst="rect">
            <a:avLst/>
          </a:prstGeom>
          <a:noFill/>
        </p:spPr>
        <p:txBody>
          <a:bodyPr wrap="square" lIns="0" tIns="0" rIns="0" bIns="0" anchor="t">
            <a:spAutoFit/>
          </a:bodyPr>
          <a:lstStyle/>
          <a:p>
            <a:pPr algn="ctr">
              <a:lnSpc>
                <a:spcPct val="115000"/>
              </a:lnSpc>
            </a:pPr>
            <a:r>
              <a:rPr sz="1700" b="0" i="1" dirty="0">
                <a:solidFill>
                  <a:srgbClr val="000000"/>
                </a:solidFill>
                <a:latin typeface="Cambria"/>
              </a:rPr>
              <a:t>log(remittances)ₘₜ = β₀ + β₁ · postₜ × </a:t>
            </a:r>
            <a:r>
              <a:rPr lang="es-ES" sz="1700" i="1" dirty="0">
                <a:solidFill>
                  <a:srgbClr val="000000"/>
                </a:solidFill>
                <a:latin typeface="Cambria"/>
              </a:rPr>
              <a:t>Spanish Presence</a:t>
            </a:r>
            <a:r>
              <a:rPr sz="1700" b="0" i="1" dirty="0">
                <a:solidFill>
                  <a:srgbClr val="000000"/>
                </a:solidFill>
                <a:latin typeface="Cambria"/>
              </a:rPr>
              <a:t>ₘ + </a:t>
            </a:r>
            <a:r>
              <a:rPr sz="1700" b="0" i="1" dirty="0" err="1">
                <a:solidFill>
                  <a:srgbClr val="000000"/>
                </a:solidFill>
                <a:latin typeface="Cambria"/>
              </a:rPr>
              <a:t>γ</a:t>
            </a:r>
            <a:r>
              <a:rPr sz="1700" b="0" i="1" dirty="0">
                <a:solidFill>
                  <a:srgbClr val="000000"/>
                </a:solidFill>
                <a:latin typeface="Cambria"/>
              </a:rPr>
              <a:t>ₜ + </a:t>
            </a:r>
            <a:r>
              <a:rPr sz="1700" b="0" i="1" dirty="0" err="1">
                <a:solidFill>
                  <a:srgbClr val="000000"/>
                </a:solidFill>
                <a:latin typeface="Cambria"/>
              </a:rPr>
              <a:t>δ</a:t>
            </a:r>
            <a:r>
              <a:rPr sz="1700" b="0" i="1" dirty="0">
                <a:solidFill>
                  <a:srgbClr val="000000"/>
                </a:solidFill>
                <a:latin typeface="Cambria"/>
              </a:rPr>
              <a:t>ₘ + uₘₜ</a:t>
            </a:r>
          </a:p>
        </p:txBody>
      </p:sp>
      <p:sp>
        <p:nvSpPr>
          <p:cNvPr id="7" name="TextBox 6">
            <a:extLst>
              <a:ext uri="{FF2B5EF4-FFF2-40B4-BE49-F238E27FC236}">
                <a16:creationId xmlns:a16="http://schemas.microsoft.com/office/drawing/2014/main" id="{CBE34E11-CB41-6763-A91A-044E7FEC53A4}"/>
              </a:ext>
            </a:extLst>
          </p:cNvPr>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24 / 31</a:t>
            </a:r>
          </a:p>
        </p:txBody>
      </p:sp>
      <p:pic>
        <p:nvPicPr>
          <p:cNvPr id="8" name="Imagen 7">
            <a:extLst>
              <a:ext uri="{FF2B5EF4-FFF2-40B4-BE49-F238E27FC236}">
                <a16:creationId xmlns:a16="http://schemas.microsoft.com/office/drawing/2014/main" id="{2AFA2EE5-1D11-45FC-7F35-D2C1F3AFBB81}"/>
              </a:ext>
            </a:extLst>
          </p:cNvPr>
          <p:cNvPicPr>
            <a:picLocks noChangeAspect="1"/>
          </p:cNvPicPr>
          <p:nvPr/>
        </p:nvPicPr>
        <p:blipFill>
          <a:blip r:embed="rId3"/>
          <a:stretch>
            <a:fillRect/>
          </a:stretch>
        </p:blipFill>
        <p:spPr>
          <a:xfrm>
            <a:off x="3272760" y="2331720"/>
            <a:ext cx="5616000" cy="3888000"/>
          </a:xfrm>
          <a:prstGeom prst="rect">
            <a:avLst/>
          </a:prstGeom>
        </p:spPr>
      </p:pic>
      <p:sp>
        <p:nvSpPr>
          <p:cNvPr id="11" name="TextBox 1">
            <a:extLst>
              <a:ext uri="{FF2B5EF4-FFF2-40B4-BE49-F238E27FC236}">
                <a16:creationId xmlns:a16="http://schemas.microsoft.com/office/drawing/2014/main" id="{8730493E-815C-1631-CB34-13C9212F4CEE}"/>
              </a:ext>
            </a:extLst>
          </p:cNvPr>
          <p:cNvSpPr txBox="1"/>
          <p:nvPr/>
        </p:nvSpPr>
        <p:spPr>
          <a:xfrm>
            <a:off x="548640" y="256032"/>
            <a:ext cx="11155680" cy="553998"/>
          </a:xfrm>
          <a:prstGeom prst="rect">
            <a:avLst/>
          </a:prstGeom>
          <a:noFill/>
        </p:spPr>
        <p:txBody>
          <a:bodyPr wrap="square" lIns="0" tIns="0" rIns="0" bIns="0" anchor="t">
            <a:spAutoFit/>
          </a:bodyPr>
          <a:lstStyle/>
          <a:p>
            <a:pPr algn="l">
              <a:lnSpc>
                <a:spcPct val="100000"/>
              </a:lnSpc>
            </a:pPr>
            <a:r>
              <a:rPr sz="3600" b="1" i="0" dirty="0">
                <a:solidFill>
                  <a:srgbClr val="000000"/>
                </a:solidFill>
                <a:latin typeface="Cambria"/>
              </a:rPr>
              <a:t>Appendix — </a:t>
            </a:r>
            <a:r>
              <a:rPr lang="en-US" sz="3600" b="1" i="0" noProof="1">
                <a:solidFill>
                  <a:srgbClr val="000000"/>
                </a:solidFill>
                <a:latin typeface="Cambria"/>
              </a:rPr>
              <a:t>Additional Specifications Explored</a:t>
            </a:r>
            <a:endParaRPr sz="3600" b="1" i="0" dirty="0">
              <a:solidFill>
                <a:srgbClr val="000000"/>
              </a:solidFill>
              <a:latin typeface="Cambria"/>
            </a:endParaRPr>
          </a:p>
        </p:txBody>
      </p:sp>
    </p:spTree>
    <p:extLst>
      <p:ext uri="{BB962C8B-B14F-4D97-AF65-F5344CB8AC3E}">
        <p14:creationId xmlns:p14="http://schemas.microsoft.com/office/powerpoint/2010/main" val="14689527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B4E3F-693E-1921-2B39-73310428FF1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071D162-DEA6-3E83-B2FC-CD9126114C2D}"/>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54A0548F-FD12-A841-C4DA-A340E5621FFB}"/>
              </a:ext>
            </a:extLst>
          </p:cNvPr>
          <p:cNvSpPr txBox="1"/>
          <p:nvPr/>
        </p:nvSpPr>
        <p:spPr>
          <a:xfrm>
            <a:off x="548640" y="1828800"/>
            <a:ext cx="11064240" cy="275140"/>
          </a:xfrm>
          <a:prstGeom prst="rect">
            <a:avLst/>
          </a:prstGeom>
          <a:noFill/>
        </p:spPr>
        <p:txBody>
          <a:bodyPr wrap="square" lIns="0" tIns="0" rIns="0" bIns="0" anchor="t">
            <a:spAutoFit/>
          </a:bodyPr>
          <a:lstStyle/>
          <a:p>
            <a:pPr algn="ctr">
              <a:lnSpc>
                <a:spcPct val="115000"/>
              </a:lnSpc>
            </a:pPr>
            <a:r>
              <a:rPr sz="1700" b="0" i="1" dirty="0">
                <a:solidFill>
                  <a:srgbClr val="000000"/>
                </a:solidFill>
                <a:latin typeface="Cambria"/>
              </a:rPr>
              <a:t>log(remittances)ₘₜ = β₀ + β₁ · postₜ × </a:t>
            </a:r>
            <a:r>
              <a:rPr lang="es-ES" sz="1700" i="1" dirty="0">
                <a:solidFill>
                  <a:srgbClr val="000000"/>
                </a:solidFill>
                <a:latin typeface="Cambria"/>
              </a:rPr>
              <a:t>Spanish Presence</a:t>
            </a:r>
            <a:r>
              <a:rPr sz="1700" b="0" i="1" dirty="0">
                <a:solidFill>
                  <a:srgbClr val="000000"/>
                </a:solidFill>
                <a:latin typeface="Cambria"/>
              </a:rPr>
              <a:t>ₘ + </a:t>
            </a:r>
            <a:r>
              <a:rPr sz="1700" b="0" i="1" dirty="0" err="1">
                <a:solidFill>
                  <a:srgbClr val="000000"/>
                </a:solidFill>
                <a:latin typeface="Cambria"/>
              </a:rPr>
              <a:t>γ</a:t>
            </a:r>
            <a:r>
              <a:rPr sz="1700" b="0" i="1" dirty="0">
                <a:solidFill>
                  <a:srgbClr val="000000"/>
                </a:solidFill>
                <a:latin typeface="Cambria"/>
              </a:rPr>
              <a:t>ₜ + </a:t>
            </a:r>
            <a:r>
              <a:rPr sz="1700" b="0" i="1" dirty="0" err="1">
                <a:solidFill>
                  <a:srgbClr val="000000"/>
                </a:solidFill>
                <a:latin typeface="Cambria"/>
              </a:rPr>
              <a:t>δ</a:t>
            </a:r>
            <a:r>
              <a:rPr sz="1700" b="0" i="1" dirty="0">
                <a:solidFill>
                  <a:srgbClr val="000000"/>
                </a:solidFill>
                <a:latin typeface="Cambria"/>
              </a:rPr>
              <a:t>ₘ + </a:t>
            </a:r>
            <a:r>
              <a:rPr sz="1700" b="0" i="1" dirty="0" err="1">
                <a:solidFill>
                  <a:srgbClr val="000000"/>
                </a:solidFill>
                <a:latin typeface="Cambria"/>
              </a:rPr>
              <a:t>θ</a:t>
            </a:r>
            <a:r>
              <a:rPr sz="1700" b="0" i="1" dirty="0">
                <a:solidFill>
                  <a:srgbClr val="000000"/>
                </a:solidFill>
                <a:latin typeface="Cambria"/>
              </a:rPr>
              <a:t>ₜ · </a:t>
            </a:r>
            <a:r>
              <a:rPr sz="1700" b="0" i="1" dirty="0" err="1">
                <a:solidFill>
                  <a:srgbClr val="000000"/>
                </a:solidFill>
                <a:latin typeface="Cambria"/>
              </a:rPr>
              <a:t>USmig</a:t>
            </a:r>
            <a:r>
              <a:rPr sz="1700" b="0" i="1" dirty="0">
                <a:solidFill>
                  <a:srgbClr val="000000"/>
                </a:solidFill>
                <a:latin typeface="Cambria"/>
              </a:rPr>
              <a:t>₂₀₁₀,ₘ + uₘₜ</a:t>
            </a:r>
          </a:p>
        </p:txBody>
      </p:sp>
      <p:sp>
        <p:nvSpPr>
          <p:cNvPr id="7" name="TextBox 6">
            <a:extLst>
              <a:ext uri="{FF2B5EF4-FFF2-40B4-BE49-F238E27FC236}">
                <a16:creationId xmlns:a16="http://schemas.microsoft.com/office/drawing/2014/main" id="{A4B30A66-B3E5-7D0B-C6FD-E04CEA85E5B3}"/>
              </a:ext>
            </a:extLst>
          </p:cNvPr>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24 / 31</a:t>
            </a:r>
          </a:p>
        </p:txBody>
      </p:sp>
      <p:pic>
        <p:nvPicPr>
          <p:cNvPr id="8" name="Imagen 7">
            <a:extLst>
              <a:ext uri="{FF2B5EF4-FFF2-40B4-BE49-F238E27FC236}">
                <a16:creationId xmlns:a16="http://schemas.microsoft.com/office/drawing/2014/main" id="{4796E459-6C63-2E44-9CE8-D985AECF10E6}"/>
              </a:ext>
            </a:extLst>
          </p:cNvPr>
          <p:cNvPicPr>
            <a:picLocks noChangeAspect="1"/>
          </p:cNvPicPr>
          <p:nvPr/>
        </p:nvPicPr>
        <p:blipFill>
          <a:blip r:embed="rId3"/>
          <a:stretch>
            <a:fillRect/>
          </a:stretch>
        </p:blipFill>
        <p:spPr>
          <a:xfrm>
            <a:off x="3272760" y="2286000"/>
            <a:ext cx="5616000" cy="3888000"/>
          </a:xfrm>
          <a:prstGeom prst="rect">
            <a:avLst/>
          </a:prstGeom>
        </p:spPr>
      </p:pic>
      <p:sp>
        <p:nvSpPr>
          <p:cNvPr id="10" name="TextBox 3">
            <a:extLst>
              <a:ext uri="{FF2B5EF4-FFF2-40B4-BE49-F238E27FC236}">
                <a16:creationId xmlns:a16="http://schemas.microsoft.com/office/drawing/2014/main" id="{C5F93244-C012-E242-D63A-C4921AB79492}"/>
              </a:ext>
            </a:extLst>
          </p:cNvPr>
          <p:cNvSpPr txBox="1"/>
          <p:nvPr/>
        </p:nvSpPr>
        <p:spPr>
          <a:xfrm>
            <a:off x="594360" y="1325880"/>
            <a:ext cx="10972800" cy="292388"/>
          </a:xfrm>
          <a:prstGeom prst="rect">
            <a:avLst/>
          </a:prstGeom>
          <a:noFill/>
        </p:spPr>
        <p:txBody>
          <a:bodyPr wrap="square" lIns="0" tIns="0" rIns="0" bIns="0" anchor="t">
            <a:spAutoFit/>
          </a:bodyPr>
          <a:lstStyle/>
          <a:p>
            <a:r>
              <a:rPr lang="en-US" sz="1900" b="1" i="0" noProof="1">
                <a:solidFill>
                  <a:srgbClr val="000000"/>
                </a:solidFill>
                <a:latin typeface="Cambria"/>
              </a:rPr>
              <a:t>Differential Time Trends by U.S Migration (2010), </a:t>
            </a:r>
            <a:r>
              <a:rPr lang="en-US" sz="1900" b="1" noProof="1">
                <a:latin typeface="Cambria" panose="02040503050406030204" pitchFamily="18" charset="0"/>
              </a:rPr>
              <a:t>Exposure Based on a Spanish Presence Dummy</a:t>
            </a:r>
            <a:endParaRPr lang="en-US" sz="1900" noProof="1">
              <a:latin typeface="Cambria" panose="02040503050406030204" pitchFamily="18" charset="0"/>
            </a:endParaRPr>
          </a:p>
        </p:txBody>
      </p:sp>
      <p:sp>
        <p:nvSpPr>
          <p:cNvPr id="11" name="TextBox 1">
            <a:extLst>
              <a:ext uri="{FF2B5EF4-FFF2-40B4-BE49-F238E27FC236}">
                <a16:creationId xmlns:a16="http://schemas.microsoft.com/office/drawing/2014/main" id="{705B7ED8-B42A-2714-4B92-3E5EEEBB786A}"/>
              </a:ext>
            </a:extLst>
          </p:cNvPr>
          <p:cNvSpPr txBox="1"/>
          <p:nvPr/>
        </p:nvSpPr>
        <p:spPr>
          <a:xfrm>
            <a:off x="548640" y="256032"/>
            <a:ext cx="11155680" cy="553998"/>
          </a:xfrm>
          <a:prstGeom prst="rect">
            <a:avLst/>
          </a:prstGeom>
          <a:noFill/>
        </p:spPr>
        <p:txBody>
          <a:bodyPr wrap="square" lIns="0" tIns="0" rIns="0" bIns="0" anchor="t">
            <a:spAutoFit/>
          </a:bodyPr>
          <a:lstStyle/>
          <a:p>
            <a:pPr algn="l">
              <a:lnSpc>
                <a:spcPct val="100000"/>
              </a:lnSpc>
            </a:pPr>
            <a:r>
              <a:rPr sz="3600" b="1" i="0" dirty="0">
                <a:solidFill>
                  <a:srgbClr val="000000"/>
                </a:solidFill>
                <a:latin typeface="Cambria"/>
              </a:rPr>
              <a:t>Appendix — </a:t>
            </a:r>
            <a:r>
              <a:rPr lang="en-US" sz="3600" b="1" i="0" noProof="1">
                <a:solidFill>
                  <a:srgbClr val="000000"/>
                </a:solidFill>
                <a:latin typeface="Cambria"/>
              </a:rPr>
              <a:t>Additional Specifications Explored</a:t>
            </a:r>
            <a:endParaRPr sz="3600" b="1" i="0" dirty="0">
              <a:solidFill>
                <a:srgbClr val="000000"/>
              </a:solidFill>
              <a:latin typeface="Cambria"/>
            </a:endParaRPr>
          </a:p>
        </p:txBody>
      </p:sp>
    </p:spTree>
    <p:extLst>
      <p:ext uri="{BB962C8B-B14F-4D97-AF65-F5344CB8AC3E}">
        <p14:creationId xmlns:p14="http://schemas.microsoft.com/office/powerpoint/2010/main" val="36941087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5A968-2682-2057-A2FB-4D0B9CC3A10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E8375DB-6EE1-0823-0ED7-6CE75E82953A}"/>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BEAC3A8D-A6BC-9CC1-9202-DCB2F24FD930}"/>
              </a:ext>
            </a:extLst>
          </p:cNvPr>
          <p:cNvSpPr txBox="1"/>
          <p:nvPr/>
        </p:nvSpPr>
        <p:spPr>
          <a:xfrm>
            <a:off x="548640" y="1828800"/>
            <a:ext cx="11064240" cy="275140"/>
          </a:xfrm>
          <a:prstGeom prst="rect">
            <a:avLst/>
          </a:prstGeom>
          <a:noFill/>
        </p:spPr>
        <p:txBody>
          <a:bodyPr wrap="square" lIns="0" tIns="0" rIns="0" bIns="0" anchor="t">
            <a:spAutoFit/>
          </a:bodyPr>
          <a:lstStyle/>
          <a:p>
            <a:pPr algn="ctr">
              <a:lnSpc>
                <a:spcPct val="115000"/>
              </a:lnSpc>
            </a:pPr>
            <a:r>
              <a:rPr sz="1700" b="0" i="1" dirty="0">
                <a:solidFill>
                  <a:srgbClr val="000000"/>
                </a:solidFill>
                <a:latin typeface="Cambria"/>
              </a:rPr>
              <a:t>log(remittances)ₘₜ = β₀ + β₁ · postₜ × </a:t>
            </a:r>
            <a:r>
              <a:rPr lang="es-ES" sz="1700" i="1" dirty="0">
                <a:solidFill>
                  <a:srgbClr val="000000"/>
                </a:solidFill>
                <a:latin typeface="Cambria"/>
              </a:rPr>
              <a:t>Spanish Presence</a:t>
            </a:r>
            <a:r>
              <a:rPr sz="1700" b="0" i="1" dirty="0">
                <a:solidFill>
                  <a:srgbClr val="000000"/>
                </a:solidFill>
                <a:latin typeface="Cambria"/>
              </a:rPr>
              <a:t>ₘ + </a:t>
            </a:r>
            <a:r>
              <a:rPr sz="1700" b="0" i="1" dirty="0" err="1">
                <a:solidFill>
                  <a:srgbClr val="000000"/>
                </a:solidFill>
                <a:latin typeface="Cambria"/>
              </a:rPr>
              <a:t>γ</a:t>
            </a:r>
            <a:r>
              <a:rPr sz="1700" b="0" i="1" dirty="0">
                <a:solidFill>
                  <a:srgbClr val="000000"/>
                </a:solidFill>
                <a:latin typeface="Cambria"/>
              </a:rPr>
              <a:t>ₜ + </a:t>
            </a:r>
            <a:r>
              <a:rPr sz="1700" b="0" i="1" dirty="0" err="1">
                <a:solidFill>
                  <a:srgbClr val="000000"/>
                </a:solidFill>
                <a:latin typeface="Cambria"/>
              </a:rPr>
              <a:t>δ</a:t>
            </a:r>
            <a:r>
              <a:rPr sz="1700" b="0" i="1" dirty="0">
                <a:solidFill>
                  <a:srgbClr val="000000"/>
                </a:solidFill>
                <a:latin typeface="Cambria"/>
              </a:rPr>
              <a:t>ₘ + </a:t>
            </a:r>
            <a:r>
              <a:rPr sz="1700" b="0" i="1" dirty="0" err="1">
                <a:solidFill>
                  <a:srgbClr val="000000"/>
                </a:solidFill>
                <a:latin typeface="Cambria"/>
              </a:rPr>
              <a:t>θ</a:t>
            </a:r>
            <a:r>
              <a:rPr sz="1700" b="0" i="1" dirty="0">
                <a:solidFill>
                  <a:srgbClr val="000000"/>
                </a:solidFill>
                <a:latin typeface="Cambria"/>
              </a:rPr>
              <a:t>ₜ · </a:t>
            </a:r>
            <a:r>
              <a:rPr sz="1700" b="0" i="1" dirty="0" err="1">
                <a:solidFill>
                  <a:srgbClr val="000000"/>
                </a:solidFill>
                <a:latin typeface="Cambria"/>
              </a:rPr>
              <a:t>USmig</a:t>
            </a:r>
            <a:r>
              <a:rPr sz="1700" b="0" i="1" dirty="0">
                <a:solidFill>
                  <a:srgbClr val="000000"/>
                </a:solidFill>
                <a:latin typeface="Cambria"/>
              </a:rPr>
              <a:t>₂</a:t>
            </a:r>
            <a:r>
              <a:rPr lang="es-AR" sz="1700" i="1" dirty="0">
                <a:solidFill>
                  <a:srgbClr val="000000"/>
                </a:solidFill>
                <a:latin typeface="Cambria"/>
              </a:rPr>
              <a:t>₀₀</a:t>
            </a:r>
            <a:r>
              <a:rPr sz="1700" b="0" i="1" dirty="0">
                <a:solidFill>
                  <a:srgbClr val="000000"/>
                </a:solidFill>
                <a:latin typeface="Cambria"/>
              </a:rPr>
              <a:t>₀,ₘ + uₘₜ</a:t>
            </a:r>
          </a:p>
        </p:txBody>
      </p:sp>
      <p:sp>
        <p:nvSpPr>
          <p:cNvPr id="7" name="TextBox 6">
            <a:extLst>
              <a:ext uri="{FF2B5EF4-FFF2-40B4-BE49-F238E27FC236}">
                <a16:creationId xmlns:a16="http://schemas.microsoft.com/office/drawing/2014/main" id="{1D380F35-5112-6630-08AA-630B795C385B}"/>
              </a:ext>
            </a:extLst>
          </p:cNvPr>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24 / 31</a:t>
            </a:r>
          </a:p>
        </p:txBody>
      </p:sp>
      <p:pic>
        <p:nvPicPr>
          <p:cNvPr id="8" name="Imagen 7">
            <a:extLst>
              <a:ext uri="{FF2B5EF4-FFF2-40B4-BE49-F238E27FC236}">
                <a16:creationId xmlns:a16="http://schemas.microsoft.com/office/drawing/2014/main" id="{1B9C0BDD-84A4-DADD-B7C3-ACF8DE7DA438}"/>
              </a:ext>
            </a:extLst>
          </p:cNvPr>
          <p:cNvPicPr>
            <a:picLocks noChangeAspect="1"/>
          </p:cNvPicPr>
          <p:nvPr/>
        </p:nvPicPr>
        <p:blipFill>
          <a:blip r:embed="rId3"/>
          <a:stretch>
            <a:fillRect/>
          </a:stretch>
        </p:blipFill>
        <p:spPr>
          <a:xfrm>
            <a:off x="3288000" y="2286000"/>
            <a:ext cx="5616000" cy="3888000"/>
          </a:xfrm>
          <a:prstGeom prst="rect">
            <a:avLst/>
          </a:prstGeom>
        </p:spPr>
      </p:pic>
      <p:sp>
        <p:nvSpPr>
          <p:cNvPr id="10" name="TextBox 3">
            <a:extLst>
              <a:ext uri="{FF2B5EF4-FFF2-40B4-BE49-F238E27FC236}">
                <a16:creationId xmlns:a16="http://schemas.microsoft.com/office/drawing/2014/main" id="{47A0E40D-1B82-995E-C04D-1CBFB26B3E39}"/>
              </a:ext>
            </a:extLst>
          </p:cNvPr>
          <p:cNvSpPr txBox="1"/>
          <p:nvPr/>
        </p:nvSpPr>
        <p:spPr>
          <a:xfrm>
            <a:off x="594360" y="1325880"/>
            <a:ext cx="10972800" cy="292388"/>
          </a:xfrm>
          <a:prstGeom prst="rect">
            <a:avLst/>
          </a:prstGeom>
          <a:noFill/>
        </p:spPr>
        <p:txBody>
          <a:bodyPr wrap="square" lIns="0" tIns="0" rIns="0" bIns="0" anchor="t">
            <a:spAutoFit/>
          </a:bodyPr>
          <a:lstStyle/>
          <a:p>
            <a:r>
              <a:rPr lang="en-US" sz="1900" b="1" i="0" noProof="1">
                <a:solidFill>
                  <a:srgbClr val="000000"/>
                </a:solidFill>
                <a:latin typeface="Cambria"/>
              </a:rPr>
              <a:t>Differential Time Trends by U.S Migration (2000), </a:t>
            </a:r>
            <a:r>
              <a:rPr lang="en-US" sz="1900" b="1" noProof="1">
                <a:latin typeface="Cambria" panose="02040503050406030204" pitchFamily="18" charset="0"/>
              </a:rPr>
              <a:t>Exposure Based on a Spanish Presence Dummy</a:t>
            </a:r>
            <a:endParaRPr lang="en-US" sz="1900" noProof="1">
              <a:latin typeface="Cambria" panose="02040503050406030204" pitchFamily="18" charset="0"/>
            </a:endParaRPr>
          </a:p>
        </p:txBody>
      </p:sp>
      <p:sp>
        <p:nvSpPr>
          <p:cNvPr id="11" name="TextBox 1">
            <a:extLst>
              <a:ext uri="{FF2B5EF4-FFF2-40B4-BE49-F238E27FC236}">
                <a16:creationId xmlns:a16="http://schemas.microsoft.com/office/drawing/2014/main" id="{F354DBD4-F956-CE3D-347F-4ADA2CB4FE2C}"/>
              </a:ext>
            </a:extLst>
          </p:cNvPr>
          <p:cNvSpPr txBox="1"/>
          <p:nvPr/>
        </p:nvSpPr>
        <p:spPr>
          <a:xfrm>
            <a:off x="548640" y="256032"/>
            <a:ext cx="11155680" cy="553998"/>
          </a:xfrm>
          <a:prstGeom prst="rect">
            <a:avLst/>
          </a:prstGeom>
          <a:noFill/>
        </p:spPr>
        <p:txBody>
          <a:bodyPr wrap="square" lIns="0" tIns="0" rIns="0" bIns="0" anchor="t">
            <a:spAutoFit/>
          </a:bodyPr>
          <a:lstStyle/>
          <a:p>
            <a:pPr algn="l">
              <a:lnSpc>
                <a:spcPct val="100000"/>
              </a:lnSpc>
            </a:pPr>
            <a:r>
              <a:rPr sz="3600" b="1" i="0" dirty="0">
                <a:solidFill>
                  <a:srgbClr val="000000"/>
                </a:solidFill>
                <a:latin typeface="Cambria"/>
              </a:rPr>
              <a:t>Appendix — </a:t>
            </a:r>
            <a:r>
              <a:rPr lang="en-US" sz="3600" b="1" i="0" noProof="1">
                <a:solidFill>
                  <a:srgbClr val="000000"/>
                </a:solidFill>
                <a:latin typeface="Cambria"/>
              </a:rPr>
              <a:t>Additional Specifications Explored</a:t>
            </a:r>
            <a:endParaRPr sz="3600" b="1" i="0" dirty="0">
              <a:solidFill>
                <a:srgbClr val="000000"/>
              </a:solidFill>
              <a:latin typeface="Cambria"/>
            </a:endParaRPr>
          </a:p>
        </p:txBody>
      </p:sp>
    </p:spTree>
    <p:extLst>
      <p:ext uri="{BB962C8B-B14F-4D97-AF65-F5344CB8AC3E}">
        <p14:creationId xmlns:p14="http://schemas.microsoft.com/office/powerpoint/2010/main" val="38532512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dirty="0">
                <a:solidFill>
                  <a:srgbClr val="000000"/>
                </a:solidFill>
                <a:latin typeface="Cambria"/>
              </a:rPr>
              <a:t>Appendix — Merging Sources by INEGI Code</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91640"/>
            <a:ext cx="10972800" cy="4001545"/>
          </a:xfrm>
          <a:prstGeom prst="rect">
            <a:avLst/>
          </a:prstGeom>
          <a:noFill/>
        </p:spPr>
        <p:txBody>
          <a:bodyPr wrap="square" lIns="0" tIns="0" rIns="0" bIns="0">
            <a:spAutoFit/>
          </a:bodyPr>
          <a:lstStyle/>
          <a:p>
            <a:pPr marL="320040" indent="-228600" algn="l">
              <a:lnSpc>
                <a:spcPct val="115000"/>
              </a:lnSpc>
              <a:buFont typeface="Arial"/>
              <a:buChar char="•"/>
            </a:pPr>
            <a:r>
              <a:rPr sz="1500" b="1" dirty="0">
                <a:solidFill>
                  <a:srgbClr val="000000"/>
                </a:solidFill>
                <a:latin typeface="Cambria"/>
              </a:rPr>
              <a:t>Problem. </a:t>
            </a:r>
            <a:r>
              <a:rPr sz="1500" dirty="0">
                <a:solidFill>
                  <a:srgbClr val="000000"/>
                </a:solidFill>
                <a:latin typeface="Cambria"/>
              </a:rPr>
              <a:t>INEGI municipality codes change across census rounds and across </a:t>
            </a:r>
            <a:r>
              <a:rPr lang="en-US" sz="1500" noProof="1">
                <a:solidFill>
                  <a:srgbClr val="000000"/>
                </a:solidFill>
                <a:latin typeface="Cambria"/>
              </a:rPr>
              <a:t>other data sources</a:t>
            </a:r>
            <a:r>
              <a:rPr sz="1500" dirty="0">
                <a:solidFill>
                  <a:srgbClr val="000000"/>
                </a:solidFill>
                <a:latin typeface="Cambria"/>
              </a:rPr>
              <a:t>; municipality names also vary (accents, abbreviations, multi-municipality aggregates).</a:t>
            </a:r>
          </a:p>
          <a:p>
            <a:pPr marL="320040" indent="-228600" algn="l">
              <a:lnSpc>
                <a:spcPct val="115000"/>
              </a:lnSpc>
              <a:buFont typeface="Arial"/>
              <a:buChar char="•"/>
            </a:pPr>
            <a:r>
              <a:rPr sz="1500" b="1" dirty="0">
                <a:solidFill>
                  <a:srgbClr val="000000"/>
                </a:solidFill>
                <a:latin typeface="Cambria"/>
              </a:rPr>
              <a:t>Reference universe. </a:t>
            </a:r>
            <a:r>
              <a:rPr sz="1500" dirty="0">
                <a:solidFill>
                  <a:srgbClr val="000000"/>
                </a:solidFill>
                <a:latin typeface="Cambria"/>
              </a:rPr>
              <a:t>We use the IPUMS-standardized INEGI from the 1960 and 1970 censuses as the base panel of municipalities; this gives a consistent code-to-municipality mapping for the historical exposure variables.</a:t>
            </a:r>
          </a:p>
          <a:p>
            <a:pPr marL="320040" indent="-228600" algn="l">
              <a:lnSpc>
                <a:spcPct val="115000"/>
              </a:lnSpc>
              <a:buFont typeface="Arial"/>
              <a:buChar char="•"/>
            </a:pPr>
            <a:r>
              <a:rPr lang="es-AR" sz="1500" b="1" dirty="0">
                <a:solidFill>
                  <a:srgbClr val="000000"/>
                </a:solidFill>
                <a:latin typeface="Cambria"/>
              </a:rPr>
              <a:t>Other </a:t>
            </a:r>
            <a:r>
              <a:rPr lang="en-US" sz="1500" b="1" noProof="1">
                <a:solidFill>
                  <a:srgbClr val="000000"/>
                </a:solidFill>
                <a:latin typeface="Cambria"/>
              </a:rPr>
              <a:t>sources</a:t>
            </a:r>
            <a:r>
              <a:rPr sz="1500" dirty="0">
                <a:solidFill>
                  <a:srgbClr val="000000"/>
                </a:solidFill>
                <a:latin typeface="Cambria"/>
              </a:rPr>
              <a:t> (remittances, marginalization index, 2020 population). For each source we apply the same procedure (illustrated below with remittances):</a:t>
            </a:r>
          </a:p>
          <a:p>
            <a:pPr marL="640080" indent="-228600" algn="l">
              <a:lnSpc>
                <a:spcPct val="115000"/>
              </a:lnSpc>
              <a:spcBef>
                <a:spcPts val="800"/>
              </a:spcBef>
              <a:buFont typeface="Arial"/>
              <a:buChar char="•"/>
            </a:pPr>
            <a:r>
              <a:rPr sz="1500" b="0" i="0" dirty="0">
                <a:solidFill>
                  <a:srgbClr val="000000"/>
                </a:solidFill>
                <a:latin typeface="Cambria"/>
              </a:rPr>
              <a:t>Full join with the reference panel by INEGI code; classify each row as exact match, name-contained, census aggregation (comma-separated label), close, mismatch, only-rem</a:t>
            </a:r>
            <a:r>
              <a:rPr lang="en-US" sz="1500" b="0" i="0" noProof="1">
                <a:solidFill>
                  <a:srgbClr val="000000"/>
                </a:solidFill>
                <a:latin typeface="Cambria"/>
              </a:rPr>
              <a:t>ittances</a:t>
            </a:r>
            <a:r>
              <a:rPr sz="1500" b="0" i="0" dirty="0">
                <a:solidFill>
                  <a:srgbClr val="000000"/>
                </a:solidFill>
                <a:latin typeface="Cambria"/>
              </a:rPr>
              <a:t>, or only-censo.</a:t>
            </a:r>
          </a:p>
          <a:p>
            <a:pPr marL="640080" indent="-228600" algn="l">
              <a:lnSpc>
                <a:spcPct val="115000"/>
              </a:lnSpc>
              <a:spcBef>
                <a:spcPts val="800"/>
              </a:spcBef>
              <a:buFont typeface="Arial"/>
              <a:buChar char="•"/>
            </a:pPr>
            <a:r>
              <a:rPr sz="1500" b="0" i="0" dirty="0">
                <a:solidFill>
                  <a:srgbClr val="000000"/>
                </a:solidFill>
                <a:latin typeface="Cambria"/>
              </a:rPr>
              <a:t>Resolve mismatches via state-restricted crosswalks: search each unmatched name within (A) the opposite mismatch list, (B) census aggregations, (C) only-censo candidates, and (D) close matches.</a:t>
            </a:r>
          </a:p>
          <a:p>
            <a:pPr marL="640080" indent="-228600" algn="l">
              <a:lnSpc>
                <a:spcPct val="115000"/>
              </a:lnSpc>
              <a:spcBef>
                <a:spcPts val="800"/>
              </a:spcBef>
              <a:buFont typeface="Arial"/>
              <a:buChar char="•"/>
            </a:pPr>
            <a:r>
              <a:rPr sz="1500" b="0" i="0" dirty="0">
                <a:solidFill>
                  <a:srgbClr val="000000"/>
                </a:solidFill>
                <a:latin typeface="Cambria"/>
              </a:rPr>
              <a:t>Manually fix a small residual (≈ 4 records with truncated names) and remove duplicates that arise when one name is contained in another (e.g. “MORELOS” vs “GRAN MORELOS”).</a:t>
            </a:r>
          </a:p>
          <a:p>
            <a:pPr marL="320040" indent="-228600" algn="l">
              <a:lnSpc>
                <a:spcPct val="115000"/>
              </a:lnSpc>
              <a:buFont typeface="Arial"/>
              <a:buChar char="•"/>
            </a:pPr>
            <a:r>
              <a:rPr sz="1500" b="1" dirty="0">
                <a:solidFill>
                  <a:srgbClr val="000000"/>
                </a:solidFill>
                <a:latin typeface="Cambria"/>
              </a:rPr>
              <a:t>Outcome</a:t>
            </a:r>
            <a:r>
              <a:rPr sz="1500" dirty="0">
                <a:solidFill>
                  <a:srgbClr val="000000"/>
                </a:solidFill>
                <a:latin typeface="Cambria"/>
              </a:rPr>
              <a:t> (</a:t>
            </a:r>
            <a:r>
              <a:rPr lang="en-US" sz="1500" dirty="0">
                <a:solidFill>
                  <a:srgbClr val="000000"/>
                </a:solidFill>
                <a:latin typeface="Cambria"/>
              </a:rPr>
              <a:t>remittances example). Out of ≈ 1,030 </a:t>
            </a:r>
            <a:r>
              <a:rPr lang="en-US" sz="1500" dirty="0" err="1">
                <a:solidFill>
                  <a:srgbClr val="000000"/>
                </a:solidFill>
                <a:latin typeface="Cambria"/>
              </a:rPr>
              <a:t>inegis</a:t>
            </a:r>
            <a:r>
              <a:rPr lang="en-US" sz="1500" dirty="0">
                <a:solidFill>
                  <a:srgbClr val="000000"/>
                </a:solidFill>
                <a:latin typeface="Cambria"/>
              </a:rPr>
              <a:t> needing reassignment, the crosswalks recover the vast majority; the rest are corrected by hand. The same logic was applied to the </a:t>
            </a:r>
            <a:r>
              <a:rPr lang="en-US" sz="1500" noProof="1">
                <a:solidFill>
                  <a:srgbClr val="000000"/>
                </a:solidFill>
                <a:latin typeface="Cambria"/>
              </a:rPr>
              <a:t>migration data, the m</a:t>
            </a:r>
            <a:r>
              <a:rPr lang="en-US" sz="1500" dirty="0" err="1">
                <a:solidFill>
                  <a:srgbClr val="000000"/>
                </a:solidFill>
                <a:latin typeface="Cambria"/>
              </a:rPr>
              <a:t>arginalization</a:t>
            </a:r>
            <a:r>
              <a:rPr lang="en-US" sz="1500" dirty="0">
                <a:solidFill>
                  <a:srgbClr val="000000"/>
                </a:solidFill>
                <a:latin typeface="Cambria"/>
              </a:rPr>
              <a:t> index and the 2020 population data.</a:t>
            </a:r>
            <a:endParaRPr sz="1500" dirty="0">
              <a:solidFill>
                <a:srgbClr val="000000"/>
              </a:solidFill>
              <a:latin typeface="Cambria"/>
            </a:endParaRP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26 / 31</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67B47-763B-D2C5-0569-67BE18CAAF91}"/>
            </a:ext>
          </a:extLst>
        </p:cNvPr>
        <p:cNvGrpSpPr/>
        <p:nvPr/>
      </p:nvGrpSpPr>
      <p:grpSpPr>
        <a:xfrm>
          <a:off x="0" y="0"/>
          <a:ext cx="0" cy="0"/>
          <a:chOff x="0" y="0"/>
          <a:chExt cx="0" cy="0"/>
        </a:xfrm>
      </p:grpSpPr>
      <p:pic>
        <p:nvPicPr>
          <p:cNvPr id="2" name="Imagen 1" descr="Gráfico, Histograma&#10;&#10;El contenido generado por IA puede ser incorrecto.">
            <a:extLst>
              <a:ext uri="{FF2B5EF4-FFF2-40B4-BE49-F238E27FC236}">
                <a16:creationId xmlns:a16="http://schemas.microsoft.com/office/drawing/2014/main" id="{895A3D3C-0203-C049-2CED-3106CA691EC5}"/>
              </a:ext>
            </a:extLst>
          </p:cNvPr>
          <p:cNvPicPr>
            <a:picLocks noChangeAspect="1"/>
          </p:cNvPicPr>
          <p:nvPr/>
        </p:nvPicPr>
        <p:blipFill>
          <a:blip r:embed="rId2"/>
          <a:stretch>
            <a:fillRect/>
          </a:stretch>
        </p:blipFill>
        <p:spPr>
          <a:xfrm>
            <a:off x="4997450" y="1473200"/>
            <a:ext cx="7219950" cy="5384800"/>
          </a:xfrm>
          <a:prstGeom prst="rect">
            <a:avLst/>
          </a:prstGeom>
        </p:spPr>
      </p:pic>
      <p:graphicFrame>
        <p:nvGraphicFramePr>
          <p:cNvPr id="3" name="Tabla 2">
            <a:extLst>
              <a:ext uri="{FF2B5EF4-FFF2-40B4-BE49-F238E27FC236}">
                <a16:creationId xmlns:a16="http://schemas.microsoft.com/office/drawing/2014/main" id="{DD071D58-F15C-8188-9FE1-C5C736E02FA1}"/>
              </a:ext>
            </a:extLst>
          </p:cNvPr>
          <p:cNvGraphicFramePr>
            <a:graphicFrameLocks noGrp="1"/>
          </p:cNvGraphicFramePr>
          <p:nvPr>
            <p:extLst>
              <p:ext uri="{D42A27DB-BD31-4B8C-83A1-F6EECF244321}">
                <p14:modId xmlns:p14="http://schemas.microsoft.com/office/powerpoint/2010/main" val="2399207185"/>
              </p:ext>
            </p:extLst>
          </p:nvPr>
        </p:nvGraphicFramePr>
        <p:xfrm>
          <a:off x="162046" y="2900426"/>
          <a:ext cx="4776836" cy="2067559"/>
        </p:xfrm>
        <a:graphic>
          <a:graphicData uri="http://schemas.openxmlformats.org/drawingml/2006/table">
            <a:tbl>
              <a:tblPr firstRow="1" bandRow="1">
                <a:tableStyleId>{2D5ABB26-0587-4C30-8999-92F81FD0307C}</a:tableStyleId>
              </a:tblPr>
              <a:tblGrid>
                <a:gridCol w="2074024">
                  <a:extLst>
                    <a:ext uri="{9D8B030D-6E8A-4147-A177-3AD203B41FA5}">
                      <a16:colId xmlns:a16="http://schemas.microsoft.com/office/drawing/2014/main" val="679312641"/>
                    </a:ext>
                  </a:extLst>
                </a:gridCol>
                <a:gridCol w="1176679">
                  <a:extLst>
                    <a:ext uri="{9D8B030D-6E8A-4147-A177-3AD203B41FA5}">
                      <a16:colId xmlns:a16="http://schemas.microsoft.com/office/drawing/2014/main" val="742269417"/>
                    </a:ext>
                  </a:extLst>
                </a:gridCol>
                <a:gridCol w="1526133">
                  <a:extLst>
                    <a:ext uri="{9D8B030D-6E8A-4147-A177-3AD203B41FA5}">
                      <a16:colId xmlns:a16="http://schemas.microsoft.com/office/drawing/2014/main" val="1297390671"/>
                    </a:ext>
                  </a:extLst>
                </a:gridCol>
              </a:tblGrid>
              <a:tr h="370839">
                <a:tc>
                  <a:txBody>
                    <a:bodyPr/>
                    <a:lstStyle/>
                    <a:p>
                      <a:pPr lvl="0" algn="ctr">
                        <a:buNone/>
                      </a:pPr>
                      <a:endParaRPr lang="es-ES" sz="1500" dirty="0">
                        <a:latin typeface="Cambria" panose="02040503050406030204" pitchFamily="18" charset="0"/>
                        <a:cs typeface="Times New Roman"/>
                      </a:endParaRPr>
                    </a:p>
                  </a:txBody>
                  <a:tcPr anchor="ctr">
                    <a:lnB w="12700">
                      <a:solidFill>
                        <a:schemeClr val="tx1"/>
                      </a:solidFill>
                    </a:lnB>
                  </a:tcPr>
                </a:tc>
                <a:tc gridSpan="2">
                  <a:txBody>
                    <a:bodyPr/>
                    <a:lstStyle/>
                    <a:p>
                      <a:pPr marL="0" lvl="0" indent="0" algn="ctr">
                        <a:buNone/>
                      </a:pPr>
                      <a:r>
                        <a:rPr lang="en-US" sz="1500" b="1" noProof="0" dirty="0">
                          <a:latin typeface="Cambria" panose="02040503050406030204" pitchFamily="18" charset="0"/>
                          <a:cs typeface="Times New Roman"/>
                        </a:rPr>
                        <a:t>Observations</a:t>
                      </a:r>
                      <a:endParaRPr lang="en-US" sz="1500" noProof="0" dirty="0">
                        <a:latin typeface="Cambria" panose="02040503050406030204" pitchFamily="18" charset="0"/>
                      </a:endParaRPr>
                    </a:p>
                  </a:txBody>
                  <a:tcPr anchor="ctr">
                    <a:lnB w="12700">
                      <a:solidFill>
                        <a:schemeClr val="tx1"/>
                      </a:solidFill>
                    </a:lnB>
                  </a:tcPr>
                </a:tc>
                <a:tc hMerge="1">
                  <a:txBody>
                    <a:bodyPr/>
                    <a:lstStyle/>
                    <a:p>
                      <a:endParaRPr lang="es-ES"/>
                    </a:p>
                  </a:txBody>
                  <a:tcPr anchor="ctr">
                    <a:lnB w="12700">
                      <a:solidFill>
                        <a:schemeClr val="tx1"/>
                      </a:solidFill>
                    </a:lnB>
                  </a:tcPr>
                </a:tc>
                <a:extLst>
                  <a:ext uri="{0D108BD9-81ED-4DB2-BD59-A6C34878D82A}">
                    <a16:rowId xmlns:a16="http://schemas.microsoft.com/office/drawing/2014/main" val="264922899"/>
                  </a:ext>
                </a:extLst>
              </a:tr>
              <a:tr h="370840">
                <a:tc>
                  <a:txBody>
                    <a:bodyPr/>
                    <a:lstStyle/>
                    <a:p>
                      <a:pPr algn="ctr"/>
                      <a:endParaRPr lang="es-ES" sz="1500" dirty="0">
                        <a:latin typeface="Cambria" panose="02040503050406030204" pitchFamily="18" charset="0"/>
                        <a:cs typeface="Times New Roman"/>
                      </a:endParaRPr>
                    </a:p>
                  </a:txBody>
                  <a:tcPr anchor="ctr">
                    <a:lnT w="12700">
                      <a:solidFill>
                        <a:schemeClr val="tx1"/>
                      </a:solidFill>
                    </a:lnT>
                    <a:lnB w="12700">
                      <a:solidFill>
                        <a:schemeClr val="tx1"/>
                      </a:solidFill>
                    </a:lnB>
                  </a:tcPr>
                </a:tc>
                <a:tc>
                  <a:txBody>
                    <a:bodyPr/>
                    <a:lstStyle/>
                    <a:p>
                      <a:pPr marL="0" indent="0" algn="ctr">
                        <a:buNone/>
                      </a:pPr>
                      <a:r>
                        <a:rPr lang="en-US" sz="1500" b="1" noProof="0" dirty="0">
                          <a:latin typeface="Cambria" panose="02040503050406030204" pitchFamily="18" charset="0"/>
                          <a:cs typeface="Times New Roman"/>
                        </a:rPr>
                        <a:t>Weighted</a:t>
                      </a:r>
                    </a:p>
                  </a:txBody>
                  <a:tcPr anchor="ctr">
                    <a:lnT w="12700">
                      <a:solidFill>
                        <a:schemeClr val="tx1"/>
                      </a:solidFill>
                    </a:lnT>
                    <a:lnB w="12700">
                      <a:solidFill>
                        <a:schemeClr val="tx1"/>
                      </a:solidFill>
                    </a:lnB>
                  </a:tcPr>
                </a:tc>
                <a:tc>
                  <a:txBody>
                    <a:bodyPr/>
                    <a:lstStyle/>
                    <a:p>
                      <a:pPr marL="0" lvl="0" indent="0" algn="ctr">
                        <a:lnSpc>
                          <a:spcPct val="100000"/>
                        </a:lnSpc>
                        <a:buNone/>
                      </a:pPr>
                      <a:r>
                        <a:rPr lang="en-US" sz="1500" b="1" i="0" u="none" strike="noStrike" baseline="0" noProof="0" dirty="0">
                          <a:solidFill>
                            <a:srgbClr val="000000"/>
                          </a:solidFill>
                          <a:latin typeface="Cambria" panose="02040503050406030204" pitchFamily="18" charset="0"/>
                          <a:cs typeface="Times New Roman"/>
                        </a:rPr>
                        <a:t>Unweighted</a:t>
                      </a:r>
                    </a:p>
                  </a:txBody>
                  <a:tcPr anchor="ctr">
                    <a:lnT w="12700">
                      <a:solidFill>
                        <a:schemeClr val="tx1"/>
                      </a:solidFill>
                    </a:lnT>
                    <a:lnB w="12700">
                      <a:solidFill>
                        <a:schemeClr val="tx1"/>
                      </a:solidFill>
                    </a:lnB>
                  </a:tcPr>
                </a:tc>
                <a:extLst>
                  <a:ext uri="{0D108BD9-81ED-4DB2-BD59-A6C34878D82A}">
                    <a16:rowId xmlns:a16="http://schemas.microsoft.com/office/drawing/2014/main" val="534500408"/>
                  </a:ext>
                </a:extLst>
              </a:tr>
              <a:tr h="370840">
                <a:tc>
                  <a:txBody>
                    <a:bodyPr/>
                    <a:lstStyle/>
                    <a:p>
                      <a:pPr algn="ctr"/>
                      <a:r>
                        <a:rPr lang="en-US" sz="1500" noProof="0" dirty="0">
                          <a:latin typeface="Cambria" panose="02040503050406030204" pitchFamily="18" charset="0"/>
                          <a:cs typeface="Times New Roman"/>
                        </a:rPr>
                        <a:t>Spanish born population</a:t>
                      </a:r>
                    </a:p>
                  </a:txBody>
                  <a:tcPr anchor="ctr">
                    <a:lnT w="12700">
                      <a:solidFill>
                        <a:schemeClr val="tx1"/>
                      </a:solidFill>
                    </a:lnT>
                  </a:tcPr>
                </a:tc>
                <a:tc>
                  <a:txBody>
                    <a:bodyPr/>
                    <a:lstStyle/>
                    <a:p>
                      <a:pPr lvl="0" algn="ctr">
                        <a:buNone/>
                      </a:pPr>
                      <a:r>
                        <a:rPr lang="en-US" sz="1500" b="0" i="0" u="none" strike="noStrike" baseline="0" noProof="0" dirty="0">
                          <a:solidFill>
                            <a:srgbClr val="000000"/>
                          </a:solidFill>
                          <a:latin typeface="Cambria" panose="02040503050406030204" pitchFamily="18" charset="0"/>
                          <a:cs typeface="Times New Roman"/>
                        </a:rPr>
                        <a:t>58,800</a:t>
                      </a:r>
                      <a:endParaRPr lang="en-US" sz="1500" noProof="0" dirty="0">
                        <a:latin typeface="Cambria" panose="02040503050406030204" pitchFamily="18" charset="0"/>
                      </a:endParaRPr>
                    </a:p>
                  </a:txBody>
                  <a:tcPr anchor="ctr">
                    <a:lnT w="12700">
                      <a:solidFill>
                        <a:schemeClr val="tx1"/>
                      </a:solidFill>
                    </a:lnT>
                  </a:tcPr>
                </a:tc>
                <a:tc>
                  <a:txBody>
                    <a:bodyPr/>
                    <a:lstStyle/>
                    <a:p>
                      <a:pPr lvl="0" algn="ctr">
                        <a:buNone/>
                      </a:pPr>
                      <a:r>
                        <a:rPr lang="en-US" sz="1500" b="0" i="0" u="none" strike="noStrike" baseline="0" noProof="0" dirty="0">
                          <a:solidFill>
                            <a:srgbClr val="000000"/>
                          </a:solidFill>
                          <a:latin typeface="Cambria" panose="02040503050406030204" pitchFamily="18" charset="0"/>
                          <a:cs typeface="Times New Roman"/>
                        </a:rPr>
                        <a:t>720</a:t>
                      </a:r>
                      <a:endParaRPr lang="es-ES" sz="1500" dirty="0">
                        <a:latin typeface="Cambria" panose="02040503050406030204" pitchFamily="18" charset="0"/>
                      </a:endParaRPr>
                    </a:p>
                  </a:txBody>
                  <a:tcPr anchor="ctr">
                    <a:lnT w="12700">
                      <a:solidFill>
                        <a:schemeClr val="tx1"/>
                      </a:solidFill>
                    </a:lnT>
                  </a:tcPr>
                </a:tc>
                <a:extLst>
                  <a:ext uri="{0D108BD9-81ED-4DB2-BD59-A6C34878D82A}">
                    <a16:rowId xmlns:a16="http://schemas.microsoft.com/office/drawing/2014/main" val="2859761983"/>
                  </a:ext>
                </a:extLst>
              </a:tr>
              <a:tr h="370840">
                <a:tc>
                  <a:txBody>
                    <a:bodyPr/>
                    <a:lstStyle/>
                    <a:p>
                      <a:pPr marL="0" lvl="0" indent="0" algn="ctr">
                        <a:lnSpc>
                          <a:spcPct val="100000"/>
                        </a:lnSpc>
                        <a:buNone/>
                      </a:pPr>
                      <a:r>
                        <a:rPr lang="en-US" sz="1500" b="0" i="0" u="none" strike="noStrike" baseline="0" noProof="0" dirty="0">
                          <a:solidFill>
                            <a:srgbClr val="000000"/>
                          </a:solidFill>
                          <a:latin typeface="Cambria" panose="02040503050406030204" pitchFamily="18" charset="0"/>
                          <a:cs typeface="Times New Roman"/>
                        </a:rPr>
                        <a:t>Spanish population with identifiable year of arrival</a:t>
                      </a:r>
                      <a:endParaRPr lang="es-ES" sz="1500">
                        <a:latin typeface="Cambria" panose="02040503050406030204" pitchFamily="18" charset="0"/>
                      </a:endParaRPr>
                    </a:p>
                  </a:txBody>
                  <a:tcPr anchor="ctr"/>
                </a:tc>
                <a:tc>
                  <a:txBody>
                    <a:bodyPr/>
                    <a:lstStyle/>
                    <a:p>
                      <a:pPr lvl="0" algn="ctr">
                        <a:buNone/>
                      </a:pPr>
                      <a:r>
                        <a:rPr lang="en-US" sz="1500" b="0" i="0" u="none" strike="noStrike" baseline="0" noProof="0" dirty="0">
                          <a:solidFill>
                            <a:srgbClr val="000000"/>
                          </a:solidFill>
                          <a:latin typeface="Cambria" panose="02040503050406030204" pitchFamily="18" charset="0"/>
                          <a:cs typeface="Times New Roman"/>
                        </a:rPr>
                        <a:t>41,163</a:t>
                      </a:r>
                      <a:endParaRPr lang="es-ES" sz="1500" dirty="0">
                        <a:latin typeface="Cambria" panose="02040503050406030204" pitchFamily="18" charset="0"/>
                      </a:endParaRPr>
                    </a:p>
                  </a:txBody>
                  <a:tcPr anchor="ctr"/>
                </a:tc>
                <a:tc>
                  <a:txBody>
                    <a:bodyPr/>
                    <a:lstStyle/>
                    <a:p>
                      <a:pPr lvl="0" algn="ctr">
                        <a:buNone/>
                      </a:pPr>
                      <a:r>
                        <a:rPr lang="en-US" sz="1500" b="0" i="0" u="none" strike="noStrike" baseline="0" noProof="0" dirty="0">
                          <a:solidFill>
                            <a:srgbClr val="000000"/>
                          </a:solidFill>
                          <a:latin typeface="Cambria" panose="02040503050406030204" pitchFamily="18" charset="0"/>
                          <a:cs typeface="Times New Roman"/>
                        </a:rPr>
                        <a:t>507</a:t>
                      </a:r>
                      <a:endParaRPr lang="es-ES" sz="1500" dirty="0">
                        <a:latin typeface="Cambria" panose="02040503050406030204" pitchFamily="18" charset="0"/>
                      </a:endParaRPr>
                    </a:p>
                  </a:txBody>
                  <a:tcPr anchor="ctr"/>
                </a:tc>
                <a:extLst>
                  <a:ext uri="{0D108BD9-81ED-4DB2-BD59-A6C34878D82A}">
                    <a16:rowId xmlns:a16="http://schemas.microsoft.com/office/drawing/2014/main" val="2066431673"/>
                  </a:ext>
                </a:extLst>
              </a:tr>
            </a:tbl>
          </a:graphicData>
        </a:graphic>
      </p:graphicFrame>
      <p:sp>
        <p:nvSpPr>
          <p:cNvPr id="5" name="TextBox 1">
            <a:extLst>
              <a:ext uri="{FF2B5EF4-FFF2-40B4-BE49-F238E27FC236}">
                <a16:creationId xmlns:a16="http://schemas.microsoft.com/office/drawing/2014/main" id="{7CE585D4-B72C-8907-9635-74FA84BCC8FE}"/>
              </a:ext>
            </a:extLst>
          </p:cNvPr>
          <p:cNvSpPr txBox="1"/>
          <p:nvPr/>
        </p:nvSpPr>
        <p:spPr>
          <a:xfrm>
            <a:off x="548640" y="256032"/>
            <a:ext cx="11155680" cy="553998"/>
          </a:xfrm>
          <a:prstGeom prst="rect">
            <a:avLst/>
          </a:prstGeom>
          <a:noFill/>
        </p:spPr>
        <p:txBody>
          <a:bodyPr wrap="square" lIns="0" tIns="0" rIns="0" bIns="0" anchor="t">
            <a:spAutoFit/>
          </a:bodyPr>
          <a:lstStyle/>
          <a:p>
            <a:pPr algn="l">
              <a:lnSpc>
                <a:spcPct val="100000"/>
              </a:lnSpc>
            </a:pPr>
            <a:r>
              <a:rPr lang="en-US" sz="3600" b="1" i="0" noProof="1">
                <a:solidFill>
                  <a:srgbClr val="000000"/>
                </a:solidFill>
                <a:latin typeface="Cambria"/>
              </a:rPr>
              <a:t>Appendix — </a:t>
            </a:r>
            <a:r>
              <a:rPr lang="en-US" sz="3600" b="1" noProof="1">
                <a:solidFill>
                  <a:srgbClr val="000000"/>
                </a:solidFill>
                <a:latin typeface="Cambria"/>
              </a:rPr>
              <a:t>Arribal-to-locality Year Estimation</a:t>
            </a:r>
            <a:endParaRPr lang="en-US" sz="3600" b="1" i="0" noProof="1">
              <a:solidFill>
                <a:srgbClr val="000000"/>
              </a:solidFill>
              <a:latin typeface="Cambria"/>
            </a:endParaRPr>
          </a:p>
        </p:txBody>
      </p:sp>
      <p:sp>
        <p:nvSpPr>
          <p:cNvPr id="6" name="Rectangle 2">
            <a:extLst>
              <a:ext uri="{FF2B5EF4-FFF2-40B4-BE49-F238E27FC236}">
                <a16:creationId xmlns:a16="http://schemas.microsoft.com/office/drawing/2014/main" id="{38DB44B7-F6EC-3395-AB4D-29F4CE1AC3EF}"/>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351056149"/>
      </p:ext>
    </p:extLst>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lang="en-US" sz="3600" b="1" dirty="0">
                <a:solidFill>
                  <a:srgbClr val="000000"/>
                </a:solidFill>
                <a:latin typeface="Cambria"/>
                <a:cs typeface="Cambria"/>
              </a:rPr>
              <a:t>SDID — Trends (sin controles)</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lang="en-US" sz="1000" b="0" dirty="0">
                <a:solidFill>
                  <a:srgbClr val="444444"/>
                </a:solidFill>
                <a:latin typeface="Cambria"/>
                <a:cs typeface="Cambria"/>
              </a:rPr>
              <a:t>23 / 31</a:t>
            </a:r>
          </a:p>
        </p:txBody>
      </p:sp>
      <p:pic>
        <p:nvPicPr>
          <p:cNvPr id="6" name="Picture 5" descr="sdid_pooled_sincontrol_trends2022.png"/>
          <p:cNvPicPr>
            <a:picLocks noChangeAspect="1"/>
          </p:cNvPicPr>
          <p:nvPr/>
        </p:nvPicPr>
        <p:blipFill>
          <a:blip r:embed="rId2"/>
          <a:stretch>
            <a:fillRect/>
          </a:stretch>
        </p:blipFill>
        <p:spPr>
          <a:xfrm>
            <a:off x="380847" y="1417320"/>
            <a:ext cx="3749039" cy="2726574"/>
          </a:xfrm>
          <a:prstGeom prst="rect">
            <a:avLst/>
          </a:prstGeom>
        </p:spPr>
      </p:pic>
      <p:sp>
        <p:nvSpPr>
          <p:cNvPr id="7" name="TextBox 6"/>
          <p:cNvSpPr txBox="1"/>
          <p:nvPr/>
        </p:nvSpPr>
        <p:spPr>
          <a:xfrm>
            <a:off x="380847" y="4189614"/>
            <a:ext cx="3749039" cy="274320"/>
          </a:xfrm>
          <a:prstGeom prst="rect">
            <a:avLst/>
          </a:prstGeom>
          <a:noFill/>
        </p:spPr>
        <p:txBody>
          <a:bodyPr wrap="none">
            <a:spAutoFit/>
          </a:bodyPr>
          <a:lstStyle/>
          <a:p>
            <a:pPr algn="ctr"/>
            <a:r>
              <a:rPr sz="1100" b="1">
                <a:solidFill>
                  <a:srgbClr val="000000"/>
                </a:solidFill>
                <a:latin typeface="Cambria"/>
              </a:rPr>
              <a:t>Pooled</a:t>
            </a:r>
          </a:p>
        </p:txBody>
      </p:sp>
      <p:pic>
        <p:nvPicPr>
          <p:cNvPr id="8" name="Picture 7" descr="sdid_c1_sincontrol_trends2022.png"/>
          <p:cNvPicPr>
            <a:picLocks noChangeAspect="1"/>
          </p:cNvPicPr>
          <p:nvPr/>
        </p:nvPicPr>
        <p:blipFill>
          <a:blip r:embed="rId3"/>
          <a:stretch>
            <a:fillRect/>
          </a:stretch>
        </p:blipFill>
        <p:spPr>
          <a:xfrm>
            <a:off x="4221327" y="1417320"/>
            <a:ext cx="3749039" cy="2726574"/>
          </a:xfrm>
          <a:prstGeom prst="rect">
            <a:avLst/>
          </a:prstGeom>
        </p:spPr>
      </p:pic>
      <p:sp>
        <p:nvSpPr>
          <p:cNvPr id="9" name="TextBox 8"/>
          <p:cNvSpPr txBox="1"/>
          <p:nvPr/>
        </p:nvSpPr>
        <p:spPr>
          <a:xfrm>
            <a:off x="4221327" y="4189614"/>
            <a:ext cx="3749039" cy="274320"/>
          </a:xfrm>
          <a:prstGeom prst="rect">
            <a:avLst/>
          </a:prstGeom>
          <a:noFill/>
        </p:spPr>
        <p:txBody>
          <a:bodyPr wrap="none">
            <a:spAutoFit/>
          </a:bodyPr>
          <a:lstStyle/>
          <a:p>
            <a:pPr algn="ctr"/>
            <a:r>
              <a:rPr sz="1100" b="1">
                <a:solidFill>
                  <a:srgbClr val="000000"/>
                </a:solidFill>
                <a:latin typeface="Cambria"/>
              </a:rPr>
              <a:t>Window 1936–1955</a:t>
            </a:r>
          </a:p>
        </p:txBody>
      </p:sp>
      <p:pic>
        <p:nvPicPr>
          <p:cNvPr id="10" name="Picture 9" descr="sdid_c2_sincontrol_trends2022.png"/>
          <p:cNvPicPr>
            <a:picLocks noChangeAspect="1"/>
          </p:cNvPicPr>
          <p:nvPr/>
        </p:nvPicPr>
        <p:blipFill>
          <a:blip r:embed="rId4"/>
          <a:stretch>
            <a:fillRect/>
          </a:stretch>
        </p:blipFill>
        <p:spPr>
          <a:xfrm>
            <a:off x="8061807" y="1417320"/>
            <a:ext cx="3749039" cy="2726574"/>
          </a:xfrm>
          <a:prstGeom prst="rect">
            <a:avLst/>
          </a:prstGeom>
        </p:spPr>
      </p:pic>
      <p:sp>
        <p:nvSpPr>
          <p:cNvPr id="11" name="TextBox 10"/>
          <p:cNvSpPr txBox="1"/>
          <p:nvPr/>
        </p:nvSpPr>
        <p:spPr>
          <a:xfrm>
            <a:off x="8061807" y="4189614"/>
            <a:ext cx="3749039" cy="274320"/>
          </a:xfrm>
          <a:prstGeom prst="rect">
            <a:avLst/>
          </a:prstGeom>
          <a:noFill/>
        </p:spPr>
        <p:txBody>
          <a:bodyPr wrap="none">
            <a:spAutoFit/>
          </a:bodyPr>
          <a:lstStyle/>
          <a:p>
            <a:pPr algn="ctr"/>
            <a:r>
              <a:rPr sz="1100" b="1">
                <a:solidFill>
                  <a:srgbClr val="000000"/>
                </a:solidFill>
                <a:latin typeface="Cambria"/>
              </a:rPr>
              <a:t>Window 1956–1978</a:t>
            </a:r>
          </a:p>
        </p:txBody>
      </p:sp>
      <p:sp>
        <p:nvSpPr>
          <p:cNvPr id="12" name="TextBox 11"/>
          <p:cNvSpPr txBox="1"/>
          <p:nvPr/>
        </p:nvSpPr>
        <p:spPr>
          <a:xfrm>
            <a:off x="685800" y="4646814"/>
            <a:ext cx="10972800" cy="1371600"/>
          </a:xfrm>
          <a:prstGeom prst="rect">
            <a:avLst/>
          </a:prstGeom>
          <a:noFill/>
        </p:spPr>
        <p:txBody>
          <a:bodyPr wrap="square">
            <a:spAutoFit/>
          </a:bodyPr>
          <a:lstStyle/>
          <a:p>
            <a:pPr lvl="0" indent="-228600" marL="228600">
              <a:buChar char="•"/>
            </a:pPr>
            <a:r>
              <a:rPr lang="en-US" sz="1300" dirty="0">
                <a:solidFill>
                  <a:srgbClr val="000000"/>
                </a:solidFill>
                <a:latin typeface="Cambria"/>
                <a:cs typeface="Cambria"/>
              </a:rPr>
              <a:t>Treated and synthetic-control series tracked closely in the pre-period in all three specs, then diverged after 2022. The grey band shows the λ time weights — concentrated on a few years close to treatment.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lang="en-US" sz="3600" b="1" dirty="0">
                <a:solidFill>
                  <a:srgbClr val="000000"/>
                </a:solidFill>
                <a:latin typeface="Cambria"/>
                <a:cs typeface="Cambria"/>
              </a:rPr>
              <a:t>SDID — Event Studies (sin controles)</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lang="en-US" sz="1000" b="0" dirty="0">
                <a:solidFill>
                  <a:srgbClr val="444444"/>
                </a:solidFill>
                <a:latin typeface="Cambria"/>
                <a:cs typeface="Cambria"/>
              </a:rPr>
              <a:t>24 / 31</a:t>
            </a:r>
          </a:p>
        </p:txBody>
      </p:sp>
      <p:pic>
        <p:nvPicPr>
          <p:cNvPr id="6" name="Picture 5" descr="sdid_pooled_sincontrol_eventstudy.png"/>
          <p:cNvPicPr>
            <a:picLocks noChangeAspect="1"/>
          </p:cNvPicPr>
          <p:nvPr/>
        </p:nvPicPr>
        <p:blipFill>
          <a:blip r:embed="rId2"/>
          <a:stretch>
            <a:fillRect/>
          </a:stretch>
        </p:blipFill>
        <p:spPr>
          <a:xfrm>
            <a:off x="380847" y="1417320"/>
            <a:ext cx="3749039" cy="2726574"/>
          </a:xfrm>
          <a:prstGeom prst="rect">
            <a:avLst/>
          </a:prstGeom>
        </p:spPr>
      </p:pic>
      <p:sp>
        <p:nvSpPr>
          <p:cNvPr id="7" name="TextBox 6"/>
          <p:cNvSpPr txBox="1"/>
          <p:nvPr/>
        </p:nvSpPr>
        <p:spPr>
          <a:xfrm>
            <a:off x="380847" y="4189614"/>
            <a:ext cx="3749039" cy="274320"/>
          </a:xfrm>
          <a:prstGeom prst="rect">
            <a:avLst/>
          </a:prstGeom>
          <a:noFill/>
        </p:spPr>
        <p:txBody>
          <a:bodyPr wrap="none">
            <a:spAutoFit/>
          </a:bodyPr>
          <a:lstStyle/>
          <a:p>
            <a:pPr algn="ctr"/>
            <a:r>
              <a:rPr sz="1100" b="1">
                <a:solidFill>
                  <a:srgbClr val="000000"/>
                </a:solidFill>
                <a:latin typeface="Cambria"/>
              </a:rPr>
              <a:t>Pooled</a:t>
            </a:r>
          </a:p>
        </p:txBody>
      </p:sp>
      <p:pic>
        <p:nvPicPr>
          <p:cNvPr id="8" name="Picture 7" descr="sdid_c1_sincontrol_eventstudy.png"/>
          <p:cNvPicPr>
            <a:picLocks noChangeAspect="1"/>
          </p:cNvPicPr>
          <p:nvPr/>
        </p:nvPicPr>
        <p:blipFill>
          <a:blip r:embed="rId3"/>
          <a:stretch>
            <a:fillRect/>
          </a:stretch>
        </p:blipFill>
        <p:spPr>
          <a:xfrm>
            <a:off x="4221327" y="1417320"/>
            <a:ext cx="3749039" cy="2726574"/>
          </a:xfrm>
          <a:prstGeom prst="rect">
            <a:avLst/>
          </a:prstGeom>
        </p:spPr>
      </p:pic>
      <p:sp>
        <p:nvSpPr>
          <p:cNvPr id="9" name="TextBox 8"/>
          <p:cNvSpPr txBox="1"/>
          <p:nvPr/>
        </p:nvSpPr>
        <p:spPr>
          <a:xfrm>
            <a:off x="4221327" y="4189614"/>
            <a:ext cx="3749039" cy="274320"/>
          </a:xfrm>
          <a:prstGeom prst="rect">
            <a:avLst/>
          </a:prstGeom>
          <a:noFill/>
        </p:spPr>
        <p:txBody>
          <a:bodyPr wrap="none">
            <a:spAutoFit/>
          </a:bodyPr>
          <a:lstStyle/>
          <a:p>
            <a:pPr algn="ctr"/>
            <a:r>
              <a:rPr sz="1100" b="1">
                <a:solidFill>
                  <a:srgbClr val="000000"/>
                </a:solidFill>
                <a:latin typeface="Cambria"/>
              </a:rPr>
              <a:t>Window 1936–1955</a:t>
            </a:r>
          </a:p>
        </p:txBody>
      </p:sp>
      <p:pic>
        <p:nvPicPr>
          <p:cNvPr id="10" name="Picture 9" descr="sdid_c2_sincontrol_eventstudy.png"/>
          <p:cNvPicPr>
            <a:picLocks noChangeAspect="1"/>
          </p:cNvPicPr>
          <p:nvPr/>
        </p:nvPicPr>
        <p:blipFill>
          <a:blip r:embed="rId4"/>
          <a:stretch>
            <a:fillRect/>
          </a:stretch>
        </p:blipFill>
        <p:spPr>
          <a:xfrm>
            <a:off x="8061807" y="1417320"/>
            <a:ext cx="3749039" cy="2726574"/>
          </a:xfrm>
          <a:prstGeom prst="rect">
            <a:avLst/>
          </a:prstGeom>
        </p:spPr>
      </p:pic>
      <p:sp>
        <p:nvSpPr>
          <p:cNvPr id="11" name="TextBox 10"/>
          <p:cNvSpPr txBox="1"/>
          <p:nvPr/>
        </p:nvSpPr>
        <p:spPr>
          <a:xfrm>
            <a:off x="8061807" y="4189614"/>
            <a:ext cx="3749039" cy="274320"/>
          </a:xfrm>
          <a:prstGeom prst="rect">
            <a:avLst/>
          </a:prstGeom>
          <a:noFill/>
        </p:spPr>
        <p:txBody>
          <a:bodyPr wrap="none">
            <a:spAutoFit/>
          </a:bodyPr>
          <a:lstStyle/>
          <a:p>
            <a:pPr algn="ctr"/>
            <a:r>
              <a:rPr sz="1100" b="1">
                <a:solidFill>
                  <a:srgbClr val="000000"/>
                </a:solidFill>
                <a:latin typeface="Cambria"/>
              </a:rPr>
              <a:t>Window 1956–1978</a:t>
            </a:r>
          </a:p>
        </p:txBody>
      </p:sp>
      <p:sp>
        <p:nvSpPr>
          <p:cNvPr id="12" name="TextBox 11"/>
          <p:cNvSpPr txBox="1"/>
          <p:nvPr/>
        </p:nvSpPr>
        <p:spPr>
          <a:xfrm>
            <a:off x="685800" y="4646814"/>
            <a:ext cx="10972800" cy="1371600"/>
          </a:xfrm>
          <a:prstGeom prst="rect">
            <a:avLst/>
          </a:prstGeom>
          <a:noFill/>
        </p:spPr>
        <p:txBody>
          <a:bodyPr wrap="square">
            <a:spAutoFit/>
          </a:bodyPr>
          <a:lstStyle/>
          <a:p>
            <a:pPr lvl="0" indent="-228600" marL="228600">
              <a:buChar char="•"/>
            </a:pPr>
            <a:r>
              <a:rPr lang="en-US" sz="1300" dirty="0">
                <a:solidFill>
                  <a:srgbClr val="000000"/>
                </a:solidFill>
                <a:latin typeface="Cambria"/>
                <a:cs typeface="Cambria"/>
              </a:rPr>
              <a:t>Pre-treatment coefficients sit at zero with very tight CIs — mechanical: SDID forces the pre-period to match. The informative part is the post-treatment jump, with CIs widening over time.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lang="en-US" sz="3600" b="1" dirty="0">
                <a:solidFill>
                  <a:srgbClr val="000000"/>
                </a:solidFill>
                <a:latin typeface="Cambria"/>
                <a:cs typeface="Cambria"/>
              </a:rPr>
              <a:t>SDID — ATT on log Remittances (sin controles)</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lang="en-US" sz="1000" b="0" dirty="0">
                <a:solidFill>
                  <a:srgbClr val="444444"/>
                </a:solidFill>
                <a:latin typeface="Cambria"/>
                <a:cs typeface="Cambria"/>
              </a:rPr>
              <a:t>25 / 31</a:t>
            </a:r>
          </a:p>
        </p:txBody>
      </p:sp>
      <p:graphicFrame>
        <p:nvGraphicFramePr>
          <p:cNvPr id="6" name="Table 5"/>
          <p:cNvGraphicFramePr>
            <a:graphicFrameLocks noGrp="1"/>
          </p:cNvGraphicFramePr>
          <p:nvPr/>
        </p:nvGraphicFramePr>
        <p:xfrm>
          <a:off x="1981047" y="1828800"/>
          <a:ext cx="8229600" cy="2011680"/>
        </p:xfrm>
        <a:graphic>
          <a:graphicData uri="http://schemas.openxmlformats.org/drawingml/2006/table">
            <a:tbl>
              <a:tblPr firstRow="1" bandRow="1">
                <a:tableStyleId>{5C22544A-7EE6-4342-B048-85BDC9FD1C3A}</a:tableStyleId>
              </a:tblPr>
              <a:tblGrid>
                <a:gridCol w="2057400"/>
                <a:gridCol w="2057400"/>
                <a:gridCol w="2057400"/>
                <a:gridCol w="2057400"/>
              </a:tblGrid>
              <a:tr h="502920">
                <a:tc>
                  <a:txBody>
                    <a:bodyPr/>
                    <a:lstStyle/>
                    <a:p>
                      <a:pPr algn="ctr"/>
                      <a:r>
                        <a:rPr sz="1400" b="1">
                          <a:solidFill>
                            <a:srgbClr val="000000"/>
                          </a:solidFill>
                          <a:latin typeface="Cambria"/>
                        </a:rPr>
                        <a:t/>
                      </a:r>
                    </a:p>
                  </a:txBody>
                  <a:tcPr/>
                </a:tc>
                <a:tc>
                  <a:txBody>
                    <a:bodyPr/>
                    <a:lstStyle/>
                    <a:p>
                      <a:pPr algn="ctr"/>
                      <a:r>
                        <a:rPr sz="1400" b="1">
                          <a:solidFill>
                            <a:srgbClr val="000000"/>
                          </a:solidFill>
                          <a:latin typeface="Cambria"/>
                        </a:rPr>
                        <a:t>Pooled</a:t>
                      </a:r>
                    </a:p>
                  </a:txBody>
                  <a:tcPr/>
                </a:tc>
                <a:tc>
                  <a:txBody>
                    <a:bodyPr/>
                    <a:lstStyle/>
                    <a:p>
                      <a:pPr algn="ctr"/>
                      <a:r>
                        <a:rPr sz="1400" b="1">
                          <a:solidFill>
                            <a:srgbClr val="000000"/>
                          </a:solidFill>
                          <a:latin typeface="Cambria"/>
                        </a:rPr>
                        <a:t>Window 1936–1955</a:t>
                      </a:r>
                    </a:p>
                  </a:txBody>
                  <a:tcPr/>
                </a:tc>
                <a:tc>
                  <a:txBody>
                    <a:bodyPr/>
                    <a:lstStyle/>
                    <a:p>
                      <a:pPr algn="ctr"/>
                      <a:r>
                        <a:rPr sz="1400" b="1">
                          <a:solidFill>
                            <a:srgbClr val="000000"/>
                          </a:solidFill>
                          <a:latin typeface="Cambria"/>
                        </a:rPr>
                        <a:t>Window 1956–1978</a:t>
                      </a:r>
                    </a:p>
                  </a:txBody>
                  <a:tcPr/>
                </a:tc>
              </a:tr>
              <a:tr h="502920">
                <a:tc>
                  <a:txBody>
                    <a:bodyPr/>
                    <a:lstStyle/>
                    <a:p>
                      <a:pPr algn="ctr"/>
                      <a:r>
                        <a:rPr sz="1400" b="1">
                          <a:solidFill>
                            <a:srgbClr val="000000"/>
                          </a:solidFill>
                          <a:latin typeface="Cambria"/>
                        </a:rPr>
                        <a:t>ATT</a:t>
                      </a:r>
                    </a:p>
                  </a:txBody>
                  <a:tcPr/>
                </a:tc>
                <a:tc>
                  <a:txBody>
                    <a:bodyPr/>
                    <a:lstStyle/>
                    <a:p>
                      <a:pPr algn="ctr"/>
                      <a:r>
                        <a:rPr sz="1400" b="0">
                          <a:solidFill>
                            <a:srgbClr val="000000"/>
                          </a:solidFill>
                          <a:latin typeface="Cambria"/>
                        </a:rPr>
                        <a:t>0.1892***</a:t>
                      </a:r>
                    </a:p>
                  </a:txBody>
                  <a:tcPr/>
                </a:tc>
                <a:tc>
                  <a:txBody>
                    <a:bodyPr/>
                    <a:lstStyle/>
                    <a:p>
                      <a:pPr algn="ctr"/>
                      <a:r>
                        <a:rPr sz="1400" b="0">
                          <a:solidFill>
                            <a:srgbClr val="000000"/>
                          </a:solidFill>
                          <a:latin typeface="Cambria"/>
                        </a:rPr>
                        <a:t>0.1683***</a:t>
                      </a:r>
                    </a:p>
                  </a:txBody>
                  <a:tcPr/>
                </a:tc>
                <a:tc>
                  <a:txBody>
                    <a:bodyPr/>
                    <a:lstStyle/>
                    <a:p>
                      <a:pPr algn="ctr"/>
                      <a:r>
                        <a:rPr sz="1400" b="0">
                          <a:solidFill>
                            <a:srgbClr val="000000"/>
                          </a:solidFill>
                          <a:latin typeface="Cambria"/>
                        </a:rPr>
                        <a:t>0.2452***</a:t>
                      </a:r>
                    </a:p>
                  </a:txBody>
                  <a:tcPr/>
                </a:tc>
              </a:tr>
              <a:tr h="502920">
                <a:tc>
                  <a:txBody>
                    <a:bodyPr/>
                    <a:lstStyle/>
                    <a:p>
                      <a:pPr algn="ctr"/>
                      <a:r>
                        <a:rPr sz="1400" b="0">
                          <a:solidFill>
                            <a:srgbClr val="000000"/>
                          </a:solidFill>
                          <a:latin typeface="Cambria"/>
                        </a:rPr>
                        <a:t>SE</a:t>
                      </a:r>
                    </a:p>
                  </a:txBody>
                  <a:tcPr/>
                </a:tc>
                <a:tc>
                  <a:txBody>
                    <a:bodyPr/>
                    <a:lstStyle/>
                    <a:p>
                      <a:pPr algn="ctr"/>
                      <a:r>
                        <a:rPr sz="1400" b="0">
                          <a:solidFill>
                            <a:srgbClr val="000000"/>
                          </a:solidFill>
                          <a:latin typeface="Cambria"/>
                        </a:rPr>
                        <a:t>(0.0490)</a:t>
                      </a:r>
                    </a:p>
                  </a:txBody>
                  <a:tcPr/>
                </a:tc>
                <a:tc>
                  <a:txBody>
                    <a:bodyPr/>
                    <a:lstStyle/>
                    <a:p>
                      <a:pPr algn="ctr"/>
                      <a:r>
                        <a:rPr sz="1400" b="0">
                          <a:solidFill>
                            <a:srgbClr val="000000"/>
                          </a:solidFill>
                          <a:latin typeface="Cambria"/>
                        </a:rPr>
                        <a:t>(0.0393)</a:t>
                      </a:r>
                    </a:p>
                  </a:txBody>
                  <a:tcPr/>
                </a:tc>
                <a:tc>
                  <a:txBody>
                    <a:bodyPr/>
                    <a:lstStyle/>
                    <a:p>
                      <a:pPr algn="ctr"/>
                      <a:r>
                        <a:rPr sz="1400" b="0">
                          <a:solidFill>
                            <a:srgbClr val="000000"/>
                          </a:solidFill>
                          <a:latin typeface="Cambria"/>
                        </a:rPr>
                        <a:t>(0.0825)</a:t>
                      </a:r>
                    </a:p>
                  </a:txBody>
                  <a:tcPr/>
                </a:tc>
              </a:tr>
              <a:tr h="502920">
                <a:tc>
                  <a:txBody>
                    <a:bodyPr/>
                    <a:lstStyle/>
                    <a:p>
                      <a:pPr algn="ctr"/>
                      <a:r>
                        <a:rPr sz="1400" b="0">
                          <a:solidFill>
                            <a:srgbClr val="000000"/>
                          </a:solidFill>
                          <a:latin typeface="Cambria"/>
                        </a:rPr>
                        <a:t>N</a:t>
                      </a:r>
                    </a:p>
                  </a:txBody>
                  <a:tcPr/>
                </a:tc>
                <a:tc>
                  <a:txBody>
                    <a:bodyPr/>
                    <a:lstStyle/>
                    <a:p>
                      <a:pPr algn="ctr"/>
                      <a:r>
                        <a:rPr sz="1400" b="0">
                          <a:solidFill>
                            <a:srgbClr val="000000"/>
                          </a:solidFill>
                          <a:latin typeface="Cambria"/>
                        </a:rPr>
                        <a:t>27,876</a:t>
                      </a:r>
                    </a:p>
                  </a:txBody>
                  <a:tcPr/>
                </a:tc>
                <a:tc>
                  <a:txBody>
                    <a:bodyPr/>
                    <a:lstStyle/>
                    <a:p>
                      <a:pPr algn="ctr"/>
                      <a:r>
                        <a:rPr sz="1400" b="0">
                          <a:solidFill>
                            <a:srgbClr val="000000"/>
                          </a:solidFill>
                          <a:latin typeface="Cambria"/>
                        </a:rPr>
                        <a:t>27,792</a:t>
                      </a:r>
                    </a:p>
                  </a:txBody>
                  <a:tcPr/>
                </a:tc>
                <a:tc>
                  <a:txBody>
                    <a:bodyPr/>
                    <a:lstStyle/>
                    <a:p>
                      <a:pPr algn="ctr"/>
                      <a:r>
                        <a:rPr sz="1400" b="0">
                          <a:solidFill>
                            <a:srgbClr val="000000"/>
                          </a:solidFill>
                          <a:latin typeface="Cambria"/>
                        </a:rPr>
                        <a:t>27,708</a:t>
                      </a:r>
                    </a:p>
                  </a:txBody>
                  <a:tcPr/>
                </a:tc>
              </a:tr>
            </a:tbl>
          </a:graphicData>
        </a:graphic>
      </p:graphicFrame>
      <p:sp>
        <p:nvSpPr>
          <p:cNvPr id="7" name="TextBox 6"/>
          <p:cNvSpPr txBox="1"/>
          <p:nvPr/>
        </p:nvSpPr>
        <p:spPr>
          <a:xfrm>
            <a:off x="685800" y="4297680"/>
            <a:ext cx="10972800" cy="1645920"/>
          </a:xfrm>
          <a:prstGeom prst="rect">
            <a:avLst/>
          </a:prstGeom>
          <a:noFill/>
        </p:spPr>
        <p:txBody>
          <a:bodyPr wrap="square">
            <a:spAutoFit/>
          </a:bodyPr>
          <a:lstStyle/>
          <a:p>
            <a:pPr lvl="0" indent="-228600" marL="228600">
              <a:buChar char="•"/>
            </a:pPr>
            <a:r>
              <a:rPr lang="en-US" sz="1300" dirty="0">
                <a:solidFill>
                  <a:srgbClr val="000000"/>
                </a:solidFill>
                <a:latin typeface="Cambria"/>
                <a:cs typeface="Cambria"/>
              </a:rPr>
              <a:t>All three specifications yield positive, statistically significant ATTs on log remittances (≈ 17–25%). Window 1956–1978 shows the largest point estimate but also the widest SE (only 13 treated municipalities).</a:t>
            </a:r>
          </a:p>
          <a:p>
            <a:pPr lvl="0" indent="-228600" marL="228600">
              <a:buChar char="•"/>
            </a:pPr>
            <a:r>
              <a:rPr lang="en-US" sz="1300" dirty="0">
                <a:solidFill>
                  <a:srgbClr val="000000"/>
                </a:solidFill>
                <a:latin typeface="Cambria"/>
                <a:cs typeface="Cambria"/>
              </a:rPr>
              <a:t>Block-bootstrap SE clustered at municipality, 50 replications. *** p &lt; 0.01.</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lang="en-US" sz="3600" b="1" dirty="0">
                <a:solidFill>
                  <a:srgbClr val="000000"/>
                </a:solidFill>
                <a:latin typeface="Cambria"/>
                <a:cs typeface="Cambria"/>
              </a:rPr>
              <a:t>Appendix — SDID Trends (con controles)</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lang="en-US" sz="1000" b="0" dirty="0">
                <a:solidFill>
                  <a:srgbClr val="444444"/>
                </a:solidFill>
                <a:latin typeface="Cambria"/>
                <a:cs typeface="Cambria"/>
              </a:rPr>
              <a:t/>
            </a:r>
          </a:p>
        </p:txBody>
      </p:sp>
      <p:pic>
        <p:nvPicPr>
          <p:cNvPr id="6" name="Picture 5" descr="sdid_pooled_concontrol_trends2022.png"/>
          <p:cNvPicPr>
            <a:picLocks noChangeAspect="1"/>
          </p:cNvPicPr>
          <p:nvPr/>
        </p:nvPicPr>
        <p:blipFill>
          <a:blip r:embed="rId2"/>
          <a:stretch>
            <a:fillRect/>
          </a:stretch>
        </p:blipFill>
        <p:spPr>
          <a:xfrm>
            <a:off x="380847" y="1417320"/>
            <a:ext cx="3749039" cy="2726574"/>
          </a:xfrm>
          <a:prstGeom prst="rect">
            <a:avLst/>
          </a:prstGeom>
        </p:spPr>
      </p:pic>
      <p:sp>
        <p:nvSpPr>
          <p:cNvPr id="7" name="TextBox 6"/>
          <p:cNvSpPr txBox="1"/>
          <p:nvPr/>
        </p:nvSpPr>
        <p:spPr>
          <a:xfrm>
            <a:off x="380847" y="4189614"/>
            <a:ext cx="3749039" cy="274320"/>
          </a:xfrm>
          <a:prstGeom prst="rect">
            <a:avLst/>
          </a:prstGeom>
          <a:noFill/>
        </p:spPr>
        <p:txBody>
          <a:bodyPr wrap="none">
            <a:spAutoFit/>
          </a:bodyPr>
          <a:lstStyle/>
          <a:p>
            <a:pPr algn="ctr"/>
            <a:r>
              <a:rPr sz="1100" b="1">
                <a:solidFill>
                  <a:srgbClr val="000000"/>
                </a:solidFill>
                <a:latin typeface="Cambria"/>
              </a:rPr>
              <a:t>Pooled</a:t>
            </a:r>
          </a:p>
        </p:txBody>
      </p:sp>
      <p:pic>
        <p:nvPicPr>
          <p:cNvPr id="8" name="Picture 7" descr="sdid_c1_concontrol_trends2022.png"/>
          <p:cNvPicPr>
            <a:picLocks noChangeAspect="1"/>
          </p:cNvPicPr>
          <p:nvPr/>
        </p:nvPicPr>
        <p:blipFill>
          <a:blip r:embed="rId3"/>
          <a:stretch>
            <a:fillRect/>
          </a:stretch>
        </p:blipFill>
        <p:spPr>
          <a:xfrm>
            <a:off x="4221327" y="1417320"/>
            <a:ext cx="3749039" cy="2726574"/>
          </a:xfrm>
          <a:prstGeom prst="rect">
            <a:avLst/>
          </a:prstGeom>
        </p:spPr>
      </p:pic>
      <p:sp>
        <p:nvSpPr>
          <p:cNvPr id="9" name="TextBox 8"/>
          <p:cNvSpPr txBox="1"/>
          <p:nvPr/>
        </p:nvSpPr>
        <p:spPr>
          <a:xfrm>
            <a:off x="4221327" y="4189614"/>
            <a:ext cx="3749039" cy="274320"/>
          </a:xfrm>
          <a:prstGeom prst="rect">
            <a:avLst/>
          </a:prstGeom>
          <a:noFill/>
        </p:spPr>
        <p:txBody>
          <a:bodyPr wrap="none">
            <a:spAutoFit/>
          </a:bodyPr>
          <a:lstStyle/>
          <a:p>
            <a:pPr algn="ctr"/>
            <a:r>
              <a:rPr sz="1100" b="1">
                <a:solidFill>
                  <a:srgbClr val="000000"/>
                </a:solidFill>
                <a:latin typeface="Cambria"/>
              </a:rPr>
              <a:t>Window 1936–1955</a:t>
            </a:r>
          </a:p>
        </p:txBody>
      </p:sp>
      <p:pic>
        <p:nvPicPr>
          <p:cNvPr id="10" name="Picture 9" descr="sdid_c2_concontrol_trends2022.png"/>
          <p:cNvPicPr>
            <a:picLocks noChangeAspect="1"/>
          </p:cNvPicPr>
          <p:nvPr/>
        </p:nvPicPr>
        <p:blipFill>
          <a:blip r:embed="rId4"/>
          <a:stretch>
            <a:fillRect/>
          </a:stretch>
        </p:blipFill>
        <p:spPr>
          <a:xfrm>
            <a:off x="8061807" y="1417320"/>
            <a:ext cx="3749039" cy="2726574"/>
          </a:xfrm>
          <a:prstGeom prst="rect">
            <a:avLst/>
          </a:prstGeom>
        </p:spPr>
      </p:pic>
      <p:sp>
        <p:nvSpPr>
          <p:cNvPr id="11" name="TextBox 10"/>
          <p:cNvSpPr txBox="1"/>
          <p:nvPr/>
        </p:nvSpPr>
        <p:spPr>
          <a:xfrm>
            <a:off x="8061807" y="4189614"/>
            <a:ext cx="3749039" cy="274320"/>
          </a:xfrm>
          <a:prstGeom prst="rect">
            <a:avLst/>
          </a:prstGeom>
          <a:noFill/>
        </p:spPr>
        <p:txBody>
          <a:bodyPr wrap="none">
            <a:spAutoFit/>
          </a:bodyPr>
          <a:lstStyle/>
          <a:p>
            <a:pPr algn="ctr"/>
            <a:r>
              <a:rPr sz="1100" b="1">
                <a:solidFill>
                  <a:srgbClr val="000000"/>
                </a:solidFill>
                <a:latin typeface="Cambria"/>
              </a:rPr>
              <a:t>Window 1956–1978</a:t>
            </a:r>
          </a:p>
        </p:txBody>
      </p:sp>
      <p:sp>
        <p:nvSpPr>
          <p:cNvPr id="12" name="TextBox 11"/>
          <p:cNvSpPr txBox="1"/>
          <p:nvPr/>
        </p:nvSpPr>
        <p:spPr>
          <a:xfrm>
            <a:off x="685800" y="4646814"/>
            <a:ext cx="10972800" cy="1371600"/>
          </a:xfrm>
          <a:prstGeom prst="rect">
            <a:avLst/>
          </a:prstGeom>
          <a:noFill/>
        </p:spPr>
        <p:txBody>
          <a:bodyPr wrap="square">
            <a:spAutoFit/>
          </a:bodyPr>
          <a:lstStyle/>
          <a:p>
            <a:pPr lvl="0" indent="-228600" marL="228600">
              <a:buChar char="•"/>
            </a:pPr>
            <a:r>
              <a:rPr lang="en-US" sz="1300" dirty="0">
                <a:solidFill>
                  <a:srgbClr val="000000"/>
                </a:solidFill>
                <a:latin typeface="Cambria"/>
                <a:cs typeface="Cambria"/>
              </a:rPr>
              <a:t>With controls (migration to US in 2010 × year, projected method). Series and time-weight bands are nearly identical to the sin-controles version — SDID reweighting already absorbs most of what the year × baseline-migration interaction does.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lang="en-US" sz="3600" b="1" dirty="0">
                <a:solidFill>
                  <a:srgbClr val="000000"/>
                </a:solidFill>
                <a:latin typeface="Cambria"/>
                <a:cs typeface="Cambria"/>
              </a:rPr>
              <a:t>Appendix — SDID ATT (sin vs. con controles)</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lang="en-US" sz="1000" b="0" dirty="0">
                <a:solidFill>
                  <a:srgbClr val="444444"/>
                </a:solidFill>
                <a:latin typeface="Cambria"/>
                <a:cs typeface="Cambria"/>
              </a:rPr>
              <a:t/>
            </a:r>
          </a:p>
        </p:txBody>
      </p:sp>
      <p:graphicFrame>
        <p:nvGraphicFramePr>
          <p:cNvPr id="6" name="Table 5"/>
          <p:cNvGraphicFramePr>
            <a:graphicFrameLocks noGrp="1"/>
          </p:cNvGraphicFramePr>
          <p:nvPr/>
        </p:nvGraphicFramePr>
        <p:xfrm>
          <a:off x="838047" y="1600200"/>
          <a:ext cx="10515600" cy="2011680"/>
        </p:xfrm>
        <a:graphic>
          <a:graphicData uri="http://schemas.openxmlformats.org/drawingml/2006/table">
            <a:tbl>
              <a:tblPr firstRow="1" bandRow="1">
                <a:tableStyleId>{5C22544A-7EE6-4342-B048-85BDC9FD1C3A}</a:tableStyleId>
              </a:tblPr>
              <a:tblGrid>
                <a:gridCol w="1502228"/>
                <a:gridCol w="1502228"/>
                <a:gridCol w="1502228"/>
                <a:gridCol w="1502228"/>
                <a:gridCol w="1502228"/>
                <a:gridCol w="1502228"/>
                <a:gridCol w="1502232"/>
              </a:tblGrid>
              <a:tr h="502920">
                <a:tc>
                  <a:txBody>
                    <a:bodyPr/>
                    <a:lstStyle/>
                    <a:p>
                      <a:pPr algn="ctr"/>
                      <a:r>
                        <a:rPr sz="1300" b="1">
                          <a:solidFill>
                            <a:srgbClr val="000000"/>
                          </a:solidFill>
                          <a:latin typeface="Cambria"/>
                        </a:rPr>
                        <a:t/>
                      </a:r>
                    </a:p>
                  </a:txBody>
                  <a:tcPr/>
                </a:tc>
                <a:tc>
                  <a:txBody>
                    <a:bodyPr/>
                    <a:lstStyle/>
                    <a:p>
                      <a:pPr algn="ctr"/>
                      <a:r>
                        <a:rPr sz="1300" b="1">
                          <a:solidFill>
                            <a:srgbClr val="000000"/>
                          </a:solidFill>
                          <a:latin typeface="Cambria"/>
                        </a:rPr>
                        <a:t>Pool s/c</a:t>
                      </a:r>
                    </a:p>
                  </a:txBody>
                  <a:tcPr/>
                </a:tc>
                <a:tc>
                  <a:txBody>
                    <a:bodyPr/>
                    <a:lstStyle/>
                    <a:p>
                      <a:pPr algn="ctr"/>
                      <a:r>
                        <a:rPr sz="1300" b="1">
                          <a:solidFill>
                            <a:srgbClr val="000000"/>
                          </a:solidFill>
                          <a:latin typeface="Cambria"/>
                        </a:rPr>
                        <a:t>Pool c/c</a:t>
                      </a:r>
                    </a:p>
                  </a:txBody>
                  <a:tcPr/>
                </a:tc>
                <a:tc>
                  <a:txBody>
                    <a:bodyPr/>
                    <a:lstStyle/>
                    <a:p>
                      <a:pPr algn="ctr"/>
                      <a:r>
                        <a:rPr sz="1300" b="1">
                          <a:solidFill>
                            <a:srgbClr val="000000"/>
                          </a:solidFill>
                          <a:latin typeface="Cambria"/>
                        </a:rPr>
                        <a:t>V1 s/c</a:t>
                      </a:r>
                    </a:p>
                  </a:txBody>
                  <a:tcPr/>
                </a:tc>
                <a:tc>
                  <a:txBody>
                    <a:bodyPr/>
                    <a:lstStyle/>
                    <a:p>
                      <a:pPr algn="ctr"/>
                      <a:r>
                        <a:rPr sz="1300" b="1">
                          <a:solidFill>
                            <a:srgbClr val="000000"/>
                          </a:solidFill>
                          <a:latin typeface="Cambria"/>
                        </a:rPr>
                        <a:t>V1 c/c</a:t>
                      </a:r>
                    </a:p>
                  </a:txBody>
                  <a:tcPr/>
                </a:tc>
                <a:tc>
                  <a:txBody>
                    <a:bodyPr/>
                    <a:lstStyle/>
                    <a:p>
                      <a:pPr algn="ctr"/>
                      <a:r>
                        <a:rPr sz="1300" b="1">
                          <a:solidFill>
                            <a:srgbClr val="000000"/>
                          </a:solidFill>
                          <a:latin typeface="Cambria"/>
                        </a:rPr>
                        <a:t>V2 s/c</a:t>
                      </a:r>
                    </a:p>
                  </a:txBody>
                  <a:tcPr/>
                </a:tc>
                <a:tc>
                  <a:txBody>
                    <a:bodyPr/>
                    <a:lstStyle/>
                    <a:p>
                      <a:pPr algn="ctr"/>
                      <a:r>
                        <a:rPr sz="1300" b="1">
                          <a:solidFill>
                            <a:srgbClr val="000000"/>
                          </a:solidFill>
                          <a:latin typeface="Cambria"/>
                        </a:rPr>
                        <a:t>V2 c/c</a:t>
                      </a:r>
                    </a:p>
                  </a:txBody>
                  <a:tcPr/>
                </a:tc>
              </a:tr>
              <a:tr h="502920">
                <a:tc>
                  <a:txBody>
                    <a:bodyPr/>
                    <a:lstStyle/>
                    <a:p>
                      <a:pPr algn="ctr"/>
                      <a:r>
                        <a:rPr sz="1300" b="1">
                          <a:solidFill>
                            <a:srgbClr val="000000"/>
                          </a:solidFill>
                          <a:latin typeface="Cambria"/>
                        </a:rPr>
                        <a:t>ATT</a:t>
                      </a:r>
                    </a:p>
                  </a:txBody>
                  <a:tcPr/>
                </a:tc>
                <a:tc>
                  <a:txBody>
                    <a:bodyPr/>
                    <a:lstStyle/>
                    <a:p>
                      <a:pPr algn="ctr"/>
                      <a:r>
                        <a:rPr sz="1300" b="0">
                          <a:solidFill>
                            <a:srgbClr val="000000"/>
                          </a:solidFill>
                          <a:latin typeface="Cambria"/>
                        </a:rPr>
                        <a:t>0.1892***</a:t>
                      </a:r>
                    </a:p>
                  </a:txBody>
                  <a:tcPr/>
                </a:tc>
                <a:tc>
                  <a:txBody>
                    <a:bodyPr/>
                    <a:lstStyle/>
                    <a:p>
                      <a:pPr algn="ctr"/>
                      <a:r>
                        <a:rPr sz="1300" b="0">
                          <a:solidFill>
                            <a:srgbClr val="000000"/>
                          </a:solidFill>
                          <a:latin typeface="Cambria"/>
                        </a:rPr>
                        <a:t>0.1695***</a:t>
                      </a:r>
                    </a:p>
                  </a:txBody>
                  <a:tcPr/>
                </a:tc>
                <a:tc>
                  <a:txBody>
                    <a:bodyPr/>
                    <a:lstStyle/>
                    <a:p>
                      <a:pPr algn="ctr"/>
                      <a:r>
                        <a:rPr sz="1300" b="0">
                          <a:solidFill>
                            <a:srgbClr val="000000"/>
                          </a:solidFill>
                          <a:latin typeface="Cambria"/>
                        </a:rPr>
                        <a:t>0.1683***</a:t>
                      </a:r>
                    </a:p>
                  </a:txBody>
                  <a:tcPr/>
                </a:tc>
                <a:tc>
                  <a:txBody>
                    <a:bodyPr/>
                    <a:lstStyle/>
                    <a:p>
                      <a:pPr algn="ctr"/>
                      <a:r>
                        <a:rPr sz="1300" b="0">
                          <a:solidFill>
                            <a:srgbClr val="000000"/>
                          </a:solidFill>
                          <a:latin typeface="Cambria"/>
                        </a:rPr>
                        <a:t>0.1496***</a:t>
                      </a:r>
                    </a:p>
                  </a:txBody>
                  <a:tcPr/>
                </a:tc>
                <a:tc>
                  <a:txBody>
                    <a:bodyPr/>
                    <a:lstStyle/>
                    <a:p>
                      <a:pPr algn="ctr"/>
                      <a:r>
                        <a:rPr sz="1300" b="0">
                          <a:solidFill>
                            <a:srgbClr val="000000"/>
                          </a:solidFill>
                          <a:latin typeface="Cambria"/>
                        </a:rPr>
                        <a:t>0.2452***</a:t>
                      </a:r>
                    </a:p>
                  </a:txBody>
                  <a:tcPr/>
                </a:tc>
                <a:tc>
                  <a:txBody>
                    <a:bodyPr/>
                    <a:lstStyle/>
                    <a:p>
                      <a:pPr algn="ctr"/>
                      <a:r>
                        <a:rPr sz="1300" b="0">
                          <a:solidFill>
                            <a:srgbClr val="000000"/>
                          </a:solidFill>
                          <a:latin typeface="Cambria"/>
                        </a:rPr>
                        <a:t>0.2234***</a:t>
                      </a:r>
                    </a:p>
                  </a:txBody>
                  <a:tcPr/>
                </a:tc>
              </a:tr>
              <a:tr h="502920">
                <a:tc>
                  <a:txBody>
                    <a:bodyPr/>
                    <a:lstStyle/>
                    <a:p>
                      <a:pPr algn="ctr"/>
                      <a:r>
                        <a:rPr sz="1300" b="0">
                          <a:solidFill>
                            <a:srgbClr val="000000"/>
                          </a:solidFill>
                          <a:latin typeface="Cambria"/>
                        </a:rPr>
                        <a:t>SE</a:t>
                      </a:r>
                    </a:p>
                  </a:txBody>
                  <a:tcPr/>
                </a:tc>
                <a:tc>
                  <a:txBody>
                    <a:bodyPr/>
                    <a:lstStyle/>
                    <a:p>
                      <a:pPr algn="ctr"/>
                      <a:r>
                        <a:rPr sz="1300" b="0">
                          <a:solidFill>
                            <a:srgbClr val="000000"/>
                          </a:solidFill>
                          <a:latin typeface="Cambria"/>
                        </a:rPr>
                        <a:t>(0.0490)</a:t>
                      </a:r>
                    </a:p>
                  </a:txBody>
                  <a:tcPr/>
                </a:tc>
                <a:tc>
                  <a:txBody>
                    <a:bodyPr/>
                    <a:lstStyle/>
                    <a:p>
                      <a:pPr algn="ctr"/>
                      <a:r>
                        <a:rPr sz="1300" b="0">
                          <a:solidFill>
                            <a:srgbClr val="000000"/>
                          </a:solidFill>
                          <a:latin typeface="Cambria"/>
                        </a:rPr>
                        <a:t>(0.0499)</a:t>
                      </a:r>
                    </a:p>
                  </a:txBody>
                  <a:tcPr/>
                </a:tc>
                <a:tc>
                  <a:txBody>
                    <a:bodyPr/>
                    <a:lstStyle/>
                    <a:p>
                      <a:pPr algn="ctr"/>
                      <a:r>
                        <a:rPr sz="1300" b="0">
                          <a:solidFill>
                            <a:srgbClr val="000000"/>
                          </a:solidFill>
                          <a:latin typeface="Cambria"/>
                        </a:rPr>
                        <a:t>(0.0393)</a:t>
                      </a:r>
                    </a:p>
                  </a:txBody>
                  <a:tcPr/>
                </a:tc>
                <a:tc>
                  <a:txBody>
                    <a:bodyPr/>
                    <a:lstStyle/>
                    <a:p>
                      <a:pPr algn="ctr"/>
                      <a:r>
                        <a:rPr sz="1300" b="0">
                          <a:solidFill>
                            <a:srgbClr val="000000"/>
                          </a:solidFill>
                          <a:latin typeface="Cambria"/>
                        </a:rPr>
                        <a:t>(0.0384)</a:t>
                      </a:r>
                    </a:p>
                  </a:txBody>
                  <a:tcPr/>
                </a:tc>
                <a:tc>
                  <a:txBody>
                    <a:bodyPr/>
                    <a:lstStyle/>
                    <a:p>
                      <a:pPr algn="ctr"/>
                      <a:r>
                        <a:rPr sz="1300" b="0">
                          <a:solidFill>
                            <a:srgbClr val="000000"/>
                          </a:solidFill>
                          <a:latin typeface="Cambria"/>
                        </a:rPr>
                        <a:t>(0.0825)</a:t>
                      </a:r>
                    </a:p>
                  </a:txBody>
                  <a:tcPr/>
                </a:tc>
                <a:tc>
                  <a:txBody>
                    <a:bodyPr/>
                    <a:lstStyle/>
                    <a:p>
                      <a:pPr algn="ctr"/>
                      <a:r>
                        <a:rPr sz="1300" b="0">
                          <a:solidFill>
                            <a:srgbClr val="000000"/>
                          </a:solidFill>
                          <a:latin typeface="Cambria"/>
                        </a:rPr>
                        <a:t>(0.0825)</a:t>
                      </a:r>
                    </a:p>
                  </a:txBody>
                  <a:tcPr/>
                </a:tc>
              </a:tr>
              <a:tr h="502920">
                <a:tc>
                  <a:txBody>
                    <a:bodyPr/>
                    <a:lstStyle/>
                    <a:p>
                      <a:pPr algn="ctr"/>
                      <a:r>
                        <a:rPr sz="1300" b="0">
                          <a:solidFill>
                            <a:srgbClr val="000000"/>
                          </a:solidFill>
                          <a:latin typeface="Cambria"/>
                        </a:rPr>
                        <a:t>N</a:t>
                      </a:r>
                    </a:p>
                  </a:txBody>
                  <a:tcPr/>
                </a:tc>
                <a:tc>
                  <a:txBody>
                    <a:bodyPr/>
                    <a:lstStyle/>
                    <a:p>
                      <a:pPr algn="ctr"/>
                      <a:r>
                        <a:rPr sz="1300" b="0">
                          <a:solidFill>
                            <a:srgbClr val="000000"/>
                          </a:solidFill>
                          <a:latin typeface="Cambria"/>
                        </a:rPr>
                        <a:t>27,876</a:t>
                      </a:r>
                    </a:p>
                  </a:txBody>
                  <a:tcPr/>
                </a:tc>
                <a:tc>
                  <a:txBody>
                    <a:bodyPr/>
                    <a:lstStyle/>
                    <a:p>
                      <a:pPr algn="ctr"/>
                      <a:r>
                        <a:rPr sz="1300" b="0">
                          <a:solidFill>
                            <a:srgbClr val="000000"/>
                          </a:solidFill>
                          <a:latin typeface="Cambria"/>
                        </a:rPr>
                        <a:t>27,876</a:t>
                      </a:r>
                    </a:p>
                  </a:txBody>
                  <a:tcPr/>
                </a:tc>
                <a:tc>
                  <a:txBody>
                    <a:bodyPr/>
                    <a:lstStyle/>
                    <a:p>
                      <a:pPr algn="ctr"/>
                      <a:r>
                        <a:rPr sz="1300" b="0">
                          <a:solidFill>
                            <a:srgbClr val="000000"/>
                          </a:solidFill>
                          <a:latin typeface="Cambria"/>
                        </a:rPr>
                        <a:t>27,792</a:t>
                      </a:r>
                    </a:p>
                  </a:txBody>
                  <a:tcPr/>
                </a:tc>
                <a:tc>
                  <a:txBody>
                    <a:bodyPr/>
                    <a:lstStyle/>
                    <a:p>
                      <a:pPr algn="ctr"/>
                      <a:r>
                        <a:rPr sz="1300" b="0">
                          <a:solidFill>
                            <a:srgbClr val="000000"/>
                          </a:solidFill>
                          <a:latin typeface="Cambria"/>
                        </a:rPr>
                        <a:t>27,792</a:t>
                      </a:r>
                    </a:p>
                  </a:txBody>
                  <a:tcPr/>
                </a:tc>
                <a:tc>
                  <a:txBody>
                    <a:bodyPr/>
                    <a:lstStyle/>
                    <a:p>
                      <a:pPr algn="ctr"/>
                      <a:r>
                        <a:rPr sz="1300" b="0">
                          <a:solidFill>
                            <a:srgbClr val="000000"/>
                          </a:solidFill>
                          <a:latin typeface="Cambria"/>
                        </a:rPr>
                        <a:t>27,708</a:t>
                      </a:r>
                    </a:p>
                  </a:txBody>
                  <a:tcPr/>
                </a:tc>
                <a:tc>
                  <a:txBody>
                    <a:bodyPr/>
                    <a:lstStyle/>
                    <a:p>
                      <a:pPr algn="ctr"/>
                      <a:r>
                        <a:rPr sz="1300" b="0">
                          <a:solidFill>
                            <a:srgbClr val="000000"/>
                          </a:solidFill>
                          <a:latin typeface="Cambria"/>
                        </a:rPr>
                        <a:t>27,708</a:t>
                      </a:r>
                    </a:p>
                  </a:txBody>
                  <a:tcPr/>
                </a:tc>
              </a:tr>
            </a:tbl>
          </a:graphicData>
        </a:graphic>
      </p:graphicFrame>
      <p:sp>
        <p:nvSpPr>
          <p:cNvPr id="7" name="TextBox 6"/>
          <p:cNvSpPr txBox="1"/>
          <p:nvPr/>
        </p:nvSpPr>
        <p:spPr>
          <a:xfrm>
            <a:off x="685800" y="4069080"/>
            <a:ext cx="10972800" cy="1645920"/>
          </a:xfrm>
          <a:prstGeom prst="rect">
            <a:avLst/>
          </a:prstGeom>
          <a:noFill/>
        </p:spPr>
        <p:txBody>
          <a:bodyPr wrap="square">
            <a:spAutoFit/>
          </a:bodyPr>
          <a:lstStyle/>
          <a:p>
            <a:pPr lvl="0" indent="-228600" marL="228600">
              <a:buChar char="•"/>
            </a:pPr>
            <a:r>
              <a:rPr lang="en-US" sz="1300" dirty="0">
                <a:solidFill>
                  <a:srgbClr val="000000"/>
                </a:solidFill>
                <a:latin typeface="Cambria"/>
                <a:cs typeface="Cambria"/>
              </a:rPr>
              <a:t>Adding the year × baseline-US-migration controls (projected method, Kranz 2022) slightly attenuates the point estimates but leaves the qualitative pattern and significance unchanged.</a:t>
            </a:r>
          </a:p>
          <a:p>
            <a:pPr lvl="0" indent="-228600" marL="228600">
              <a:buChar char="•"/>
            </a:pPr>
            <a:r>
              <a:rPr lang="en-US" sz="1300" dirty="0">
                <a:solidFill>
                  <a:srgbClr val="000000"/>
                </a:solidFill>
                <a:latin typeface="Cambria"/>
                <a:cs typeface="Cambria"/>
              </a:rPr>
              <a:t>Block-bootstrap SE clustered at municipality, 50 replications. *** p &lt; 0.01.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2688</TotalTime>
  <Words>4230</Words>
  <Application>Microsoft Macintosh PowerPoint</Application>
  <PresentationFormat>Panorámica</PresentationFormat>
  <Paragraphs>778</Paragraphs>
  <Slides>41</Slides>
  <Notes>11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41</vt:i4>
      </vt:variant>
    </vt:vector>
  </HeadingPairs>
  <TitlesOfParts>
    <vt:vector size="47" baseType="lpstr">
      <vt:lpstr>Aptos</vt:lpstr>
      <vt:lpstr>Arial</vt:lpstr>
      <vt:lpstr>Calibri</vt:lpstr>
      <vt:lpstr>Cambria</vt:lpstr>
      <vt:lpstr>Times New Roman</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Florencia ruiz</cp:lastModifiedBy>
  <cp:revision>31</cp:revision>
  <dcterms:created xsi:type="dcterms:W3CDTF">2013-01-27T09:14:16Z</dcterms:created>
  <dcterms:modified xsi:type="dcterms:W3CDTF">2026-05-26T15:09:30Z</dcterms:modified>
  <cp:category/>
</cp:coreProperties>
</file>